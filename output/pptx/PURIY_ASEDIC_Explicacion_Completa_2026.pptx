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b87581ced643b4" /><Relationship Type="http://schemas.openxmlformats.org/officeDocument/2006/relationships/extended-properties" Target="/docProps/app.xml" Id="Rb317fb8c1c364932" /><Relationship Type="http://schemas.openxmlformats.org/officeDocument/2006/relationships/officeDocument" Target="/ppt/presentation.xml" Id="R5c49599595ed4972" /></Relationships>
</file>

<file path=ppt/presentation.xml><?xml version="1.0" encoding="utf-8"?>
<p:presentation xmlns:p="http://schemas.openxmlformats.org/presentationml/2006/main">
  <p:sldMasterIdLst>
    <p:sldMasterId xmlns:r="http://schemas.openxmlformats.org/officeDocument/2006/relationships" id="2147483648" r:id="R0baa1051d94f4c05"/>
  </p:sldMasterIdLst>
  <p:notesMasterIdLst>
    <p:notesMasterId xmlns:r="http://schemas.openxmlformats.org/officeDocument/2006/relationships" r:id="R8213ea677f3242a3"/>
  </p:notesMasterIdLst>
  <p:sldIdLst>
    <p:sldId xmlns:r="http://schemas.openxmlformats.org/officeDocument/2006/relationships" id="256" r:id="R94c34e348e7f4185"/>
    <p:sldId xmlns:r="http://schemas.openxmlformats.org/officeDocument/2006/relationships" id="257" r:id="Rc6e1c79f31274cef"/>
    <p:sldId xmlns:r="http://schemas.openxmlformats.org/officeDocument/2006/relationships" id="258" r:id="R7e8d5a2e3f814939"/>
    <p:sldId xmlns:r="http://schemas.openxmlformats.org/officeDocument/2006/relationships" id="259" r:id="R134106a0087d4f40"/>
    <p:sldId xmlns:r="http://schemas.openxmlformats.org/officeDocument/2006/relationships" id="260" r:id="Re5ab210741a94d8f"/>
    <p:sldId xmlns:r="http://schemas.openxmlformats.org/officeDocument/2006/relationships" id="261" r:id="Re041a91a12974047"/>
    <p:sldId xmlns:r="http://schemas.openxmlformats.org/officeDocument/2006/relationships" id="262" r:id="R1009585a8ccb4e33"/>
    <p:sldId xmlns:r="http://schemas.openxmlformats.org/officeDocument/2006/relationships" id="263" r:id="R35ff2bad2a2f4112"/>
    <p:sldId xmlns:r="http://schemas.openxmlformats.org/officeDocument/2006/relationships" id="264" r:id="R17e219f4b0b54d65"/>
    <p:sldId xmlns:r="http://schemas.openxmlformats.org/officeDocument/2006/relationships" id="265" r:id="R62c6bd2eb1f34b1c"/>
    <p:sldId xmlns:r="http://schemas.openxmlformats.org/officeDocument/2006/relationships" id="266" r:id="Rbe9da220245e434c"/>
    <p:sldId xmlns:r="http://schemas.openxmlformats.org/officeDocument/2006/relationships" id="267" r:id="Rff2b441082114892"/>
    <p:sldId xmlns:r="http://schemas.openxmlformats.org/officeDocument/2006/relationships" id="268" r:id="R2f83181e89004a85"/>
    <p:sldId xmlns:r="http://schemas.openxmlformats.org/officeDocument/2006/relationships" id="269" r:id="R375a4be534f14a8b"/>
    <p:sldId xmlns:r="http://schemas.openxmlformats.org/officeDocument/2006/relationships" id="270" r:id="R44a70b4de1b949ee"/>
    <p:sldId xmlns:r="http://schemas.openxmlformats.org/officeDocument/2006/relationships" id="271" r:id="Rd255358272f14ae2"/>
    <p:sldId xmlns:r="http://schemas.openxmlformats.org/officeDocument/2006/relationships" id="272" r:id="R65848e6aaaf34e06"/>
    <p:sldId xmlns:r="http://schemas.openxmlformats.org/officeDocument/2006/relationships" id="273" r:id="R4c225372fe304cad"/>
    <p:sldId xmlns:r="http://schemas.openxmlformats.org/officeDocument/2006/relationships" id="274" r:id="R0b64e361277f4694"/>
    <p:sldId xmlns:r="http://schemas.openxmlformats.org/officeDocument/2006/relationships" id="275" r:id="R86beec86034f4bb5"/>
    <p:sldId xmlns:r="http://schemas.openxmlformats.org/officeDocument/2006/relationships" id="276" r:id="Rc35f9e8e9ddb4b6c"/>
    <p:sldId xmlns:r="http://schemas.openxmlformats.org/officeDocument/2006/relationships" id="277" r:id="R381c46beeeb647f4"/>
    <p:sldId xmlns:r="http://schemas.openxmlformats.org/officeDocument/2006/relationships" id="278" r:id="R6cc15c52460d4c52"/>
    <p:sldId xmlns:r="http://schemas.openxmlformats.org/officeDocument/2006/relationships" id="279" r:id="Rbe85357e5ff44d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15b27db46a446d" /><Relationship Type="http://schemas.openxmlformats.org/officeDocument/2006/relationships/slideMaster" Target="/ppt/slideMasters/slideMaster1.xml" Id="R0baa1051d94f4c05" /><Relationship Type="http://schemas.openxmlformats.org/officeDocument/2006/relationships/notesMaster" Target="/ppt/notesMasters/notesMaster1.xml" Id="R8213ea677f3242a3" /><Relationship Type="http://schemas.openxmlformats.org/officeDocument/2006/relationships/presProps" Target="/ppt/presProps.xml" Id="R8ff5355bf5674a4e" /><Relationship Type="http://schemas.openxmlformats.org/officeDocument/2006/relationships/tableStyles" Target="/ppt/tableStyles.xml" Id="Rc58302e2f42649f8" /><Relationship Type="http://schemas.openxmlformats.org/officeDocument/2006/relationships/slide" Target="/ppt/slides/slide1.xml" Id="R94c34e348e7f4185" /><Relationship Type="http://schemas.openxmlformats.org/officeDocument/2006/relationships/slide" Target="/ppt/slides/slide2.xml" Id="Rc6e1c79f31274cef" /><Relationship Type="http://schemas.openxmlformats.org/officeDocument/2006/relationships/slide" Target="/ppt/slides/slide3.xml" Id="R7e8d5a2e3f814939" /><Relationship Type="http://schemas.openxmlformats.org/officeDocument/2006/relationships/slide" Target="/ppt/slides/slide4.xml" Id="R134106a0087d4f40" /><Relationship Type="http://schemas.openxmlformats.org/officeDocument/2006/relationships/slide" Target="/ppt/slides/slide5.xml" Id="Re5ab210741a94d8f" /><Relationship Type="http://schemas.openxmlformats.org/officeDocument/2006/relationships/slide" Target="/ppt/slides/slide6.xml" Id="Re041a91a12974047" /><Relationship Type="http://schemas.openxmlformats.org/officeDocument/2006/relationships/slide" Target="/ppt/slides/slide7.xml" Id="R1009585a8ccb4e33" /><Relationship Type="http://schemas.openxmlformats.org/officeDocument/2006/relationships/slide" Target="/ppt/slides/slide8.xml" Id="R35ff2bad2a2f4112" /><Relationship Type="http://schemas.openxmlformats.org/officeDocument/2006/relationships/slide" Target="/ppt/slides/slide9.xml" Id="R17e219f4b0b54d65" /><Relationship Type="http://schemas.openxmlformats.org/officeDocument/2006/relationships/slide" Target="/ppt/slides/slide10.xml" Id="R62c6bd2eb1f34b1c" /><Relationship Type="http://schemas.openxmlformats.org/officeDocument/2006/relationships/slide" Target="/ppt/slides/slide11.xml" Id="Rbe9da220245e434c" /><Relationship Type="http://schemas.openxmlformats.org/officeDocument/2006/relationships/slide" Target="/ppt/slides/slide12.xml" Id="Rff2b441082114892" /><Relationship Type="http://schemas.openxmlformats.org/officeDocument/2006/relationships/slide" Target="/ppt/slides/slide13.xml" Id="R2f83181e89004a85" /><Relationship Type="http://schemas.openxmlformats.org/officeDocument/2006/relationships/slide" Target="/ppt/slides/slide14.xml" Id="R375a4be534f14a8b" /><Relationship Type="http://schemas.openxmlformats.org/officeDocument/2006/relationships/slide" Target="/ppt/slides/slide15.xml" Id="R44a70b4de1b949ee" /><Relationship Type="http://schemas.openxmlformats.org/officeDocument/2006/relationships/slide" Target="/ppt/slides/slide16.xml" Id="Rd255358272f14ae2" /><Relationship Type="http://schemas.openxmlformats.org/officeDocument/2006/relationships/slide" Target="/ppt/slides/slide17.xml" Id="R65848e6aaaf34e06" /><Relationship Type="http://schemas.openxmlformats.org/officeDocument/2006/relationships/slide" Target="/ppt/slides/slide18.xml" Id="R4c225372fe304cad" /><Relationship Type="http://schemas.openxmlformats.org/officeDocument/2006/relationships/slide" Target="/ppt/slides/slide19.xml" Id="R0b64e361277f4694" /><Relationship Type="http://schemas.openxmlformats.org/officeDocument/2006/relationships/slide" Target="/ppt/slides/slide20.xml" Id="R86beec86034f4bb5" /><Relationship Type="http://schemas.openxmlformats.org/officeDocument/2006/relationships/slide" Target="/ppt/slides/slide21.xml" Id="Rc35f9e8e9ddb4b6c" /><Relationship Type="http://schemas.openxmlformats.org/officeDocument/2006/relationships/slide" Target="/ppt/slides/slide22.xml" Id="R381c46beeeb647f4" /><Relationship Type="http://schemas.openxmlformats.org/officeDocument/2006/relationships/slide" Target="/ppt/slides/slide23.xml" Id="R6cc15c52460d4c52" /><Relationship Type="http://schemas.openxmlformats.org/officeDocument/2006/relationships/slide" Target="/ppt/slides/slide24.xml" Id="Rbe85357e5ff44d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960676bdb445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1be67b3cd348ef" /><Relationship Type="http://schemas.openxmlformats.org/officeDocument/2006/relationships/notesMaster" Target="/ppt/notesMasters/notesMaster1.xml" Id="Rb9c345ab5c3a40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be35c9d184494b" /><Relationship Type="http://schemas.openxmlformats.org/officeDocument/2006/relationships/notesMaster" Target="/ppt/notesMasters/notesMaster1.xml" Id="R5cbd15994b4e46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3258f22d2e432e" /><Relationship Type="http://schemas.openxmlformats.org/officeDocument/2006/relationships/notesMaster" Target="/ppt/notesMasters/notesMaster1.xml" Id="R2f2fa78ef07c4a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9b7e2300974c35" /><Relationship Type="http://schemas.openxmlformats.org/officeDocument/2006/relationships/notesMaster" Target="/ppt/notesMasters/notesMaster1.xml" Id="R5f33a8cfe7f74a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0fdf3756204af0" /><Relationship Type="http://schemas.openxmlformats.org/officeDocument/2006/relationships/notesMaster" Target="/ppt/notesMasters/notesMaster1.xml" Id="R340395083a3a40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dff4fbfed24839" /><Relationship Type="http://schemas.openxmlformats.org/officeDocument/2006/relationships/notesMaster" Target="/ppt/notesMasters/notesMaster1.xml" Id="Rb4f8b220561040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02b00172334abe" /><Relationship Type="http://schemas.openxmlformats.org/officeDocument/2006/relationships/notesMaster" Target="/ppt/notesMasters/notesMaster1.xml" Id="Re69c5612ad6d41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2e782c2e414e1e" /><Relationship Type="http://schemas.openxmlformats.org/officeDocument/2006/relationships/notesMaster" Target="/ppt/notesMasters/notesMaster1.xml" Id="R7cab96fed1894b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a778fe5c154f40" /><Relationship Type="http://schemas.openxmlformats.org/officeDocument/2006/relationships/notesMaster" Target="/ppt/notesMasters/notesMaster1.xml" Id="R78ac51ffe11b41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1524c482624b90" /><Relationship Type="http://schemas.openxmlformats.org/officeDocument/2006/relationships/notesMaster" Target="/ppt/notesMasters/notesMaster1.xml" Id="Red154c54709b46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c16e4c922b4006" /><Relationship Type="http://schemas.openxmlformats.org/officeDocument/2006/relationships/notesMaster" Target="/ppt/notesMasters/notesMaster1.xml" Id="R34b7a461fc0a43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c55bd5d9ef41be" /><Relationship Type="http://schemas.openxmlformats.org/officeDocument/2006/relationships/notesMaster" Target="/ppt/notesMasters/notesMaster1.xml" Id="R6ddc6ee3d15746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4e2942d53d48c6" /><Relationship Type="http://schemas.openxmlformats.org/officeDocument/2006/relationships/notesMaster" Target="/ppt/notesMasters/notesMaster1.xml" Id="Ra8ffe1eeda5b42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8634c52c9d4caf" /><Relationship Type="http://schemas.openxmlformats.org/officeDocument/2006/relationships/notesMaster" Target="/ppt/notesMasters/notesMaster1.xml" Id="Raecd0117fb2849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b3e55373684c34" /><Relationship Type="http://schemas.openxmlformats.org/officeDocument/2006/relationships/notesMaster" Target="/ppt/notesMasters/notesMaster1.xml" Id="R2aecae8a2e4d424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2b851d56164881" /><Relationship Type="http://schemas.openxmlformats.org/officeDocument/2006/relationships/notesMaster" Target="/ppt/notesMasters/notesMaster1.xml" Id="R753a47f4f0294e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d22fbd68c445f8" /><Relationship Type="http://schemas.openxmlformats.org/officeDocument/2006/relationships/notesMaster" Target="/ppt/notesMasters/notesMaster1.xml" Id="Rec6b672f466f4a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c0e88f1b924ac3" /><Relationship Type="http://schemas.openxmlformats.org/officeDocument/2006/relationships/notesMaster" Target="/ppt/notesMasters/notesMaster1.xml" Id="R06f07d28afb948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b6a4284ff3483d" /><Relationship Type="http://schemas.openxmlformats.org/officeDocument/2006/relationships/notesMaster" Target="/ppt/notesMasters/notesMaster1.xml" Id="R713fdb32529942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35d0f01161a42c3" /><Relationship Type="http://schemas.openxmlformats.org/officeDocument/2006/relationships/notesMaster" Target="/ppt/notesMasters/notesMaster1.xml" Id="R58a6c01a5d804c0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02255db1ef4843" /><Relationship Type="http://schemas.openxmlformats.org/officeDocument/2006/relationships/notesMaster" Target="/ppt/notesMasters/notesMaster1.xml" Id="R5cdf58826f6645f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91a8a1f503f4b2f" /><Relationship Type="http://schemas.openxmlformats.org/officeDocument/2006/relationships/notesMaster" Target="/ppt/notesMasters/notesMaster1.xml" Id="R7a89c9d54e5447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df684741a794c07" /><Relationship Type="http://schemas.openxmlformats.org/officeDocument/2006/relationships/notesMaster" Target="/ppt/notesMasters/notesMaster1.xml" Id="R8f883d7a56c4421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d2bf3f7629b4d37" /><Relationship Type="http://schemas.openxmlformats.org/officeDocument/2006/relationships/notesMaster" Target="/ppt/notesMasters/notesMaster1.xml" Id="Rb3e9b12e705f44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Versión completa para explicar el proyecto, con 21 diapositivas principales y 3 anexos. Para el pitch de 5 minutos exigido por las bases se sugiere mostrar 1, 3, 4, 9, 10, 14, 16, 19, 20 y 21. Captura del prototipo local de Puriy del 22/09/2026. Fuente de las bases: C:/Users/ivang/Downloads/BASES_IDEATÓN POR EL TRANSPORTE URBANO_ JULIACA (1).pdf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Mensaje central: la utilidad pública combina orientación al pasajero con apoyo técnico para decidir sobre el servicio. La interfaz pública actual muestra una ruta N40 de prueba sin abordajes verificados; el PDU documenta 40 líneas, pero no hay 40 recorridos reales validados en el mapa.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https://www.gob.pe/institucion/mtc/noticias/1410015-promovilidad-culmina-diagnostico-de-movilidad-de-juliaca-como-parte-de-la-formulacion-del-pmus y https://www.gob.pe/institucion/munisanroman/noticias/1410103-culminamos-el-diagnostico-del-plan-de-movilidad-urbana-sostenible-pmus-en-juliaca-que-registra-mas-de-800-mil-viajes-diarios. Más de 800.000 viajes cubren Juliaca, San Miguel y Caracoto. La nota del MTC formula 62,3% como uso diario de la población y la municipal como proporción de viajes; no aplicar ese porcentaje al censo por manzana sin la ficha técnica.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central es cómo mejorar la planificación de rutas y la orientación al pasajero usando datos territoriales y operativos verificables. El objetivo general es desarrollar y validar Puriy como apoyo a decisiones y a itinerarios comprensibles. Las cifras censales describen residencia; no equivalen a demanda observada.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E:/TEST MCP/juliaca-censos/PDU_Juliaca_2026-2035_Diagnostico.pdf; https://www.gob.pe/institucion/mtc/noticias/1410015-promovilidad-culmina-diagnostico-de-movilidad-de-juliaca-como-parte-de-la-formulacion-del-pmus; https://www.gob.pe/institucion/munisanroman/noticias/1410103-culminamos-el-diagnostico-del-plan-de-movilidad-urbana-sostenible-pmus-en-juliaca-que-registra-mas-de-800-mil-viajes-diarios; E:/PROYECTO JULIACA/web/public/data/manzanas-puntos.geojson. El PDU es un documento de consulta pública, no el diagnóstico del PMUS. El acceso a datos OD o GPS de operadores todavía está pendiente.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JULIACA/web/public/data/manzanas-puntos.geojson y E:/PROYECTO JULIACA/docs/LABORATORIO_MOVILIDAD.md. El mapa de la captura fue entregado por el usuario; puede no mostrar la última apariencia visual del prototipo. 5.204 manzanas y 194.694 habitantes corresponden al filtro Juliaca de 2017. El conjunto Juliaca+San Miguel tiene 6.929 manzanas y 246.911 habitantes asociados, con 3.728 manzanas sin dato asociado. No convertir ausencia de dato en cero habitantes ni en ausencia de viajes.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E:/TEST MCP/juliaca-censos/PDU_Juliaca_2026-2035_Diagnostico.pdf y auditoría E:/PROYECTO JULIACA/docs/AUDITORIA_PDU_MOVILIDAD.md. La tabla 95 tiene 40 filas. El total impreso es 1.963 vehículos, pero la suma de filas es 1.969; no se corrigió arbitrariamente la diferencia de seis. Los 6.076 mototaxis son formales registrados en 140 empresas. Los 269,10 km incluyen 4,86 km de vía departamental proyectada. Estos inventarios deben verificarse para operación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E:/TEST MCP/juliaca-censos/PDU_Juliaca_2026-2035_Diagnostico.pdf pp. 49, 133, 184–185 y E:/PROYECTO JULIACA/docs/AUDITORIA_PDU_MOVILIDAD.md. El catálogo de 17 atractores comprende 9 mayores y 8 menores, con solapamientos como Real Plaza/Plaza Vea. La matrícula EBR pública y privada totaliza 85.482 según el título/fuente 2023 de tablas 64–65; no identifica colegios más poblados. Para modelar acceso se requiere ubicación exacta del acceso, horario y días de apertura. No multiplicar establecimientos de un mismo complejo como demandas independientes.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Diagrama en forma de tabla editable. La implementación actual integra los pasos 1 a 4 en el laboratorio, con valores de campo opcionales y varias fuentes pendientes de validación. El paso 5 debe incluir revisión municipal y de operadores. Una propuesta guardada no es una autorización.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actual del sitio local, 22/09/2026. En la interfaz el pasajero elige origen, destino, hora de salida y preferencia, con mapa de fondo. No prometer ETA real hasta integrar GPS y validar red. Fuente técnica: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Capturas del sitio local, 22/09/2026. En la ficha N40 aparecen datos de ejemplo; el campo de verificación indica pendiente. La base documental PDU lista 40 líneas urbanas, pero esta vista pública no implementa aún las 40 rutas reales. Es importante para explicar honestamente la diferencia entre catálogo y red operativa.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inventado solo para explicar el método: A suma 5+7+18+5=35 min; B suma 8+4+15+6=33 min. La espera como mitad del intervalo supone llegadas aleatorias y servicio regular. En la app el acceso peatonal puede ser proximidad en línea recta; se requieren conexiones peatonales para una medición final. Fuente metodológica: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descrita en E:/PROYECTO JULIACA/docs/LABORATORIO_MOVILIDAD.md. El laboratorio está dentro de Administración y puede usar almacenamiento local o API privada. Integra censo, catálogo PDU, destinos, calendario, comparador, observaciones y exportación. No hay asignación de demanda OD, transbordos, optimización simultánea de 40 líneas ni microsimulación. Las alternativas guardadas no se publican automáticamente.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JULIACA/docs/LABORATORIO_MOVILIDAD.md y E:/PROYECTO JULIACA/docs/AUDITORIA_PDU_MOVILIDAD.md. Ejemplo hipotético, no línea real. 13 km se entiende como distancia total de ida y vuelta; 15 km/h es velocidad comercial hipotética y 10 min son regulación de cabecera. La reserva se descuenta de la flota asignada. La capacidad de 16 plazas debe reemplazarse por capacidad habilitada real. La oferta calculada no es demanda.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JULIACA/docs/LABORATORIO_MOVILIDAD.md. El comparador calcula población conocida cercana a abordajes, destinos abiertos alcanzables, mediana/P90 para conectados, desconexiones y costo operativo según parámetros aportados. Los desvíos usan una red de calles con perfil de automóvil y requieren revisar ancho, giros, paraderos y autorizaciones para micros. Una alternativa no es automáticamente mejor ni autorizada.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una propuesta futura. La app tiene estructura para posición normalizada y expira posiciones antiguas, pero no dispone de un histórico GPS real validado ni ETA pública comprobada. El umbral de 100 m y el ejemplo 25 a 10 km/h se deberán calibrar. Un descenso de velocidad puede deberse a parada, incidente, feria u obra. Se necesita map matching, muestras suficientes, privacidad y revisión operativa. Fuente conceptual: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E:/TEST MCP/juliaca-censos/PDU_Juliaca_2026-2035_Diagnostico.pdf pp. 191–195, tablas 105–108; E:/PROYECTO JULIACA/docs/AUDITORIA_PDU_MOVILIDAD.md; E:/PROYECTO JULIACA/docs/LABORATORIO_MOVILIDAD.md. Las longitudes de ocupación temporal son documentales y pueden solaparse; no son kilómetros de cierre simultáneo ni actuales. El laboratorio actual maneja afectaciones por línea, día y ventana con demora o suspensión. El inventario de semáforos de la app permite administración, pero no hay optimización semafórica validada. Un piloto requiere fases actuales, aforos y competencia municipal.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Beneficios y métricas propuestos para el desafío 2. La seguridad se evalúa mediante verificación de abordajes, desvíos e incidentes documentados, sin inferir causalidad de una muestra corta. Las mejoras ambientales requieren medición de vehículo-km y, para emisiones, un modelo validado que el prototipo aún no tiene. Fuente metodológica: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Diseño de investigación aplicada: medir 2 semanas antes y 3–4 semanas de piloto en la misma línea, día, sentido y hora. Incorporar corredor de control si hay condiciones comparables. Reportar también cambios desfavorables. La mediana y P90 de acceso se ponderan por población conectada conocida; no son viajes observados.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servidor web y la API existen en el proyecto, pero el despliegue estable requiere infraestructura y operación. Evitar cifras monetarias inventadas: cotizar alojamiento, respaldo, dominio, soporte, encuestadores y dispositivos/datos móviles. La ruta crítica es obtener trazados, paraderos, tiempos, capacidad por vehículo y acceso a GPS. El cronograma secuencial propuesto suma 10–11 semanas.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de la explicación completa. En la exposición de 5 minutos llegar aquí después de una selección de láminas. Solicitar selección de corredor piloto, acceso a recorridos y abordajes vigentes, cooperación de operadores y plan de medición antes/después. Los DNI del equipo pertenecen al formulario administrativo, no al material público.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https://www.gob.pe/institucion/mtc/noticias/1410015-promovilidad-culmina-diagnostico-de-movilidad-de-juliaca-como-parte-de-la-formulacion-del-pmus; https://www.gob.pe/institucion/munisanroman/noticias/1410103-culminamos-el-diagnostico-del-plan-de-movilidad-urbana-sostenible-pmus-en-juliaca-que-registra-mas-de-800-mil-viajes-diarios; E:/TEST MCP/juliaca-censos/PDU_Juliaca_2026-2035_Diagnostico.pdf; E:/PROYECTO JULIACA/docs/AUDITORIA_PDU_MOVILIDAD.md; E:/PROYECTO JULIACA/web/public/data/manzanas-puntos.geojson. El PDU no es el informe técnico del PMUS. Mantener fecha y geografía de cada indicador.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JULIACA/docs/LABORATORIO_MOVILIDAD.md. Repetir cálculos con umbrales alternativos. Una línea recta entre centroide y parada no equivale a ruta caminable; para la medición final usar conexiones peatonales. Los tiempos de espera deben observarse por franja y reflejar su variabilidad.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de límites: E:/PROYECTO JULIACA/docs/LABORATORIO_MOVILIDAD.md y E:/PROYECTO JULIACA/docs/AUDITORIA_PDU_MOVILIDAD.md. La vista pública actual contiene N40 PRUEBA, sin puntos de abordaje verificados. No hay 40 rutas operativas publicadas ni GPS real validado. No se infiere demanda OD del censo ni reducción total de tráfico de una simulación de una línea. Para semáforos se requiere competencia municipal y observaciones.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22b1628ccf45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248f71f63f4ceb" /><Relationship Type="http://schemas.openxmlformats.org/officeDocument/2006/relationships/slideLayout" Target="/ppt/slideLayouts/slideLayout1.xml" Id="Ra8d9916ad28648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d9916ad28648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b0e09830b44bdb" /><Relationship Type="http://schemas.openxmlformats.org/officeDocument/2006/relationships/image" Target="/ppt/media/image.png" Id="R8cd69d45511c41f7" /><Relationship Type="http://schemas.openxmlformats.org/officeDocument/2006/relationships/image" Target="/ppt/media/image2.png" Id="Rcea25a9013ae4a7f" /><Relationship Type="http://schemas.openxmlformats.org/officeDocument/2006/relationships/notesSlide" Target="/ppt/notesSlides/notesSlide1.xml" Id="R71b7a4fb8c424a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cbc8ce4f8d4dca" /><Relationship Type="http://schemas.openxmlformats.org/officeDocument/2006/relationships/notesSlide" Target="/ppt/notesSlides/notesSlide2.xml" Id="R9c6b9a205867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4cb50aaa494916" /><Relationship Type="http://schemas.openxmlformats.org/officeDocument/2006/relationships/notesSlide" Target="/ppt/notesSlides/notesSlide3.xml" Id="Ra8bc6948f64441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156832725a4f6c" /><Relationship Type="http://schemas.openxmlformats.org/officeDocument/2006/relationships/notesSlide" Target="/ppt/notesSlides/notesSlide4.xml" Id="Rb30b089c8edb4a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41b3768a70427e" /><Relationship Type="http://schemas.openxmlformats.org/officeDocument/2006/relationships/notesSlide" Target="/ppt/notesSlides/notesSlide5.xml" Id="R05ae887663584b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0bec89bdf44e58" /><Relationship Type="http://schemas.openxmlformats.org/officeDocument/2006/relationships/image" Target="/ppt/media/image3.png" Id="R170fcb3167424804" /><Relationship Type="http://schemas.openxmlformats.org/officeDocument/2006/relationships/notesSlide" Target="/ppt/notesSlides/notesSlide6.xml" Id="Rdc74bcbb9b1644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e3068fa1c54caf" /><Relationship Type="http://schemas.openxmlformats.org/officeDocument/2006/relationships/notesSlide" Target="/ppt/notesSlides/notesSlide7.xml" Id="R9339d81948a24f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11c20ae44341e6" /><Relationship Type="http://schemas.openxmlformats.org/officeDocument/2006/relationships/notesSlide" Target="/ppt/notesSlides/notesSlide8.xml" Id="R76b4e1360ff149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e8cff3a631433c" /><Relationship Type="http://schemas.openxmlformats.org/officeDocument/2006/relationships/notesSlide" Target="/ppt/notesSlides/notesSlide9.xml" Id="Ra2e307bb632048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e8ebb1c2094896" /><Relationship Type="http://schemas.openxmlformats.org/officeDocument/2006/relationships/image" Target="/ppt/media/image4.png" Id="R08fabf00e32349f1" /><Relationship Type="http://schemas.openxmlformats.org/officeDocument/2006/relationships/notesSlide" Target="/ppt/notesSlides/notesSlide10.xml" Id="Rd7987541b9564e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e33e9be4804e43" /><Relationship Type="http://schemas.openxmlformats.org/officeDocument/2006/relationships/image" Target="/ppt/media/image5.png" Id="R3fb850d4c8c44ef0" /><Relationship Type="http://schemas.openxmlformats.org/officeDocument/2006/relationships/image" Target="/ppt/media/image6.png" Id="Rf8f25db1b3c545b9" /><Relationship Type="http://schemas.openxmlformats.org/officeDocument/2006/relationships/notesSlide" Target="/ppt/notesSlides/notesSlide11.xml" Id="R7efdeee2584647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4580eb21fd04bcd" /><Relationship Type="http://schemas.openxmlformats.org/officeDocument/2006/relationships/notesSlide" Target="/ppt/notesSlides/notesSlide12.xml" Id="Rf5b5945b065541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268f7b4ac34fd8" /><Relationship Type="http://schemas.openxmlformats.org/officeDocument/2006/relationships/notesSlide" Target="/ppt/notesSlides/notesSlide13.xml" Id="Rfd2447536da248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9220c51832c4bf0" /><Relationship Type="http://schemas.openxmlformats.org/officeDocument/2006/relationships/notesSlide" Target="/ppt/notesSlides/notesSlide14.xml" Id="Ra0a5c0db08b646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2e2470c1023424a" /><Relationship Type="http://schemas.openxmlformats.org/officeDocument/2006/relationships/notesSlide" Target="/ppt/notesSlides/notesSlide15.xml" Id="Ra18a2e9b516a4a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c646654ad674788" /><Relationship Type="http://schemas.openxmlformats.org/officeDocument/2006/relationships/notesSlide" Target="/ppt/notesSlides/notesSlide16.xml" Id="R71614ece77bf44f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422b71e6874f76" /><Relationship Type="http://schemas.openxmlformats.org/officeDocument/2006/relationships/notesSlide" Target="/ppt/notesSlides/notesSlide17.xml" Id="Rd594e88ae05843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b5b059dae1439e" /><Relationship Type="http://schemas.openxmlformats.org/officeDocument/2006/relationships/notesSlide" Target="/ppt/notesSlides/notesSlide18.xml" Id="Rcfcffeaffd4a4a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0f1eb3dc4734919" /><Relationship Type="http://schemas.openxmlformats.org/officeDocument/2006/relationships/notesSlide" Target="/ppt/notesSlides/notesSlide19.xml" Id="R5f792437fd8c4f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d3e1e1563c5484b" /><Relationship Type="http://schemas.openxmlformats.org/officeDocument/2006/relationships/notesSlide" Target="/ppt/notesSlides/notesSlide20.xml" Id="Rceb8ba86bac5467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73a24b8d074dc5" /><Relationship Type="http://schemas.openxmlformats.org/officeDocument/2006/relationships/notesSlide" Target="/ppt/notesSlides/notesSlide21.xml" Id="R4c3e285ed20d46d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7e8056c08644c45" /><Relationship Type="http://schemas.openxmlformats.org/officeDocument/2006/relationships/notesSlide" Target="/ppt/notesSlides/notesSlide22.xml" Id="R6e0a15ae42a6450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1e6e1cd171c4cc0" /><Relationship Type="http://schemas.openxmlformats.org/officeDocument/2006/relationships/notesSlide" Target="/ppt/notesSlides/notesSlide23.xml" Id="Rcc4115ca779041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3f8b862871b4e79" /><Relationship Type="http://schemas.openxmlformats.org/officeDocument/2006/relationships/notesSlide" Target="/ppt/notesSlides/notesSlide24.xml" Id="Rb180428d8de64e09" /></Relationships>
</file>

<file path=ppt/slides/slide1.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0A2F8F-B51C-48E3-9CB5-FCF2AC80BC35}"/>
              </a:ext>
            </a:extLst>
          </p:cNvPr>
          <p:cNvSpPr>
            <a:spLocks xmlns:a="http://schemas.openxmlformats.org/drawingml/2006/main" noGrp="1"/>
          </p:cNvSpPr>
          <p:nvPr/>
        </p:nvSpPr>
        <p:spPr>
          <a:xfrm xmlns:a="http://schemas.openxmlformats.org/drawingml/2006/main">
            <a:off x="0" y="0"/>
            <a:ext cx="752475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cd69d45511c41f7"/>
          <a:srcRect xmlns:a="http://schemas.openxmlformats.org/drawingml/2006/main" l="28733" t="0" r="28733"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B20023-E48F-4030-B23A-04B11E3D0A22}"/>
              </a:ext>
            </a:extLst>
          </p:cNvPr>
          <p:cNvSpPr>
            <a:spLocks xmlns:a="http://schemas.openxmlformats.org/drawingml/2006/main" noGrp="1"/>
          </p:cNvSpPr>
          <p:nvPr/>
        </p:nvSpPr>
        <p:spPr>
          <a:xfrm xmlns:a="http://schemas.openxmlformats.org/drawingml/2006/main">
            <a:off x="7315200" y="0"/>
            <a:ext cx="49530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ea25a9013ae4a7f"/>
          <a:stretch xmlns:a="http://schemas.openxmlformats.org/drawingml/2006/main"/>
        </p:blipFill>
        <p:spPr>
          <a:xfrm xmlns:a="http://schemas.openxmlformats.org/drawingml/2006/main">
            <a:off x="571500" y="495300"/>
            <a:ext cx="714375" cy="71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C0BBA08-0C2C-4BBF-B447-A56C0B9CDC0D}"/>
              </a:ext>
            </a:extLst>
          </p:cNvPr>
          <p:cNvSpPr>
            <a:spLocks xmlns:a="http://schemas.openxmlformats.org/drawingml/2006/main" noGrp="1"/>
          </p:cNvSpPr>
          <p:nvPr/>
        </p:nvSpPr>
        <p:spPr>
          <a:xfrm xmlns:a="http://schemas.openxmlformats.org/drawingml/2006/main">
            <a:off x="571500" y="1619250"/>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PURIY</a:t>
            </a:r>
          </a:p>
        </p:txBody>
      </p:sp>
      <p:sp>
        <p:nvSpPr>
          <p:cNvPr id="6" name="">
            <a:extLst xmlns:a="http://schemas.openxmlformats.org/drawingml/2006/main">
              <a:ext uri="{FF2B5EF4-FFF2-40B4-BE49-F238E27FC236}">
                <a16:creationId xmlns:a16="http://schemas.microsoft.com/office/drawing/2014/main" id="{C8A62B91-6A40-402C-90C8-8F50E769AE39}"/>
              </a:ext>
            </a:extLst>
          </p:cNvPr>
          <p:cNvSpPr>
            <a:spLocks xmlns:a="http://schemas.openxmlformats.org/drawingml/2006/main" noGrp="1"/>
          </p:cNvSpPr>
          <p:nvPr/>
        </p:nvSpPr>
        <p:spPr>
          <a:xfrm xmlns:a="http://schemas.openxmlformats.org/drawingml/2006/main">
            <a:off x="571500" y="2495550"/>
            <a:ext cx="628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Plataforma Inteligente para la Optimización de Rutas de Transporte Urbano</a:t>
            </a:r>
          </a:p>
        </p:txBody>
      </p:sp>
      <p:sp>
        <p:nvSpPr>
          <p:cNvPr id="7" name="">
            <a:extLst xmlns:a="http://schemas.openxmlformats.org/drawingml/2006/main">
              <a:ext uri="{FF2B5EF4-FFF2-40B4-BE49-F238E27FC236}">
                <a16:creationId xmlns:a16="http://schemas.microsoft.com/office/drawing/2014/main" id="{6C0AA819-B755-4665-861E-83AEECA086F2}"/>
              </a:ext>
            </a:extLst>
          </p:cNvPr>
          <p:cNvSpPr>
            <a:spLocks xmlns:a="http://schemas.openxmlformats.org/drawingml/2006/main" noGrp="1"/>
          </p:cNvSpPr>
          <p:nvPr/>
        </p:nvSpPr>
        <p:spPr>
          <a:xfrm xmlns:a="http://schemas.openxmlformats.org/drawingml/2006/main">
            <a:off x="571500" y="4229100"/>
            <a:ext cx="1714500" cy="0"/>
          </a:xfrm>
          <a:prstGeom xmlns:a="http://schemas.openxmlformats.org/drawingml/2006/main" prst="line">
            <a:avLst/>
          </a:prstGeom>
          <a:noFill xmlns:a="http://schemas.openxmlformats.org/drawingml/2006/main"/>
          <a:ln xmlns:a="http://schemas.openxmlformats.org/drawingml/2006/main" w="57150">
            <a:solidFill>
              <a:srgbClr val="78A5F6"/>
            </a:solidFill>
            <a:prstDash val="solid"/>
          </a:ln>
        </p:spPr>
      </p:sp>
      <p:sp>
        <p:nvSpPr>
          <p:cNvPr id="8" name="">
            <a:extLst xmlns:a="http://schemas.openxmlformats.org/drawingml/2006/main">
              <a:ext uri="{FF2B5EF4-FFF2-40B4-BE49-F238E27FC236}">
                <a16:creationId xmlns:a16="http://schemas.microsoft.com/office/drawing/2014/main" id="{595A8FE0-235A-44B8-ACA4-72651AA2A7B2}"/>
              </a:ext>
            </a:extLst>
          </p:cNvPr>
          <p:cNvSpPr>
            <a:spLocks xmlns:a="http://schemas.openxmlformats.org/drawingml/2006/main" noGrp="1"/>
          </p:cNvSpPr>
          <p:nvPr/>
        </p:nvSpPr>
        <p:spPr>
          <a:xfrm xmlns:a="http://schemas.openxmlformats.org/drawingml/2006/main">
            <a:off x="571500" y="449580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CFD9E7"/>
                </a:solidFill>
                <a:latin typeface="Aptos"/>
                <a:ea typeface="Aptos"/>
                <a:cs typeface="Aptos"/>
              </a:defRPr>
            </a:pPr>
            <a:r>
              <a:rPr sz="1725" b="0">
                <a:solidFill>
                  <a:srgbClr val="CFD9E7"/>
                </a:solidFill>
                <a:latin typeface="Aptos"/>
                <a:ea typeface="Aptos"/>
                <a:cs typeface="Aptos"/>
              </a:rPr>
              <a:t>Propuesta de investigación aplicada</a:t>
            </a:r>
          </a:p>
        </p:txBody>
      </p:sp>
      <p:sp>
        <p:nvSpPr>
          <p:cNvPr id="9" name="">
            <a:extLst xmlns:a="http://schemas.openxmlformats.org/drawingml/2006/main">
              <a:ext uri="{FF2B5EF4-FFF2-40B4-BE49-F238E27FC236}">
                <a16:creationId xmlns:a16="http://schemas.microsoft.com/office/drawing/2014/main" id="{63BE6600-36E7-4C0F-ABB1-39134BB99A07}"/>
              </a:ext>
            </a:extLst>
          </p:cNvPr>
          <p:cNvSpPr>
            <a:spLocks xmlns:a="http://schemas.openxmlformats.org/drawingml/2006/main" noGrp="1"/>
          </p:cNvSpPr>
          <p:nvPr/>
        </p:nvSpPr>
        <p:spPr>
          <a:xfrm xmlns:a="http://schemas.openxmlformats.org/drawingml/2006/main">
            <a:off x="571500" y="5476875"/>
            <a:ext cx="652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B4CAFA"/>
                </a:solidFill>
                <a:latin typeface="Aptos"/>
                <a:ea typeface="Aptos"/>
                <a:cs typeface="Aptos"/>
              </a:defRPr>
            </a:pPr>
            <a:r>
              <a:rPr sz="1200" b="1">
                <a:solidFill>
                  <a:srgbClr val="B4CAFA"/>
                </a:solidFill>
                <a:latin typeface="Aptos"/>
                <a:ea typeface="Aptos"/>
                <a:cs typeface="Aptos"/>
              </a:rPr>
              <a:t>DESAFÍO 2 · MOVILIDAD SOSTENIBLE Y SEGURA</a:t>
            </a:r>
          </a:p>
        </p:txBody>
      </p:sp>
      <p:sp>
        <p:nvSpPr>
          <p:cNvPr id="10" name="">
            <a:extLst xmlns:a="http://schemas.openxmlformats.org/drawingml/2006/main">
              <a:ext uri="{FF2B5EF4-FFF2-40B4-BE49-F238E27FC236}">
                <a16:creationId xmlns:a16="http://schemas.microsoft.com/office/drawing/2014/main" id="{3EC26385-A1CA-483A-8F04-B329618E5AC4}"/>
              </a:ext>
            </a:extLst>
          </p:cNvPr>
          <p:cNvSpPr>
            <a:spLocks xmlns:a="http://schemas.openxmlformats.org/drawingml/2006/main" noGrp="1"/>
          </p:cNvSpPr>
          <p:nvPr/>
        </p:nvSpPr>
        <p:spPr>
          <a:xfrm xmlns:a="http://schemas.openxmlformats.org/drawingml/2006/main">
            <a:off x="571500" y="594360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Equipo ASEDIC · Juliaca, 2026</a:t>
            </a:r>
          </a:p>
        </p:txBody>
      </p:sp>
    </p:spTree>
    <p:extLst>
      <p:ext uri="{BB962C8B-B14F-4D97-AF65-F5344CB8AC3E}">
        <p14:creationId xmlns:p14="http://schemas.microsoft.com/office/powerpoint/2010/main" val="20531427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67D79D-7795-4AF9-B5D1-3E8278319DE1}"/>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Puriy en una página</a:t>
            </a:r>
          </a:p>
        </p:txBody>
      </p:sp>
      <p:sp>
        <p:nvSpPr>
          <p:cNvPr id="2" name="">
            <a:extLst xmlns:a="http://schemas.openxmlformats.org/drawingml/2006/main">
              <a:ext uri="{FF2B5EF4-FFF2-40B4-BE49-F238E27FC236}">
                <a16:creationId xmlns:a16="http://schemas.microsoft.com/office/drawing/2014/main" id="{D4FC1653-F579-44FF-AF47-5ED5708A6F55}"/>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E2313F64-1CE3-42DA-8119-E9FF4D62F01C}"/>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A903AC9D-4725-4B1D-A08E-15D814FF49E8}"/>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A6D895D7-4189-4253-8116-2594C140E6F3}"/>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E2B95DF6-150E-486F-AAF0-5F700960DA6A}"/>
              </a:ext>
            </a:extLst>
          </p:cNvPr>
          <p:cNvSpPr>
            <a:spLocks xmlns:a="http://schemas.openxmlformats.org/drawingml/2006/main" noGrp="1"/>
          </p:cNvSpPr>
          <p:nvPr/>
        </p:nvSpPr>
        <p:spPr>
          <a:xfrm xmlns:a="http://schemas.openxmlformats.org/drawingml/2006/main">
            <a:off x="571500" y="13239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Puriy reúne información territorial y operativa para responder dos preguntas:</a:t>
            </a:r>
          </a:p>
        </p:txBody>
      </p:sp>
      <p:sp>
        <p:nvSpPr>
          <p:cNvPr id="7" name="">
            <a:extLst xmlns:a="http://schemas.openxmlformats.org/drawingml/2006/main">
              <a:ext uri="{FF2B5EF4-FFF2-40B4-BE49-F238E27FC236}">
                <a16:creationId xmlns:a16="http://schemas.microsoft.com/office/drawing/2014/main" id="{CFFC6E3E-C107-4F78-A677-94396D639859}"/>
              </a:ext>
            </a:extLst>
          </p:cNvPr>
          <p:cNvSpPr>
            <a:spLocks xmlns:a="http://schemas.openxmlformats.org/drawingml/2006/main" noGrp="1"/>
          </p:cNvSpPr>
          <p:nvPr/>
        </p:nvSpPr>
        <p:spPr>
          <a:xfrm xmlns:a="http://schemas.openxmlformats.org/drawingml/2006/main">
            <a:off x="571500" y="20097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¿Qué micro puede tomar una persona para llegar a su destino?</a:t>
            </a:r>
          </a:p>
        </p:txBody>
      </p:sp>
      <p:sp>
        <p:nvSpPr>
          <p:cNvPr id="8" name="">
            <a:extLst xmlns:a="http://schemas.openxmlformats.org/drawingml/2006/main">
              <a:ext uri="{FF2B5EF4-FFF2-40B4-BE49-F238E27FC236}">
                <a16:creationId xmlns:a16="http://schemas.microsoft.com/office/drawing/2014/main" id="{C29E5D88-5C41-405D-A701-6C6695272FCD}"/>
              </a:ext>
            </a:extLst>
          </p:cNvPr>
          <p:cNvSpPr>
            <a:spLocks xmlns:a="http://schemas.openxmlformats.org/drawingml/2006/main" noGrp="1"/>
          </p:cNvSpPr>
          <p:nvPr/>
        </p:nvSpPr>
        <p:spPr>
          <a:xfrm xmlns:a="http://schemas.openxmlformats.org/drawingml/2006/main">
            <a:off x="571500" y="261937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¿Cómo cambia la cobertura y el costo si se modifica una ruta o su intervalo?</a:t>
            </a:r>
          </a:p>
        </p:txBody>
      </p:sp>
      <p:sp>
        <p:nvSpPr>
          <p:cNvPr id="9" name="">
            <a:extLst xmlns:a="http://schemas.openxmlformats.org/drawingml/2006/main">
              <a:ext uri="{FF2B5EF4-FFF2-40B4-BE49-F238E27FC236}">
                <a16:creationId xmlns:a16="http://schemas.microsoft.com/office/drawing/2014/main" id="{A2619751-0B59-4EF8-B41D-074007EB1A2C}"/>
              </a:ext>
            </a:extLst>
          </p:cNvPr>
          <p:cNvSpPr>
            <a:spLocks xmlns:a="http://schemas.openxmlformats.org/drawingml/2006/main" noGrp="1"/>
          </p:cNvSpPr>
          <p:nvPr/>
        </p:nvSpPr>
        <p:spPr>
          <a:xfrm xmlns:a="http://schemas.openxmlformats.org/drawingml/2006/main">
            <a:off x="571500" y="3505200"/>
            <a:ext cx="11010900"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graphicFrame>
        <p:nvGraphicFramePr>
          <p:cNvPr id="20" name=""/>
          <p:cNvGraphicFramePr/>
          <p:nvPr/>
        </p:nvGraphicFramePr>
        <p:xfrm>
          <a:off xmlns:a="http://schemas.openxmlformats.org/drawingml/2006/main" x="571500" y="3876675"/>
          <a:ext xmlns:a="http://schemas.openxmlformats.org/drawingml/2006/main" cx="11010900" cy="2085975"/>
        </p:xfrm>
        <a:graphic xmlns:a="http://schemas.openxmlformats.org/drawingml/2006/main">
          <a:graphicData uri="http://schemas.openxmlformats.org/drawingml/2006/table">
            <a:tbl>
              <a:tblPr/>
              <a:tblGrid>
                <a:gridCol w="3333750"/>
                <a:gridCol w="4095750"/>
                <a:gridCol w="3581400"/>
              </a:tblGrid>
              <a:tr h="695325">
                <a:tc>
                  <a:txBody>
                    <a:bodyPr wrap="square" lIns="76200" tIns="47625" rIns="66675" bIns="47625">
                      <a:normAutofit/>
                    </a:bodyPr>
                    <a:lstStyle/>
                    <a:p>
                      <a:r>
                        <a:rPr sz="1200" b="1">
                          <a:solidFill>
                            <a:srgbClr val="FFFFFF"/>
                          </a:solidFill>
                          <a:latin typeface="Aptos"/>
                          <a:ea typeface="Aptos"/>
                          <a:cs typeface="Aptos"/>
                        </a:rPr>
                        <a:t>Para pasajeros</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Para municipio y operadores</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Estado actual</a:t>
                      </a:r>
                    </a:p>
                  </a:txBody>
                  <a:tcPr marL="91440" marR="91440" marT="45720" marB="45720" anchor="ctr">
                    <a:solidFill>
                      <a:srgbClr val="17202B"/>
                    </a:solidFill>
                  </a:tcPr>
                </a:tc>
              </a:tr>
              <a:tr h="695325">
                <a:tc>
                  <a:txBody>
                    <a:bodyPr wrap="square" lIns="76200" tIns="47625" rIns="66675" bIns="47625">
                      <a:normAutofit/>
                    </a:bodyPr>
                    <a:lstStyle/>
                    <a:p>
                      <a:r>
                        <a:rPr sz="1275" b="0">
                          <a:solidFill>
                            <a:srgbClr val="20252C"/>
                          </a:solidFill>
                          <a:latin typeface="Aptos"/>
                          <a:ea typeface="Aptos"/>
                          <a:cs typeface="Aptos"/>
                        </a:rPr>
                        <a:t>Planificación de viaje y mapa de recorridos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Comparación de ruta base y alternativa con flota, frecuencia y acceso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Prototipo y laboratorio disponibles; una ruta pública de prueba</a:t>
                      </a:r>
                    </a:p>
                  </a:txBody>
                  <a:tcPr marL="91440" marR="91440" marT="45720" marB="45720" anchor="ctr">
                    <a:solidFill>
                      <a:srgbClr val="FFFFFF"/>
                    </a:solidFill>
                  </a:tcPr>
                </a:tc>
              </a:tr>
              <a:tr h="695325">
                <a:tc>
                  <a:txBody>
                    <a:bodyPr wrap="square" lIns="76200" tIns="47625" rIns="66675" bIns="47625">
                      <a:normAutofit/>
                    </a:bodyPr>
                    <a:lstStyle/>
                    <a:p>
                      <a:r>
                        <a:rPr sz="1275" b="0">
                          <a:solidFill>
                            <a:srgbClr val="20252C"/>
                          </a:solidFill>
                          <a:latin typeface="Aptos"/>
                          <a:ea typeface="Aptos"/>
                          <a:cs typeface="Aptos"/>
                        </a:rPr>
                        <a:t>En piloto: tiempos observados y alertas contrastadas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En piloto: GPS, aforos y validación de trazados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Red real completa y efecto en tráfico por comprobar</a:t>
                      </a:r>
                    </a:p>
                  </a:txBody>
                  <a:tcPr marL="91440" marR="91440" marT="45720" marB="45720" anchor="ctr">
                    <a:solidFill>
                      <a:srgbClr val="F5F6F8"/>
                    </a:solidFill>
                  </a:tcPr>
                </a:tc>
              </a:tr>
            </a:tbl>
          </a:graphicData>
        </a:graphic>
      </p:graphicFrame>
    </p:spTree>
    <p:extLst>
      <p:ext uri="{BB962C8B-B14F-4D97-AF65-F5344CB8AC3E}">
        <p14:creationId xmlns:p14="http://schemas.microsoft.com/office/powerpoint/2010/main" val="13643267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BFEC2C4-47D5-4901-837B-F910BFD16A2B}"/>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Movilidad de Juliaca: escala del problema</a:t>
            </a:r>
          </a:p>
        </p:txBody>
      </p:sp>
      <p:sp>
        <p:nvSpPr>
          <p:cNvPr id="2" name="">
            <a:extLst xmlns:a="http://schemas.openxmlformats.org/drawingml/2006/main">
              <a:ext uri="{FF2B5EF4-FFF2-40B4-BE49-F238E27FC236}">
                <a16:creationId xmlns:a16="http://schemas.microsoft.com/office/drawing/2014/main" id="{9814784F-6B85-4F8D-820E-E8021DDA6A4F}"/>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8AE32397-A145-4DE2-99E3-CAEEA28D209C}"/>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FB01D599-D945-4663-A87A-4995F58CFEFA}"/>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80EFF98C-C634-4D4F-8862-26EA35F81459}"/>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6BEE25EA-FD4B-4180-9A4B-216042BA4A7C}"/>
              </a:ext>
            </a:extLst>
          </p:cNvPr>
          <p:cNvSpPr>
            <a:spLocks xmlns:a="http://schemas.openxmlformats.org/drawingml/2006/main" noGrp="1"/>
          </p:cNvSpPr>
          <p:nvPr/>
        </p:nvSpPr>
        <p:spPr>
          <a:xfrm xmlns:a="http://schemas.openxmlformats.org/drawingml/2006/main">
            <a:off x="571500" y="13239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86"/>
          </a:bodyPr>
          <a:lstStyle xmlns:a="http://schemas.openxmlformats.org/drawingml/2006/main"/>
          <a:p xmlns:a="http://schemas.openxmlformats.org/drawingml/2006/main">
            <a:pPr algn="l">
              <a:defRPr sz="3600" b="1">
                <a:solidFill>
                  <a:srgbClr val="275CBA"/>
                </a:solidFill>
                <a:latin typeface="Aptos"/>
                <a:ea typeface="Aptos"/>
                <a:cs typeface="Aptos"/>
              </a:defRPr>
            </a:pPr>
            <a:r>
              <a:rPr sz="3600" b="1">
                <a:solidFill>
                  <a:srgbClr val="275CBA"/>
                </a:solidFill>
                <a:latin typeface="Aptos"/>
                <a:ea typeface="Aptos"/>
                <a:cs typeface="Aptos"/>
              </a:rPr>
              <a:t>&gt;800 mil</a:t>
            </a:r>
          </a:p>
        </p:txBody>
      </p:sp>
      <p:sp>
        <p:nvSpPr>
          <p:cNvPr id="7" name="">
            <a:extLst xmlns:a="http://schemas.openxmlformats.org/drawingml/2006/main">
              <a:ext uri="{FF2B5EF4-FFF2-40B4-BE49-F238E27FC236}">
                <a16:creationId xmlns:a16="http://schemas.microsoft.com/office/drawing/2014/main" id="{05C99127-3BFC-480D-82D2-D700497F310F}"/>
              </a:ext>
            </a:extLst>
          </p:cNvPr>
          <p:cNvSpPr>
            <a:spLocks xmlns:a="http://schemas.openxmlformats.org/drawingml/2006/main" noGrp="1"/>
          </p:cNvSpPr>
          <p:nvPr/>
        </p:nvSpPr>
        <p:spPr>
          <a:xfrm xmlns:a="http://schemas.openxmlformats.org/drawingml/2006/main">
            <a:off x="571500" y="18859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viajes diarios en el ámbito del PMUS</a:t>
            </a:r>
          </a:p>
        </p:txBody>
      </p:sp>
      <p:sp>
        <p:nvSpPr>
          <p:cNvPr id="8" name="">
            <a:extLst xmlns:a="http://schemas.openxmlformats.org/drawingml/2006/main">
              <a:ext uri="{FF2B5EF4-FFF2-40B4-BE49-F238E27FC236}">
                <a16:creationId xmlns:a16="http://schemas.microsoft.com/office/drawing/2014/main" id="{B5186DBC-1A09-4BBC-A43C-35B8B12B495D}"/>
              </a:ext>
            </a:extLst>
          </p:cNvPr>
          <p:cNvSpPr>
            <a:spLocks xmlns:a="http://schemas.openxmlformats.org/drawingml/2006/main" noGrp="1"/>
          </p:cNvSpPr>
          <p:nvPr/>
        </p:nvSpPr>
        <p:spPr>
          <a:xfrm xmlns:a="http://schemas.openxmlformats.org/drawingml/2006/main">
            <a:off x="571500" y="2390775"/>
            <a:ext cx="4953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86473"/>
                </a:solidFill>
                <a:latin typeface="Aptos"/>
                <a:ea typeface="Aptos"/>
                <a:cs typeface="Aptos"/>
              </a:defRPr>
            </a:pPr>
            <a:r>
              <a:rPr sz="1500" b="0">
                <a:solidFill>
                  <a:srgbClr val="586473"/>
                </a:solidFill>
                <a:latin typeface="Aptos"/>
                <a:ea typeface="Aptos"/>
                <a:cs typeface="Aptos"/>
              </a:rPr>
              <a:t>Juliaca, San Miguel y Caracoto. El máximo de viajes se concentra alrededor de las 07:00.</a:t>
            </a:r>
          </a:p>
        </p:txBody>
      </p:sp>
      <p:sp>
        <p:nvSpPr>
          <p:cNvPr id="9" name="">
            <a:extLst xmlns:a="http://schemas.openxmlformats.org/drawingml/2006/main">
              <a:ext uri="{FF2B5EF4-FFF2-40B4-BE49-F238E27FC236}">
                <a16:creationId xmlns:a16="http://schemas.microsoft.com/office/drawing/2014/main" id="{D1F29101-99A5-4E06-915E-692A8DED76C6}"/>
              </a:ext>
            </a:extLst>
          </p:cNvPr>
          <p:cNvSpPr>
            <a:spLocks xmlns:a="http://schemas.openxmlformats.org/drawingml/2006/main" noGrp="1"/>
          </p:cNvSpPr>
          <p:nvPr/>
        </p:nvSpPr>
        <p:spPr>
          <a:xfrm xmlns:a="http://schemas.openxmlformats.org/drawingml/2006/main">
            <a:off x="5886450" y="1304925"/>
            <a:ext cx="19050" cy="20859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432102-98EA-4963-8C08-B4F17E99E7FD}"/>
              </a:ext>
            </a:extLst>
          </p:cNvPr>
          <p:cNvSpPr>
            <a:spLocks xmlns:a="http://schemas.openxmlformats.org/drawingml/2006/main" noGrp="1"/>
          </p:cNvSpPr>
          <p:nvPr/>
        </p:nvSpPr>
        <p:spPr>
          <a:xfrm xmlns:a="http://schemas.openxmlformats.org/drawingml/2006/main">
            <a:off x="6257925" y="13239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86"/>
          </a:bodyPr>
          <a:lstStyle xmlns:a="http://schemas.openxmlformats.org/drawingml/2006/main"/>
          <a:p xmlns:a="http://schemas.openxmlformats.org/drawingml/2006/main">
            <a:pPr algn="l">
              <a:defRPr sz="3600" b="1">
                <a:solidFill>
                  <a:srgbClr val="275CBA"/>
                </a:solidFill>
                <a:latin typeface="Aptos"/>
                <a:ea typeface="Aptos"/>
                <a:cs typeface="Aptos"/>
              </a:defRPr>
            </a:pPr>
            <a:r>
              <a:rPr sz="3600" b="1">
                <a:solidFill>
                  <a:srgbClr val="275CBA"/>
                </a:solidFill>
                <a:latin typeface="Aptos"/>
                <a:ea typeface="Aptos"/>
                <a:cs typeface="Aptos"/>
              </a:rPr>
              <a:t>62,3 %</a:t>
            </a:r>
          </a:p>
        </p:txBody>
      </p:sp>
      <p:sp>
        <p:nvSpPr>
          <p:cNvPr id="11" name="">
            <a:extLst xmlns:a="http://schemas.openxmlformats.org/drawingml/2006/main">
              <a:ext uri="{FF2B5EF4-FFF2-40B4-BE49-F238E27FC236}">
                <a16:creationId xmlns:a16="http://schemas.microsoft.com/office/drawing/2014/main" id="{06B8E790-37D9-4A4B-9641-BB32B3D95AAD}"/>
              </a:ext>
            </a:extLst>
          </p:cNvPr>
          <p:cNvSpPr>
            <a:spLocks xmlns:a="http://schemas.openxmlformats.org/drawingml/2006/main" noGrp="1"/>
          </p:cNvSpPr>
          <p:nvPr/>
        </p:nvSpPr>
        <p:spPr>
          <a:xfrm xmlns:a="http://schemas.openxmlformats.org/drawingml/2006/main">
            <a:off x="6257925" y="188595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transporte público convencional</a:t>
            </a:r>
          </a:p>
        </p:txBody>
      </p:sp>
      <p:sp>
        <p:nvSpPr>
          <p:cNvPr id="12" name="">
            <a:extLst xmlns:a="http://schemas.openxmlformats.org/drawingml/2006/main">
              <a:ext uri="{FF2B5EF4-FFF2-40B4-BE49-F238E27FC236}">
                <a16:creationId xmlns:a16="http://schemas.microsoft.com/office/drawing/2014/main" id="{68E7DDE5-6B6E-45F7-A167-8A2E7320FEDF}"/>
              </a:ext>
            </a:extLst>
          </p:cNvPr>
          <p:cNvSpPr>
            <a:spLocks xmlns:a="http://schemas.openxmlformats.org/drawingml/2006/main" noGrp="1"/>
          </p:cNvSpPr>
          <p:nvPr/>
        </p:nvSpPr>
        <p:spPr>
          <a:xfrm xmlns:a="http://schemas.openxmlformats.org/drawingml/2006/main">
            <a:off x="6257925" y="2390775"/>
            <a:ext cx="5048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86473"/>
                </a:solidFill>
                <a:latin typeface="Aptos"/>
                <a:ea typeface="Aptos"/>
                <a:cs typeface="Aptos"/>
              </a:defRPr>
            </a:pPr>
            <a:r>
              <a:rPr sz="1500" b="0">
                <a:solidFill>
                  <a:srgbClr val="586473"/>
                </a:solidFill>
                <a:latin typeface="Aptos"/>
                <a:ea typeface="Aptos"/>
                <a:cs typeface="Aptos"/>
              </a:rPr>
              <a:t>La nota publicada presenta este porcentaje como contexto. El denominador debe confirmarse en el informe técnico.</a:t>
            </a:r>
          </a:p>
        </p:txBody>
      </p:sp>
      <p:sp>
        <p:nvSpPr>
          <p:cNvPr id="13" name="">
            <a:extLst xmlns:a="http://schemas.openxmlformats.org/drawingml/2006/main">
              <a:ext uri="{FF2B5EF4-FFF2-40B4-BE49-F238E27FC236}">
                <a16:creationId xmlns:a16="http://schemas.microsoft.com/office/drawing/2014/main" id="{65624376-419F-4083-BA48-BB47BA3949B2}"/>
              </a:ext>
            </a:extLst>
          </p:cNvPr>
          <p:cNvSpPr>
            <a:spLocks xmlns:a="http://schemas.openxmlformats.org/drawingml/2006/main" noGrp="1"/>
          </p:cNvSpPr>
          <p:nvPr/>
        </p:nvSpPr>
        <p:spPr>
          <a:xfrm xmlns:a="http://schemas.openxmlformats.org/drawingml/2006/main">
            <a:off x="571500" y="3657600"/>
            <a:ext cx="11010900"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graphicFrame>
        <p:nvGraphicFramePr>
          <p:cNvPr id="28" name=""/>
          <p:cNvGraphicFramePr/>
          <p:nvPr/>
        </p:nvGraphicFramePr>
        <p:xfrm>
          <a:off xmlns:a="http://schemas.openxmlformats.org/drawingml/2006/main" x="571500" y="3981450"/>
          <a:ext xmlns:a="http://schemas.openxmlformats.org/drawingml/2006/main" cx="11010900" cy="2057400"/>
        </p:xfrm>
        <a:graphic xmlns:a="http://schemas.openxmlformats.org/drawingml/2006/main">
          <a:graphicData uri="http://schemas.openxmlformats.org/drawingml/2006/table">
            <a:tbl>
              <a:tblPr/>
              <a:tblGrid>
                <a:gridCol w="3429000"/>
                <a:gridCol w="3829050"/>
                <a:gridCol w="3752850"/>
              </a:tblGrid>
              <a:tr h="514350">
                <a:tc>
                  <a:txBody>
                    <a:bodyPr wrap="square" lIns="76200" tIns="47625" rIns="66675" bIns="47625">
                      <a:normAutofit/>
                    </a:bodyPr>
                    <a:lstStyle/>
                    <a:p>
                      <a:r>
                        <a:rPr sz="1125" b="1">
                          <a:solidFill>
                            <a:srgbClr val="FFFFFF"/>
                          </a:solidFill>
                          <a:latin typeface="Aptos"/>
                          <a:ea typeface="Aptos"/>
                          <a:cs typeface="Aptos"/>
                        </a:rPr>
                        <a:t>Trabajo de campo PMUS</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Uso en Puriy</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Límite</a:t>
                      </a:r>
                    </a:p>
                  </a:txBody>
                  <a:tcPr marL="91440" marR="91440" marT="45720" marB="45720" anchor="ctr">
                    <a:solidFill>
                      <a:srgbClr val="17202B"/>
                    </a:solidFill>
                  </a:tcPr>
                </a:tc>
              </a:tr>
              <a:tr h="514350">
                <a:tc>
                  <a:txBody>
                    <a:bodyPr wrap="square" lIns="76200" tIns="47625" rIns="66675" bIns="47625">
                      <a:normAutofit/>
                    </a:bodyPr>
                    <a:lstStyle/>
                    <a:p>
                      <a:r>
                        <a:rPr sz="1200" b="0">
                          <a:solidFill>
                            <a:srgbClr val="20252C"/>
                          </a:solidFill>
                          <a:latin typeface="Aptos"/>
                          <a:ea typeface="Aptos"/>
                          <a:cs typeface="Aptos"/>
                        </a:rPr>
                        <a:t>Más de 6.000 encuestas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Base para calibrar origen, destino y motivos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Datos individuales aún no incorporados</a:t>
                      </a:r>
                    </a:p>
                  </a:txBody>
                  <a:tcPr marL="91440" marR="91440" marT="45720" marB="45720" anchor="ctr">
                    <a:solidFill>
                      <a:srgbClr val="FFFFFF"/>
                    </a:solidFill>
                  </a:tcPr>
                </a:tc>
              </a:tr>
              <a:tr h="514350">
                <a:tc>
                  <a:txBody>
                    <a:bodyPr wrap="square" lIns="76200" tIns="47625" rIns="66675" bIns="47625">
                      <a:normAutofit/>
                    </a:bodyPr>
                    <a:lstStyle/>
                    <a:p>
                      <a:r>
                        <a:rPr sz="1200" b="0">
                          <a:solidFill>
                            <a:srgbClr val="20252C"/>
                          </a:solidFill>
                          <a:latin typeface="Aptos"/>
                          <a:ea typeface="Aptos"/>
                          <a:cs typeface="Aptos"/>
                        </a:rPr>
                        <a:t>14 corredores y más de 127 km</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Velocidades y tiempos por eje</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No son tiempos por cada línea urbana</a:t>
                      </a:r>
                    </a:p>
                  </a:txBody>
                  <a:tcPr marL="91440" marR="91440" marT="45720" marB="45720" anchor="ctr">
                    <a:solidFill>
                      <a:srgbClr val="F5F6F8"/>
                    </a:solidFill>
                  </a:tcPr>
                </a:tc>
              </a:tr>
              <a:tr h="514350">
                <a:tc>
                  <a:txBody>
                    <a:bodyPr wrap="square" lIns="76200" tIns="47625" rIns="66675" bIns="47625">
                      <a:normAutofit/>
                    </a:bodyPr>
                    <a:lstStyle/>
                    <a:p>
                      <a:r>
                        <a:rPr sz="1200" b="0">
                          <a:solidFill>
                            <a:srgbClr val="20252C"/>
                          </a:solidFill>
                          <a:latin typeface="Aptos"/>
                          <a:ea typeface="Aptos"/>
                          <a:cs typeface="Aptos"/>
                        </a:rPr>
                        <a:t>Aforos en 18 ejes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Contraste del volumen observado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No son aforos de todos los tramos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129712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B205B4-71A6-47F1-A2FB-9C579F4B03C4}"/>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Problema de investigación</a:t>
            </a:r>
          </a:p>
        </p:txBody>
      </p:sp>
      <p:sp>
        <p:nvSpPr>
          <p:cNvPr id="2" name="">
            <a:extLst xmlns:a="http://schemas.openxmlformats.org/drawingml/2006/main">
              <a:ext uri="{FF2B5EF4-FFF2-40B4-BE49-F238E27FC236}">
                <a16:creationId xmlns:a16="http://schemas.microsoft.com/office/drawing/2014/main" id="{7C2EDA69-3C2A-41FB-803E-97980C598092}"/>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ECA651E5-5686-4A54-A4B0-4E7501BD3A08}"/>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701AD754-C20F-45FD-A403-8C1E89992374}"/>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6CDA2BA5-7B41-421D-BAAC-4C3B31D55C7B}"/>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0460A591-5A8A-4EAA-A46B-279CEB64A2F4}"/>
              </a:ext>
            </a:extLst>
          </p:cNvPr>
          <p:cNvSpPr>
            <a:spLocks xmlns:a="http://schemas.openxmlformats.org/drawingml/2006/main" noGrp="1"/>
          </p:cNvSpPr>
          <p:nvPr/>
        </p:nvSpPr>
        <p:spPr>
          <a:xfrm xmlns:a="http://schemas.openxmlformats.org/drawingml/2006/main">
            <a:off x="571500" y="124777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A9373D"/>
                </a:solidFill>
                <a:latin typeface="Aptos"/>
                <a:ea typeface="Aptos"/>
                <a:cs typeface="Aptos"/>
              </a:defRPr>
            </a:pPr>
            <a:r>
              <a:rPr sz="1050" b="1">
                <a:solidFill>
                  <a:srgbClr val="A9373D"/>
                </a:solidFill>
                <a:latin typeface="Aptos"/>
                <a:ea typeface="Aptos"/>
                <a:cs typeface="Aptos"/>
              </a:rPr>
              <a:t>PROBLEMA GENERAL</a:t>
            </a:r>
          </a:p>
        </p:txBody>
      </p:sp>
      <p:sp>
        <p:nvSpPr>
          <p:cNvPr id="7" name="">
            <a:extLst xmlns:a="http://schemas.openxmlformats.org/drawingml/2006/main">
              <a:ext uri="{FF2B5EF4-FFF2-40B4-BE49-F238E27FC236}">
                <a16:creationId xmlns:a16="http://schemas.microsoft.com/office/drawing/2014/main" id="{49DE7D31-0AE3-4955-BB05-ECB8AE8EA05B}"/>
              </a:ext>
            </a:extLst>
          </p:cNvPr>
          <p:cNvSpPr>
            <a:spLocks xmlns:a="http://schemas.openxmlformats.org/drawingml/2006/main" noGrp="1"/>
          </p:cNvSpPr>
          <p:nvPr/>
        </p:nvSpPr>
        <p:spPr>
          <a:xfrm xmlns:a="http://schemas.openxmlformats.org/drawingml/2006/main">
            <a:off x="571500" y="158115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0252C"/>
                </a:solidFill>
                <a:latin typeface="Aptos"/>
                <a:ea typeface="Aptos"/>
                <a:cs typeface="Aptos"/>
              </a:defRPr>
            </a:pPr>
            <a:r>
              <a:rPr sz="2100" b="1">
                <a:solidFill>
                  <a:srgbClr val="20252C"/>
                </a:solidFill>
                <a:latin typeface="Aptos"/>
                <a:ea typeface="Aptos"/>
                <a:cs typeface="Aptos"/>
              </a:rPr>
              <a:t>La planificación del transporte urbano usa información fragmentada sobre población, rutas, flota, destinos y circulación.</a:t>
            </a:r>
          </a:p>
        </p:txBody>
      </p:sp>
      <p:sp>
        <p:nvSpPr>
          <p:cNvPr id="8" name="">
            <a:extLst xmlns:a="http://schemas.openxmlformats.org/drawingml/2006/main">
              <a:ext uri="{FF2B5EF4-FFF2-40B4-BE49-F238E27FC236}">
                <a16:creationId xmlns:a16="http://schemas.microsoft.com/office/drawing/2014/main" id="{9C162F56-22EB-4678-89AD-CCBF68E3FE28}"/>
              </a:ext>
            </a:extLst>
          </p:cNvPr>
          <p:cNvSpPr>
            <a:spLocks xmlns:a="http://schemas.openxmlformats.org/drawingml/2006/main" noGrp="1"/>
          </p:cNvSpPr>
          <p:nvPr/>
        </p:nvSpPr>
        <p:spPr>
          <a:xfrm xmlns:a="http://schemas.openxmlformats.org/drawingml/2006/main">
            <a:off x="571500" y="26193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86473"/>
                </a:solidFill>
                <a:latin typeface="Aptos"/>
                <a:ea typeface="Aptos"/>
                <a:cs typeface="Aptos"/>
              </a:defRPr>
            </a:pPr>
            <a:r>
              <a:rPr sz="1575" b="0">
                <a:solidFill>
                  <a:srgbClr val="586473"/>
                </a:solidFill>
                <a:latin typeface="Aptos"/>
                <a:ea typeface="Aptos"/>
                <a:cs typeface="Aptos"/>
              </a:rPr>
              <a:t>Esto dificulta reconocer sectores desatendidos y diseñar recorridos y frecuencias según los viajes reales.</a:t>
            </a:r>
          </a:p>
        </p:txBody>
      </p:sp>
      <p:sp>
        <p:nvSpPr>
          <p:cNvPr id="9" name="">
            <a:extLst xmlns:a="http://schemas.openxmlformats.org/drawingml/2006/main">
              <a:ext uri="{FF2B5EF4-FFF2-40B4-BE49-F238E27FC236}">
                <a16:creationId xmlns:a16="http://schemas.microsoft.com/office/drawing/2014/main" id="{02A729FB-A170-42DA-AC47-924A0CE0549E}"/>
              </a:ext>
            </a:extLst>
          </p:cNvPr>
          <p:cNvSpPr>
            <a:spLocks xmlns:a="http://schemas.openxmlformats.org/drawingml/2006/main" noGrp="1"/>
          </p:cNvSpPr>
          <p:nvPr/>
        </p:nvSpPr>
        <p:spPr>
          <a:xfrm xmlns:a="http://schemas.openxmlformats.org/drawingml/2006/main">
            <a:off x="571500" y="3457575"/>
            <a:ext cx="11010900"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graphicFrame>
        <p:nvGraphicFramePr>
          <p:cNvPr id="20" name=""/>
          <p:cNvGraphicFramePr/>
          <p:nvPr/>
        </p:nvGraphicFramePr>
        <p:xfrm>
          <a:off xmlns:a="http://schemas.openxmlformats.org/drawingml/2006/main" x="571500" y="3800475"/>
          <a:ext xmlns:a="http://schemas.openxmlformats.org/drawingml/2006/main" cx="11010900" cy="2305050"/>
        </p:xfrm>
        <a:graphic xmlns:a="http://schemas.openxmlformats.org/drawingml/2006/main">
          <a:graphicData uri="http://schemas.openxmlformats.org/drawingml/2006/table">
            <a:tbl>
              <a:tblPr/>
              <a:tblGrid>
                <a:gridCol w="3095625"/>
                <a:gridCol w="7915275"/>
              </a:tblGrid>
              <a:tr h="461010">
                <a:tc>
                  <a:txBody>
                    <a:bodyPr wrap="square" lIns="76200" tIns="47625" rIns="66675" bIns="47625">
                      <a:normAutofit/>
                    </a:bodyPr>
                    <a:lstStyle/>
                    <a:p>
                      <a:r>
                        <a:rPr sz="1200" b="1">
                          <a:solidFill>
                            <a:srgbClr val="FFFFFF"/>
                          </a:solidFill>
                          <a:latin typeface="Aptos"/>
                          <a:ea typeface="Aptos"/>
                          <a:cs typeface="Aptos"/>
                        </a:rPr>
                        <a:t>Problema específico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Pregunta que Puriy ayuda a estudiar</a:t>
                      </a:r>
                    </a:p>
                  </a:txBody>
                  <a:tcPr marL="91440" marR="91440" marT="45720" marB="45720" anchor="ctr">
                    <a:solidFill>
                      <a:srgbClr val="17202B"/>
                    </a:solidFill>
                  </a:tcPr>
                </a:tc>
              </a:tr>
              <a:tr h="461010">
                <a:tc>
                  <a:txBody>
                    <a:bodyPr wrap="square" lIns="76200" tIns="47625" rIns="66675" bIns="47625">
                      <a:normAutofit/>
                    </a:bodyPr>
                    <a:lstStyle/>
                    <a:p>
                      <a:r>
                        <a:rPr sz="1275" b="0">
                          <a:solidFill>
                            <a:srgbClr val="20252C"/>
                          </a:solidFill>
                          <a:latin typeface="Aptos"/>
                          <a:ea typeface="Aptos"/>
                          <a:cs typeface="Aptos"/>
                        </a:rPr>
                        <a:t>Datos dispersos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¿Qué fuente describe cada zona y qué tan confiable es?</a:t>
                      </a:r>
                    </a:p>
                  </a:txBody>
                  <a:tcPr marL="91440" marR="91440" marT="45720" marB="45720" anchor="ctr">
                    <a:solidFill>
                      <a:srgbClr val="FFFFFF"/>
                    </a:solidFill>
                  </a:tcPr>
                </a:tc>
              </a:tr>
              <a:tr h="461010">
                <a:tc>
                  <a:txBody>
                    <a:bodyPr wrap="square" lIns="76200" tIns="47625" rIns="66675" bIns="47625">
                      <a:normAutofit/>
                    </a:bodyPr>
                    <a:lstStyle/>
                    <a:p>
                      <a:r>
                        <a:rPr sz="1275" b="0">
                          <a:solidFill>
                            <a:srgbClr val="20252C"/>
                          </a:solidFill>
                          <a:latin typeface="Aptos"/>
                          <a:ea typeface="Aptos"/>
                          <a:cs typeface="Aptos"/>
                        </a:rPr>
                        <a:t>Cobertura desigual</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¿Qué barrios llegan a una parada y a un destino abierto?</a:t>
                      </a:r>
                    </a:p>
                  </a:txBody>
                  <a:tcPr marL="91440" marR="91440" marT="45720" marB="45720" anchor="ctr">
                    <a:solidFill>
                      <a:srgbClr val="F5F6F8"/>
                    </a:solidFill>
                  </a:tcPr>
                </a:tc>
              </a:tr>
              <a:tr h="461010">
                <a:tc>
                  <a:txBody>
                    <a:bodyPr wrap="square" lIns="76200" tIns="47625" rIns="66675" bIns="47625">
                      <a:normAutofit/>
                    </a:bodyPr>
                    <a:lstStyle/>
                    <a:p>
                      <a:r>
                        <a:rPr sz="1275" b="0">
                          <a:solidFill>
                            <a:srgbClr val="20252C"/>
                          </a:solidFill>
                          <a:latin typeface="Aptos"/>
                          <a:ea typeface="Aptos"/>
                          <a:cs typeface="Aptos"/>
                        </a:rPr>
                        <a:t>Servicio variable</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¿Cuántos vehículos exige un intervalo en cada franja?</a:t>
                      </a:r>
                    </a:p>
                  </a:txBody>
                  <a:tcPr marL="91440" marR="91440" marT="45720" marB="45720" anchor="ctr">
                    <a:solidFill>
                      <a:srgbClr val="FFFFFF"/>
                    </a:solidFill>
                  </a:tcPr>
                </a:tc>
              </a:tr>
              <a:tr h="461010">
                <a:tc>
                  <a:txBody>
                    <a:bodyPr wrap="square" lIns="76200" tIns="47625" rIns="66675" bIns="47625">
                      <a:normAutofit/>
                    </a:bodyPr>
                    <a:lstStyle/>
                    <a:p>
                      <a:r>
                        <a:rPr sz="1275" b="0">
                          <a:solidFill>
                            <a:srgbClr val="20252C"/>
                          </a:solidFill>
                          <a:latin typeface="Aptos"/>
                          <a:ea typeface="Aptos"/>
                          <a:cs typeface="Aptos"/>
                        </a:rPr>
                        <a:t>Decisiones sin comparación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¿Quién gana o pierde acceso con un cambio de recorrido?</a:t>
                      </a:r>
                    </a:p>
                  </a:txBody>
                  <a:tcPr marL="91440" marR="91440" marT="45720" marB="45720" anchor="ctr">
                    <a:solidFill>
                      <a:srgbClr val="F5F6F8"/>
                    </a:solidFill>
                  </a:tcPr>
                </a:tc>
              </a:tr>
            </a:tbl>
          </a:graphicData>
        </a:graphic>
      </p:graphicFrame>
    </p:spTree>
    <p:extLst>
      <p:ext uri="{BB962C8B-B14F-4D97-AF65-F5344CB8AC3E}">
        <p14:creationId xmlns:p14="http://schemas.microsoft.com/office/powerpoint/2010/main" val="17352930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1FD090-8E4E-45F7-92D0-893E9CBFDA6C}"/>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Fuentes que alimentan la propuesta</a:t>
            </a:r>
          </a:p>
        </p:txBody>
      </p:sp>
      <p:sp>
        <p:nvSpPr>
          <p:cNvPr id="2" name="">
            <a:extLst xmlns:a="http://schemas.openxmlformats.org/drawingml/2006/main">
              <a:ext uri="{FF2B5EF4-FFF2-40B4-BE49-F238E27FC236}">
                <a16:creationId xmlns:a16="http://schemas.microsoft.com/office/drawing/2014/main" id="{E88EC433-4057-4174-8A7F-2098BFB03C97}"/>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FD99E565-D96F-4176-B54A-3937A10B1463}"/>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6F76EFA5-4127-4539-916C-E55CD8CD5DE5}"/>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B9861881-041E-4175-B876-17621DB9F421}"/>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33500"/>
          <a:ext xmlns:a="http://schemas.openxmlformats.org/drawingml/2006/main" cx="11010900" cy="3819525"/>
        </p:xfrm>
        <a:graphic xmlns:a="http://schemas.openxmlformats.org/drawingml/2006/main">
          <a:graphicData uri="http://schemas.openxmlformats.org/drawingml/2006/table">
            <a:tbl>
              <a:tblPr/>
              <a:tblGrid>
                <a:gridCol w="2524125"/>
                <a:gridCol w="2905125"/>
                <a:gridCol w="2571750"/>
                <a:gridCol w="3009900"/>
              </a:tblGrid>
              <a:tr h="763905">
                <a:tc>
                  <a:txBody>
                    <a:bodyPr wrap="square" lIns="76200" tIns="47625" rIns="66675" bIns="47625">
                      <a:normAutofit/>
                    </a:bodyPr>
                    <a:lstStyle/>
                    <a:p>
                      <a:r>
                        <a:rPr sz="1125" b="1">
                          <a:solidFill>
                            <a:srgbClr val="FFFFFF"/>
                          </a:solidFill>
                          <a:latin typeface="Aptos"/>
                          <a:ea typeface="Aptos"/>
                          <a:cs typeface="Aptos"/>
                        </a:rPr>
                        <a:t>Fuente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Qué aporta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Cómo se usa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Qué falta verificar</a:t>
                      </a:r>
                    </a:p>
                  </a:txBody>
                  <a:tcPr marL="91440" marR="91440" marT="45720" marB="45720" anchor="ctr">
                    <a:solidFill>
                      <a:srgbClr val="17202B"/>
                    </a:solidFill>
                  </a:tcPr>
                </a:tc>
              </a:tr>
              <a:tr h="763905">
                <a:tc>
                  <a:txBody>
                    <a:bodyPr wrap="square" lIns="76200" tIns="47625" rIns="66675" bIns="47625">
                      <a:normAutofit/>
                    </a:bodyPr>
                    <a:lstStyle/>
                    <a:p>
                      <a:r>
                        <a:rPr sz="1200" b="0">
                          <a:solidFill>
                            <a:srgbClr val="20252C"/>
                          </a:solidFill>
                          <a:latin typeface="Aptos"/>
                          <a:ea typeface="Aptos"/>
                          <a:cs typeface="Aptos"/>
                        </a:rPr>
                        <a:t>INEI 2017 + cartografía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Habitantes, sexo, área y densidad por manzana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Cobertura residencial y equidad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Actualización y manzanas sin dato</a:t>
                      </a:r>
                    </a:p>
                  </a:txBody>
                  <a:tcPr marL="91440" marR="91440" marT="45720" marB="45720" anchor="ctr">
                    <a:solidFill>
                      <a:srgbClr val="FFFFFF"/>
                    </a:solidFill>
                  </a:tcPr>
                </a:tc>
              </a:tr>
              <a:tr h="763905">
                <a:tc>
                  <a:txBody>
                    <a:bodyPr wrap="square" lIns="76200" tIns="47625" rIns="66675" bIns="47625">
                      <a:normAutofit/>
                    </a:bodyPr>
                    <a:lstStyle/>
                    <a:p>
                      <a:r>
                        <a:rPr sz="1200" b="0">
                          <a:solidFill>
                            <a:srgbClr val="20252C"/>
                          </a:solidFill>
                          <a:latin typeface="Aptos"/>
                          <a:ea typeface="Aptos"/>
                          <a:cs typeface="Aptos"/>
                        </a:rPr>
                        <a:t>PDU 2026–2035, consulta pública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Líneas, flota, vías, atractores y ferias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Catálogo inicial y restricciones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Trazados, paradas y vigencia</a:t>
                      </a:r>
                    </a:p>
                  </a:txBody>
                  <a:tcPr marL="91440" marR="91440" marT="45720" marB="45720" anchor="ctr">
                    <a:solidFill>
                      <a:srgbClr val="F5F6F8"/>
                    </a:solidFill>
                  </a:tcPr>
                </a:tc>
              </a:tr>
              <a:tr h="763905">
                <a:tc>
                  <a:txBody>
                    <a:bodyPr wrap="square" lIns="76200" tIns="47625" rIns="66675" bIns="47625">
                      <a:normAutofit/>
                    </a:bodyPr>
                    <a:lstStyle/>
                    <a:p>
                      <a:r>
                        <a:rPr sz="1200" b="0">
                          <a:solidFill>
                            <a:srgbClr val="20252C"/>
                          </a:solidFill>
                          <a:latin typeface="Aptos"/>
                          <a:ea typeface="Aptos"/>
                          <a:cs typeface="Aptos"/>
                        </a:rPr>
                        <a:t>PMUS 2026, notas públicas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Viajes, modos y corredores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Contexto y priorización del piloto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Informe técnico y encuestas OD</a:t>
                      </a:r>
                    </a:p>
                  </a:txBody>
                  <a:tcPr marL="91440" marR="91440" marT="45720" marB="45720" anchor="ctr">
                    <a:solidFill>
                      <a:srgbClr val="FFFFFF"/>
                    </a:solidFill>
                  </a:tcPr>
                </a:tc>
              </a:tr>
              <a:tr h="763905">
                <a:tc>
                  <a:txBody>
                    <a:bodyPr wrap="square" lIns="76200" tIns="47625" rIns="66675" bIns="47625">
                      <a:normAutofit/>
                    </a:bodyPr>
                    <a:lstStyle/>
                    <a:p>
                      <a:r>
                        <a:rPr sz="1200" b="0">
                          <a:solidFill>
                            <a:srgbClr val="20252C"/>
                          </a:solidFill>
                          <a:latin typeface="Aptos"/>
                          <a:ea typeface="Aptos"/>
                          <a:cs typeface="Aptos"/>
                        </a:rPr>
                        <a:t>Operadores y campo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Intervalos, ascensos, ocupación y GPS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Calibración y validación</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Convenios, muestreo y calidad</a:t>
                      </a:r>
                    </a:p>
                  </a:txBody>
                  <a:tcPr marL="91440" marR="91440" marT="45720" marB="45720" anchor="ctr">
                    <a:solidFill>
                      <a:srgbClr val="F5F6F8"/>
                    </a:solidFill>
                  </a:tcPr>
                </a:tc>
              </a:tr>
            </a:tbl>
          </a:graphicData>
        </a:graphic>
      </p:graphicFrame>
      <p:sp>
        <p:nvSpPr>
          <p:cNvPr id="7" name="">
            <a:extLst xmlns:a="http://schemas.openxmlformats.org/drawingml/2006/main">
              <a:ext uri="{FF2B5EF4-FFF2-40B4-BE49-F238E27FC236}">
                <a16:creationId xmlns:a16="http://schemas.microsoft.com/office/drawing/2014/main" id="{62CCA313-CAAB-4F7C-AE3D-C1DEE7710859}"/>
              </a:ext>
            </a:extLst>
          </p:cNvPr>
          <p:cNvSpPr>
            <a:spLocks xmlns:a="http://schemas.openxmlformats.org/drawingml/2006/main" noGrp="1"/>
          </p:cNvSpPr>
          <p:nvPr/>
        </p:nvSpPr>
        <p:spPr>
          <a:xfrm xmlns:a="http://schemas.openxmlformats.org/drawingml/2006/main">
            <a:off x="571500" y="54959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Regla de uso: cada dato conserva fuente, fecha, ámbito geográfico y nivel de verificación.</a:t>
            </a:r>
          </a:p>
        </p:txBody>
      </p:sp>
    </p:spTree>
    <p:extLst>
      <p:ext uri="{BB962C8B-B14F-4D97-AF65-F5344CB8AC3E}">
        <p14:creationId xmlns:p14="http://schemas.microsoft.com/office/powerpoint/2010/main" val="20479487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F8C1C9-E9D9-48D1-94C2-D6DD97A5BAB0}"/>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Población por manzana: dónde viven las personas</a:t>
            </a:r>
          </a:p>
        </p:txBody>
      </p:sp>
      <p:sp>
        <p:nvSpPr>
          <p:cNvPr id="2" name="">
            <a:extLst xmlns:a="http://schemas.openxmlformats.org/drawingml/2006/main">
              <a:ext uri="{FF2B5EF4-FFF2-40B4-BE49-F238E27FC236}">
                <a16:creationId xmlns:a16="http://schemas.microsoft.com/office/drawing/2014/main" id="{D85D2661-B293-48E5-A127-14DE5642E7F0}"/>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80FF13F8-68C7-4A07-B44F-370A896239EF}"/>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889CD803-573B-401D-8901-6B876C1517D7}"/>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31917E1A-445A-4F38-9307-0D049267455E}"/>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70fcb3167424804"/>
          <a:srcRect xmlns:a="http://schemas.openxmlformats.org/drawingml/2006/main" l="0" t="9034" r="0" b="9034"/>
          <a:stretch xmlns:a="http://schemas.openxmlformats.org/drawingml/2006/main">
            <a:fillRect l="0" t="0" r="0" b="0"/>
          </a:stretch>
        </p:blipFill>
        <p:spPr>
          <a:xfrm xmlns:a="http://schemas.openxmlformats.org/drawingml/2006/main">
            <a:off x="571500" y="1352550"/>
            <a:ext cx="6534150" cy="41243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26F5E62-7653-4B16-9D12-54D4EEBAE0BD}"/>
              </a:ext>
            </a:extLst>
          </p:cNvPr>
          <p:cNvSpPr>
            <a:spLocks xmlns:a="http://schemas.openxmlformats.org/drawingml/2006/main" noGrp="1"/>
          </p:cNvSpPr>
          <p:nvPr/>
        </p:nvSpPr>
        <p:spPr>
          <a:xfrm xmlns:a="http://schemas.openxmlformats.org/drawingml/2006/main">
            <a:off x="7429500" y="1381125"/>
            <a:ext cx="3638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275CBA"/>
                </a:solidFill>
                <a:latin typeface="Aptos"/>
                <a:ea typeface="Aptos"/>
                <a:cs typeface="Aptos"/>
              </a:defRPr>
            </a:pPr>
            <a:r>
              <a:rPr sz="3150" b="1">
                <a:solidFill>
                  <a:srgbClr val="275CBA"/>
                </a:solidFill>
                <a:latin typeface="Aptos"/>
                <a:ea typeface="Aptos"/>
                <a:cs typeface="Aptos"/>
              </a:rPr>
              <a:t>5.204</a:t>
            </a:r>
          </a:p>
        </p:txBody>
      </p:sp>
      <p:sp>
        <p:nvSpPr>
          <p:cNvPr id="8" name="">
            <a:extLst xmlns:a="http://schemas.openxmlformats.org/drawingml/2006/main">
              <a:ext uri="{FF2B5EF4-FFF2-40B4-BE49-F238E27FC236}">
                <a16:creationId xmlns:a16="http://schemas.microsoft.com/office/drawing/2014/main" id="{A2D3FD2A-698A-4E17-B2B1-9BDFF9588AFC}"/>
              </a:ext>
            </a:extLst>
          </p:cNvPr>
          <p:cNvSpPr>
            <a:spLocks xmlns:a="http://schemas.openxmlformats.org/drawingml/2006/main" noGrp="1"/>
          </p:cNvSpPr>
          <p:nvPr/>
        </p:nvSpPr>
        <p:spPr>
          <a:xfrm xmlns:a="http://schemas.openxmlformats.org/drawingml/2006/main">
            <a:off x="7429500" y="18573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0252C"/>
                </a:solidFill>
                <a:latin typeface="Aptos"/>
                <a:ea typeface="Aptos"/>
                <a:cs typeface="Aptos"/>
              </a:defRPr>
            </a:pPr>
            <a:r>
              <a:rPr sz="1425" b="0">
                <a:solidFill>
                  <a:srgbClr val="20252C"/>
                </a:solidFill>
                <a:latin typeface="Aptos"/>
                <a:ea typeface="Aptos"/>
                <a:cs typeface="Aptos"/>
              </a:rPr>
              <a:t>manzanas en el filtro Juliaca</a:t>
            </a:r>
          </a:p>
        </p:txBody>
      </p:sp>
      <p:sp>
        <p:nvSpPr>
          <p:cNvPr id="9" name="">
            <a:extLst xmlns:a="http://schemas.openxmlformats.org/drawingml/2006/main">
              <a:ext uri="{FF2B5EF4-FFF2-40B4-BE49-F238E27FC236}">
                <a16:creationId xmlns:a16="http://schemas.microsoft.com/office/drawing/2014/main" id="{C0E86E3C-99BB-4542-AC5C-389B1931B6AF}"/>
              </a:ext>
            </a:extLst>
          </p:cNvPr>
          <p:cNvSpPr>
            <a:spLocks xmlns:a="http://schemas.openxmlformats.org/drawingml/2006/main" noGrp="1"/>
          </p:cNvSpPr>
          <p:nvPr/>
        </p:nvSpPr>
        <p:spPr>
          <a:xfrm xmlns:a="http://schemas.openxmlformats.org/drawingml/2006/main">
            <a:off x="7429500" y="247650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275CBA"/>
                </a:solidFill>
                <a:latin typeface="Aptos"/>
                <a:ea typeface="Aptos"/>
                <a:cs typeface="Aptos"/>
              </a:defRPr>
            </a:pPr>
            <a:r>
              <a:rPr sz="3150" b="1">
                <a:solidFill>
                  <a:srgbClr val="275CBA"/>
                </a:solidFill>
                <a:latin typeface="Aptos"/>
                <a:ea typeface="Aptos"/>
                <a:cs typeface="Aptos"/>
              </a:rPr>
              <a:t>194.694</a:t>
            </a:r>
          </a:p>
        </p:txBody>
      </p:sp>
      <p:sp>
        <p:nvSpPr>
          <p:cNvPr id="10" name="">
            <a:extLst xmlns:a="http://schemas.openxmlformats.org/drawingml/2006/main">
              <a:ext uri="{FF2B5EF4-FFF2-40B4-BE49-F238E27FC236}">
                <a16:creationId xmlns:a16="http://schemas.microsoft.com/office/drawing/2014/main" id="{7D7B25D9-EC51-463B-B7E6-467BE685F600}"/>
              </a:ext>
            </a:extLst>
          </p:cNvPr>
          <p:cNvSpPr>
            <a:spLocks xmlns:a="http://schemas.openxmlformats.org/drawingml/2006/main" noGrp="1"/>
          </p:cNvSpPr>
          <p:nvPr/>
        </p:nvSpPr>
        <p:spPr>
          <a:xfrm xmlns:a="http://schemas.openxmlformats.org/drawingml/2006/main">
            <a:off x="7429500" y="29527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0252C"/>
                </a:solidFill>
                <a:latin typeface="Aptos"/>
                <a:ea typeface="Aptos"/>
                <a:cs typeface="Aptos"/>
              </a:defRPr>
            </a:pPr>
            <a:r>
              <a:rPr sz="1425" b="0">
                <a:solidFill>
                  <a:srgbClr val="20252C"/>
                </a:solidFill>
                <a:latin typeface="Aptos"/>
                <a:ea typeface="Aptos"/>
                <a:cs typeface="Aptos"/>
              </a:rPr>
              <a:t>habitantes asociados al Censo 2017</a:t>
            </a:r>
          </a:p>
        </p:txBody>
      </p:sp>
      <p:sp>
        <p:nvSpPr>
          <p:cNvPr id="11" name="">
            <a:extLst xmlns:a="http://schemas.openxmlformats.org/drawingml/2006/main">
              <a:ext uri="{FF2B5EF4-FFF2-40B4-BE49-F238E27FC236}">
                <a16:creationId xmlns:a16="http://schemas.microsoft.com/office/drawing/2014/main" id="{5723E130-142C-4FE4-B2D7-3F5E0FC29755}"/>
              </a:ext>
            </a:extLst>
          </p:cNvPr>
          <p:cNvSpPr>
            <a:spLocks xmlns:a="http://schemas.openxmlformats.org/drawingml/2006/main" noGrp="1"/>
          </p:cNvSpPr>
          <p:nvPr/>
        </p:nvSpPr>
        <p:spPr>
          <a:xfrm xmlns:a="http://schemas.openxmlformats.org/drawingml/2006/main">
            <a:off x="7429500" y="3686175"/>
            <a:ext cx="37909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La densidad permite ubicar áreas residenciales, pero no dice cuántas personas viajarán ni a qué hora.</a:t>
            </a:r>
          </a:p>
        </p:txBody>
      </p:sp>
      <p:sp>
        <p:nvSpPr>
          <p:cNvPr id="12" name="">
            <a:extLst xmlns:a="http://schemas.openxmlformats.org/drawingml/2006/main">
              <a:ext uri="{FF2B5EF4-FFF2-40B4-BE49-F238E27FC236}">
                <a16:creationId xmlns:a16="http://schemas.microsoft.com/office/drawing/2014/main" id="{198F75AE-CF14-428D-9296-23E2E0F6119F}"/>
              </a:ext>
            </a:extLst>
          </p:cNvPr>
          <p:cNvSpPr>
            <a:spLocks xmlns:a="http://schemas.openxmlformats.org/drawingml/2006/main" noGrp="1"/>
          </p:cNvSpPr>
          <p:nvPr/>
        </p:nvSpPr>
        <p:spPr>
          <a:xfrm xmlns:a="http://schemas.openxmlformats.org/drawingml/2006/main">
            <a:off x="571500" y="5638800"/>
            <a:ext cx="6553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86473"/>
                </a:solidFill>
                <a:latin typeface="Aptos"/>
                <a:ea typeface="Aptos"/>
                <a:cs typeface="Aptos"/>
              </a:defRPr>
            </a:pPr>
            <a:r>
              <a:rPr sz="1050" b="0">
                <a:solidFill>
                  <a:srgbClr val="586473"/>
                </a:solidFill>
                <a:latin typeface="Aptos"/>
                <a:ea typeface="Aptos"/>
                <a:cs typeface="Aptos"/>
              </a:rPr>
              <a:t>Captura del módulo de manzanas proporcionada por el equipo.</a:t>
            </a:r>
          </a:p>
        </p:txBody>
      </p:sp>
      <p:sp>
        <p:nvSpPr>
          <p:cNvPr id="13" name="">
            <a:extLst xmlns:a="http://schemas.openxmlformats.org/drawingml/2006/main">
              <a:ext uri="{FF2B5EF4-FFF2-40B4-BE49-F238E27FC236}">
                <a16:creationId xmlns:a16="http://schemas.microsoft.com/office/drawing/2014/main" id="{BD22B532-C592-4773-9904-E62BD1158572}"/>
              </a:ext>
            </a:extLst>
          </p:cNvPr>
          <p:cNvSpPr>
            <a:spLocks xmlns:a="http://schemas.openxmlformats.org/drawingml/2006/main" noGrp="1"/>
          </p:cNvSpPr>
          <p:nvPr/>
        </p:nvSpPr>
        <p:spPr>
          <a:xfrm xmlns:a="http://schemas.openxmlformats.org/drawingml/2006/main">
            <a:off x="571500" y="60293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9373D"/>
                </a:solidFill>
                <a:latin typeface="Aptos"/>
                <a:ea typeface="Aptos"/>
                <a:cs typeface="Aptos"/>
              </a:defRPr>
            </a:pPr>
            <a:r>
              <a:rPr sz="1350" b="1">
                <a:solidFill>
                  <a:srgbClr val="A9373D"/>
                </a:solidFill>
                <a:latin typeface="Aptos"/>
                <a:ea typeface="Aptos"/>
                <a:cs typeface="Aptos"/>
              </a:rPr>
              <a:t>En Juliaca y San Miguel hay 3.728 manzanas sin población asociada. Se reportan como dato desconocido.</a:t>
            </a:r>
          </a:p>
        </p:txBody>
      </p:sp>
    </p:spTree>
    <p:extLst>
      <p:ext uri="{BB962C8B-B14F-4D97-AF65-F5344CB8AC3E}">
        <p14:creationId xmlns:p14="http://schemas.microsoft.com/office/powerpoint/2010/main" val="4280931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FF7C257-8830-4266-88E0-7DE755D9E8FF}"/>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Oferta de transporte documentada en el PDU</a:t>
            </a:r>
          </a:p>
        </p:txBody>
      </p:sp>
      <p:sp>
        <p:nvSpPr>
          <p:cNvPr id="2" name="">
            <a:extLst xmlns:a="http://schemas.openxmlformats.org/drawingml/2006/main">
              <a:ext uri="{FF2B5EF4-FFF2-40B4-BE49-F238E27FC236}">
                <a16:creationId xmlns:a16="http://schemas.microsoft.com/office/drawing/2014/main" id="{0527657B-42F6-4A61-8DA8-69E42EFADFAA}"/>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D1E366B7-6E9F-4D23-98C7-821FE9A2D202}"/>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B8E1385C-BD30-4AF5-915D-693C77312186}"/>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EA3EB9C7-0F55-4F03-9426-9D239F82C218}"/>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D693BEB6-9721-4B77-9AB4-5C42D638A729}"/>
              </a:ext>
            </a:extLst>
          </p:cNvPr>
          <p:cNvSpPr>
            <a:spLocks xmlns:a="http://schemas.openxmlformats.org/drawingml/2006/main" noGrp="1"/>
          </p:cNvSpPr>
          <p:nvPr/>
        </p:nvSpPr>
        <p:spPr>
          <a:xfrm xmlns:a="http://schemas.openxmlformats.org/drawingml/2006/main">
            <a:off x="57150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40</a:t>
            </a:r>
          </a:p>
        </p:txBody>
      </p:sp>
      <p:sp>
        <p:nvSpPr>
          <p:cNvPr id="7" name="">
            <a:extLst xmlns:a="http://schemas.openxmlformats.org/drawingml/2006/main">
              <a:ext uri="{FF2B5EF4-FFF2-40B4-BE49-F238E27FC236}">
                <a16:creationId xmlns:a16="http://schemas.microsoft.com/office/drawing/2014/main" id="{BE03D355-7D3B-4A0E-BB8B-0EC1D2DBBE85}"/>
              </a:ext>
            </a:extLst>
          </p:cNvPr>
          <p:cNvSpPr>
            <a:spLocks xmlns:a="http://schemas.openxmlformats.org/drawingml/2006/main" noGrp="1"/>
          </p:cNvSpPr>
          <p:nvPr/>
        </p:nvSpPr>
        <p:spPr>
          <a:xfrm xmlns:a="http://schemas.openxmlformats.org/drawingml/2006/main">
            <a:off x="57150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líneas urbanas listadas</a:t>
            </a:r>
          </a:p>
        </p:txBody>
      </p:sp>
      <p:sp>
        <p:nvSpPr>
          <p:cNvPr id="8" name="">
            <a:extLst xmlns:a="http://schemas.openxmlformats.org/drawingml/2006/main">
              <a:ext uri="{FF2B5EF4-FFF2-40B4-BE49-F238E27FC236}">
                <a16:creationId xmlns:a16="http://schemas.microsoft.com/office/drawing/2014/main" id="{101EDF80-B76C-43A0-8D4B-6ACC9654B428}"/>
              </a:ext>
            </a:extLst>
          </p:cNvPr>
          <p:cNvSpPr>
            <a:spLocks xmlns:a="http://schemas.openxmlformats.org/drawingml/2006/main" noGrp="1"/>
          </p:cNvSpPr>
          <p:nvPr/>
        </p:nvSpPr>
        <p:spPr>
          <a:xfrm xmlns:a="http://schemas.openxmlformats.org/drawingml/2006/main">
            <a:off x="3171825" y="1381125"/>
            <a:ext cx="19050" cy="11334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D3A0F7-8C49-492E-BA57-4EB5CA03C0C1}"/>
              </a:ext>
            </a:extLst>
          </p:cNvPr>
          <p:cNvSpPr>
            <a:spLocks xmlns:a="http://schemas.openxmlformats.org/drawingml/2006/main" noGrp="1"/>
          </p:cNvSpPr>
          <p:nvPr/>
        </p:nvSpPr>
        <p:spPr>
          <a:xfrm xmlns:a="http://schemas.openxmlformats.org/drawingml/2006/main">
            <a:off x="333375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9373D"/>
                </a:solidFill>
                <a:latin typeface="Aptos"/>
                <a:ea typeface="Aptos"/>
                <a:cs typeface="Aptos"/>
              </a:defRPr>
            </a:pPr>
            <a:r>
              <a:rPr sz="2250" b="1">
                <a:solidFill>
                  <a:srgbClr val="A9373D"/>
                </a:solidFill>
                <a:latin typeface="Aptos"/>
                <a:ea typeface="Aptos"/>
                <a:cs typeface="Aptos"/>
              </a:rPr>
              <a:t>1.963 / 1.969</a:t>
            </a:r>
          </a:p>
        </p:txBody>
      </p:sp>
      <p:sp>
        <p:nvSpPr>
          <p:cNvPr id="10" name="">
            <a:extLst xmlns:a="http://schemas.openxmlformats.org/drawingml/2006/main">
              <a:ext uri="{FF2B5EF4-FFF2-40B4-BE49-F238E27FC236}">
                <a16:creationId xmlns:a16="http://schemas.microsoft.com/office/drawing/2014/main" id="{FD6E6CD9-FBA6-48F3-A54F-C28A2F70F42B}"/>
              </a:ext>
            </a:extLst>
          </p:cNvPr>
          <p:cNvSpPr>
            <a:spLocks xmlns:a="http://schemas.openxmlformats.org/drawingml/2006/main" noGrp="1"/>
          </p:cNvSpPr>
          <p:nvPr/>
        </p:nvSpPr>
        <p:spPr>
          <a:xfrm xmlns:a="http://schemas.openxmlformats.org/drawingml/2006/main">
            <a:off x="333375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vehículos, total impreso / suma de filas</a:t>
            </a:r>
          </a:p>
        </p:txBody>
      </p:sp>
      <p:sp>
        <p:nvSpPr>
          <p:cNvPr id="11" name="">
            <a:extLst xmlns:a="http://schemas.openxmlformats.org/drawingml/2006/main">
              <a:ext uri="{FF2B5EF4-FFF2-40B4-BE49-F238E27FC236}">
                <a16:creationId xmlns:a16="http://schemas.microsoft.com/office/drawing/2014/main" id="{2BAC82AB-D060-41F3-9113-309B5A0DEEF3}"/>
              </a:ext>
            </a:extLst>
          </p:cNvPr>
          <p:cNvSpPr>
            <a:spLocks xmlns:a="http://schemas.openxmlformats.org/drawingml/2006/main" noGrp="1"/>
          </p:cNvSpPr>
          <p:nvPr/>
        </p:nvSpPr>
        <p:spPr>
          <a:xfrm xmlns:a="http://schemas.openxmlformats.org/drawingml/2006/main">
            <a:off x="5934075" y="1381125"/>
            <a:ext cx="19050" cy="11334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118A5B2-EBD3-44F7-BB5E-EAABA8D601FD}"/>
              </a:ext>
            </a:extLst>
          </p:cNvPr>
          <p:cNvSpPr>
            <a:spLocks xmlns:a="http://schemas.openxmlformats.org/drawingml/2006/main" noGrp="1"/>
          </p:cNvSpPr>
          <p:nvPr/>
        </p:nvSpPr>
        <p:spPr>
          <a:xfrm xmlns:a="http://schemas.openxmlformats.org/drawingml/2006/main">
            <a:off x="609600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6.076</a:t>
            </a:r>
          </a:p>
        </p:txBody>
      </p:sp>
      <p:sp>
        <p:nvSpPr>
          <p:cNvPr id="13" name="">
            <a:extLst xmlns:a="http://schemas.openxmlformats.org/drawingml/2006/main">
              <a:ext uri="{FF2B5EF4-FFF2-40B4-BE49-F238E27FC236}">
                <a16:creationId xmlns:a16="http://schemas.microsoft.com/office/drawing/2014/main" id="{03F41DA8-54BC-4C4F-86CF-21C592D664F2}"/>
              </a:ext>
            </a:extLst>
          </p:cNvPr>
          <p:cNvSpPr>
            <a:spLocks xmlns:a="http://schemas.openxmlformats.org/drawingml/2006/main" noGrp="1"/>
          </p:cNvSpPr>
          <p:nvPr/>
        </p:nvSpPr>
        <p:spPr>
          <a:xfrm xmlns:a="http://schemas.openxmlformats.org/drawingml/2006/main">
            <a:off x="609600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mototaxis formales reportados</a:t>
            </a:r>
          </a:p>
        </p:txBody>
      </p:sp>
      <p:sp>
        <p:nvSpPr>
          <p:cNvPr id="14" name="">
            <a:extLst xmlns:a="http://schemas.openxmlformats.org/drawingml/2006/main">
              <a:ext uri="{FF2B5EF4-FFF2-40B4-BE49-F238E27FC236}">
                <a16:creationId xmlns:a16="http://schemas.microsoft.com/office/drawing/2014/main" id="{3FFE6CB7-3773-4A40-9784-27DA3F7B9C7B}"/>
              </a:ext>
            </a:extLst>
          </p:cNvPr>
          <p:cNvSpPr>
            <a:spLocks xmlns:a="http://schemas.openxmlformats.org/drawingml/2006/main" noGrp="1"/>
          </p:cNvSpPr>
          <p:nvPr/>
        </p:nvSpPr>
        <p:spPr>
          <a:xfrm xmlns:a="http://schemas.openxmlformats.org/drawingml/2006/main">
            <a:off x="8696325" y="1381125"/>
            <a:ext cx="19050" cy="11334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70BD92-28CB-4A66-A9FE-524DE4A0D126}"/>
              </a:ext>
            </a:extLst>
          </p:cNvPr>
          <p:cNvSpPr>
            <a:spLocks xmlns:a="http://schemas.openxmlformats.org/drawingml/2006/main" noGrp="1"/>
          </p:cNvSpPr>
          <p:nvPr/>
        </p:nvSpPr>
        <p:spPr>
          <a:xfrm xmlns:a="http://schemas.openxmlformats.org/drawingml/2006/main">
            <a:off x="885825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269,10 km</a:t>
            </a:r>
          </a:p>
        </p:txBody>
      </p:sp>
      <p:sp>
        <p:nvSpPr>
          <p:cNvPr id="16" name="">
            <a:extLst xmlns:a="http://schemas.openxmlformats.org/drawingml/2006/main">
              <a:ext uri="{FF2B5EF4-FFF2-40B4-BE49-F238E27FC236}">
                <a16:creationId xmlns:a16="http://schemas.microsoft.com/office/drawing/2014/main" id="{2E707E96-447A-4A1B-9B8A-0DFB200EE66F}"/>
              </a:ext>
            </a:extLst>
          </p:cNvPr>
          <p:cNvSpPr>
            <a:spLocks xmlns:a="http://schemas.openxmlformats.org/drawingml/2006/main" noGrp="1"/>
          </p:cNvSpPr>
          <p:nvPr/>
        </p:nvSpPr>
        <p:spPr>
          <a:xfrm xmlns:a="http://schemas.openxmlformats.org/drawingml/2006/main">
            <a:off x="885825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vías clasificadas, incluso proyectadas</a:t>
            </a:r>
          </a:p>
        </p:txBody>
      </p:sp>
      <p:graphicFrame>
        <p:nvGraphicFramePr>
          <p:cNvPr id="34" name=""/>
          <p:cNvGraphicFramePr/>
          <p:nvPr/>
        </p:nvGraphicFramePr>
        <p:xfrm>
          <a:off xmlns:a="http://schemas.openxmlformats.org/drawingml/2006/main" x="571500" y="3190875"/>
          <a:ext xmlns:a="http://schemas.openxmlformats.org/drawingml/2006/main" cx="11010900" cy="2476500"/>
        </p:xfrm>
        <a:graphic xmlns:a="http://schemas.openxmlformats.org/drawingml/2006/main">
          <a:graphicData uri="http://schemas.openxmlformats.org/drawingml/2006/table">
            <a:tbl>
              <a:tblPr/>
              <a:tblGrid>
                <a:gridCol w="3009900"/>
                <a:gridCol w="3905250"/>
                <a:gridCol w="4095750"/>
              </a:tblGrid>
              <a:tr h="619125">
                <a:tc>
                  <a:txBody>
                    <a:bodyPr wrap="square" lIns="76200" tIns="47625" rIns="66675" bIns="47625">
                      <a:normAutofit/>
                    </a:bodyPr>
                    <a:lstStyle/>
                    <a:p>
                      <a:r>
                        <a:rPr sz="1200" b="1">
                          <a:solidFill>
                            <a:srgbClr val="FFFFFF"/>
                          </a:solidFill>
                          <a:latin typeface="Aptos"/>
                          <a:ea typeface="Aptos"/>
                          <a:cs typeface="Aptos"/>
                        </a:rPr>
                        <a:t>Dato del PDU</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Aplicación práctica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Precaución</a:t>
                      </a:r>
                    </a:p>
                  </a:txBody>
                  <a:tcPr marL="91440" marR="91440" marT="45720" marB="45720" anchor="ctr">
                    <a:solidFill>
                      <a:srgbClr val="17202B"/>
                    </a:solidFill>
                  </a:tcPr>
                </a:tc>
              </a:tr>
              <a:tr h="619125">
                <a:tc>
                  <a:txBody>
                    <a:bodyPr wrap="square" lIns="76200" tIns="47625" rIns="66675" bIns="47625">
                      <a:normAutofit/>
                    </a:bodyPr>
                    <a:lstStyle/>
                    <a:p>
                      <a:r>
                        <a:rPr sz="1275" b="0">
                          <a:solidFill>
                            <a:srgbClr val="20252C"/>
                          </a:solidFill>
                          <a:latin typeface="Aptos"/>
                          <a:ea typeface="Aptos"/>
                          <a:cs typeface="Aptos"/>
                        </a:rPr>
                        <a:t>Flota de combis y micros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Probar frecuencia y capacidad por línea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Vehículos registrados no son flota activa por turno</a:t>
                      </a:r>
                    </a:p>
                  </a:txBody>
                  <a:tcPr marL="91440" marR="91440" marT="45720" marB="45720" anchor="ctr">
                    <a:solidFill>
                      <a:srgbClr val="FFFFFF"/>
                    </a:solidFill>
                  </a:tcPr>
                </a:tc>
              </a:tr>
              <a:tr h="619125">
                <a:tc>
                  <a:txBody>
                    <a:bodyPr wrap="square" lIns="76200" tIns="47625" rIns="66675" bIns="47625">
                      <a:normAutofit/>
                    </a:bodyPr>
                    <a:lstStyle/>
                    <a:p>
                      <a:r>
                        <a:rPr sz="1275" b="0">
                          <a:solidFill>
                            <a:srgbClr val="20252C"/>
                          </a:solidFill>
                          <a:latin typeface="Aptos"/>
                          <a:ea typeface="Aptos"/>
                          <a:cs typeface="Aptos"/>
                        </a:rPr>
                        <a:t>Red vial y rutas documentales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Definir corredores y calles para validar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No equivale a geometrías autorizadas navegables</a:t>
                      </a:r>
                    </a:p>
                  </a:txBody>
                  <a:tcPr marL="91440" marR="91440" marT="45720" marB="45720" anchor="ctr">
                    <a:solidFill>
                      <a:srgbClr val="F5F6F8"/>
                    </a:solidFill>
                  </a:tcPr>
                </a:tc>
              </a:tr>
              <a:tr h="619125">
                <a:tc>
                  <a:txBody>
                    <a:bodyPr wrap="square" lIns="76200" tIns="47625" rIns="66675" bIns="47625">
                      <a:normAutofit/>
                    </a:bodyPr>
                    <a:lstStyle/>
                    <a:p>
                      <a:r>
                        <a:rPr sz="1275" b="0">
                          <a:solidFill>
                            <a:srgbClr val="20252C"/>
                          </a:solidFill>
                          <a:latin typeface="Aptos"/>
                          <a:ea typeface="Aptos"/>
                          <a:cs typeface="Aptos"/>
                        </a:rPr>
                        <a:t>Mototaxis y otros modos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Comprender presión sobre vías céntricas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No representan unidades simultáneamente circulando</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965948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88540E-9A6A-4DA8-9D09-C1A37371DC20}"/>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Los destinos completan el mapa de viajes</a:t>
            </a:r>
          </a:p>
        </p:txBody>
      </p:sp>
      <p:sp>
        <p:nvSpPr>
          <p:cNvPr id="2" name="">
            <a:extLst xmlns:a="http://schemas.openxmlformats.org/drawingml/2006/main">
              <a:ext uri="{FF2B5EF4-FFF2-40B4-BE49-F238E27FC236}">
                <a16:creationId xmlns:a16="http://schemas.microsoft.com/office/drawing/2014/main" id="{EAC41840-031C-4B92-A805-E3A43C552D7C}"/>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6C7E2D01-6133-445C-AE1D-F952502B9A9C}"/>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A5B5EBE2-1F34-4C22-8556-5E5795D43B44}"/>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A389334C-49E8-43ED-8DC0-362007262FAD}"/>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A2E280EC-FE3E-4051-96F4-73A3FCCC4A72}"/>
              </a:ext>
            </a:extLst>
          </p:cNvPr>
          <p:cNvSpPr>
            <a:spLocks xmlns:a="http://schemas.openxmlformats.org/drawingml/2006/main" noGrp="1"/>
          </p:cNvSpPr>
          <p:nvPr/>
        </p:nvSpPr>
        <p:spPr>
          <a:xfrm xmlns:a="http://schemas.openxmlformats.org/drawingml/2006/main">
            <a:off x="571500" y="1257300"/>
            <a:ext cx="10810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0252C"/>
                </a:solidFill>
                <a:latin typeface="Aptos"/>
                <a:ea typeface="Aptos"/>
                <a:cs typeface="Aptos"/>
              </a:defRPr>
            </a:pPr>
            <a:r>
              <a:rPr sz="1875" b="1">
                <a:solidFill>
                  <a:srgbClr val="20252C"/>
                </a:solidFill>
                <a:latin typeface="Aptos"/>
                <a:ea typeface="Aptos"/>
                <a:cs typeface="Aptos"/>
              </a:rPr>
              <a:t>Una ruta útil debe conectar vivienda con actividades. La población residencial por sí sola no ubica el destino del viaje.</a:t>
            </a:r>
          </a:p>
        </p:txBody>
      </p:sp>
      <p:graphicFrame>
        <p:nvGraphicFramePr>
          <p:cNvPr id="15" name=""/>
          <p:cNvGraphicFramePr/>
          <p:nvPr/>
        </p:nvGraphicFramePr>
        <p:xfrm>
          <a:off xmlns:a="http://schemas.openxmlformats.org/drawingml/2006/main" x="571500" y="2266950"/>
          <a:ext xmlns:a="http://schemas.openxmlformats.org/drawingml/2006/main" cx="11010900" cy="2838450"/>
        </p:xfrm>
        <a:graphic xmlns:a="http://schemas.openxmlformats.org/drawingml/2006/main">
          <a:graphicData uri="http://schemas.openxmlformats.org/drawingml/2006/table">
            <a:tbl>
              <a:tblPr/>
              <a:tblGrid>
                <a:gridCol w="2247900"/>
                <a:gridCol w="3714750"/>
                <a:gridCol w="5048250"/>
              </a:tblGrid>
              <a:tr h="567690">
                <a:tc>
                  <a:txBody>
                    <a:bodyPr wrap="square" lIns="76200" tIns="47625" rIns="66675" bIns="47625">
                      <a:normAutofit/>
                    </a:bodyPr>
                    <a:lstStyle/>
                    <a:p>
                      <a:r>
                        <a:rPr sz="1125" b="1">
                          <a:solidFill>
                            <a:srgbClr val="FFFFFF"/>
                          </a:solidFill>
                          <a:latin typeface="Aptos"/>
                          <a:ea typeface="Aptos"/>
                          <a:cs typeface="Aptos"/>
                        </a:rPr>
                        <a:t>Tipo de destino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Ejemplos a validar</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Dato necesario para el cálculo</a:t>
                      </a:r>
                    </a:p>
                  </a:txBody>
                  <a:tcPr marL="91440" marR="91440" marT="45720" marB="45720" anchor="ctr">
                    <a:solidFill>
                      <a:srgbClr val="17202B"/>
                    </a:solidFill>
                  </a:tcPr>
                </a:tc>
              </a:tr>
              <a:tr h="567690">
                <a:tc>
                  <a:txBody>
                    <a:bodyPr wrap="square" lIns="76200" tIns="47625" rIns="66675" bIns="47625">
                      <a:normAutofit/>
                    </a:bodyPr>
                    <a:lstStyle/>
                    <a:p>
                      <a:r>
                        <a:rPr sz="1200" b="0">
                          <a:solidFill>
                            <a:srgbClr val="20252C"/>
                          </a:solidFill>
                          <a:latin typeface="Aptos"/>
                          <a:ea typeface="Aptos"/>
                          <a:cs typeface="Aptos"/>
                        </a:rPr>
                        <a:t>Mercados y comercio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San José, Las Mercedes, Túpac Amaru, Real Plaza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Acceso, horario, días y afluencia observada</a:t>
                      </a:r>
                    </a:p>
                  </a:txBody>
                  <a:tcPr marL="91440" marR="91440" marT="45720" marB="45720" anchor="ctr">
                    <a:solidFill>
                      <a:srgbClr val="FFFFFF"/>
                    </a:solidFill>
                  </a:tcPr>
                </a:tc>
              </a:tr>
              <a:tr h="567690">
                <a:tc>
                  <a:txBody>
                    <a:bodyPr wrap="square" lIns="76200" tIns="47625" rIns="66675" bIns="47625">
                      <a:normAutofit/>
                    </a:bodyPr>
                    <a:lstStyle/>
                    <a:p>
                      <a:r>
                        <a:rPr sz="1200" b="0">
                          <a:solidFill>
                            <a:srgbClr val="20252C"/>
                          </a:solidFill>
                          <a:latin typeface="Aptos"/>
                          <a:ea typeface="Aptos"/>
                          <a:cs typeface="Aptos"/>
                        </a:rPr>
                        <a:t>Educación</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Colegios y universidades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Turno, matrícula por local y acceso peatonal</a:t>
                      </a:r>
                    </a:p>
                  </a:txBody>
                  <a:tcPr marL="91440" marR="91440" marT="45720" marB="45720" anchor="ctr">
                    <a:solidFill>
                      <a:srgbClr val="F5F6F8"/>
                    </a:solidFill>
                  </a:tcPr>
                </a:tc>
              </a:tr>
              <a:tr h="567690">
                <a:tc>
                  <a:txBody>
                    <a:bodyPr wrap="square" lIns="76200" tIns="47625" rIns="66675" bIns="47625">
                      <a:normAutofit/>
                    </a:bodyPr>
                    <a:lstStyle/>
                    <a:p>
                      <a:r>
                        <a:rPr sz="1200" b="0">
                          <a:solidFill>
                            <a:srgbClr val="20252C"/>
                          </a:solidFill>
                          <a:latin typeface="Aptos"/>
                          <a:ea typeface="Aptos"/>
                          <a:cs typeface="Aptos"/>
                        </a:rPr>
                        <a:t>Salud y trámites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Hospitales, centros de salud y servicios públicos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Punto de entrada y horario de atención</a:t>
                      </a:r>
                    </a:p>
                  </a:txBody>
                  <a:tcPr marL="91440" marR="91440" marT="45720" marB="45720" anchor="ctr">
                    <a:solidFill>
                      <a:srgbClr val="FFFFFF"/>
                    </a:solidFill>
                  </a:tcPr>
                </a:tc>
              </a:tr>
              <a:tr h="567690">
                <a:tc>
                  <a:txBody>
                    <a:bodyPr wrap="square" lIns="76200" tIns="47625" rIns="66675" bIns="47625">
                      <a:normAutofit/>
                    </a:bodyPr>
                    <a:lstStyle/>
                    <a:p>
                      <a:r>
                        <a:rPr sz="1200" b="0">
                          <a:solidFill>
                            <a:srgbClr val="20252C"/>
                          </a:solidFill>
                          <a:latin typeface="Aptos"/>
                          <a:ea typeface="Aptos"/>
                          <a:cs typeface="Aptos"/>
                        </a:rPr>
                        <a:t>Empleo y conexiones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Centros de trabajo, terminales, aeropuerto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Viajes OD y transbordos</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EA0FEEA9-5DBF-425B-9A1C-552398A74660}"/>
              </a:ext>
            </a:extLst>
          </p:cNvPr>
          <p:cNvSpPr>
            <a:spLocks xmlns:a="http://schemas.openxmlformats.org/drawingml/2006/main" noGrp="1"/>
          </p:cNvSpPr>
          <p:nvPr/>
        </p:nvSpPr>
        <p:spPr>
          <a:xfrm xmlns:a="http://schemas.openxmlformats.org/drawingml/2006/main">
            <a:off x="571500" y="5353050"/>
            <a:ext cx="10810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9373D"/>
                </a:solidFill>
                <a:latin typeface="Aptos"/>
                <a:ea typeface="Aptos"/>
                <a:cs typeface="Aptos"/>
              </a:defRPr>
            </a:pPr>
            <a:r>
              <a:rPr sz="1350" b="1">
                <a:solidFill>
                  <a:srgbClr val="A9373D"/>
                </a:solidFill>
                <a:latin typeface="Aptos"/>
                <a:ea typeface="Aptos"/>
                <a:cs typeface="Aptos"/>
              </a:rPr>
              <a:t>El PDU registra 17 entradas de atractores; algunas se superponen. La matrícula EBR agregada es 85.482 (fuente 2023). Ninguna de esas cifras mide visitas por hora.</a:t>
            </a:r>
          </a:p>
        </p:txBody>
      </p:sp>
    </p:spTree>
    <p:extLst>
      <p:ext uri="{BB962C8B-B14F-4D97-AF65-F5344CB8AC3E}">
        <p14:creationId xmlns:p14="http://schemas.microsoft.com/office/powerpoint/2010/main" val="15314664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7C2452-FA90-405B-B050-DD6CAE74E00B}"/>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transforma Puriy los datos en una propuesta</a:t>
            </a:r>
          </a:p>
        </p:txBody>
      </p:sp>
      <p:sp>
        <p:nvSpPr>
          <p:cNvPr id="2" name="">
            <a:extLst xmlns:a="http://schemas.openxmlformats.org/drawingml/2006/main">
              <a:ext uri="{FF2B5EF4-FFF2-40B4-BE49-F238E27FC236}">
                <a16:creationId xmlns:a16="http://schemas.microsoft.com/office/drawing/2014/main" id="{3FBB8672-7374-4FFB-8B8F-889941070945}"/>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209158EE-434A-40FA-8ECB-889118EA0C15}"/>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3D468620-E1BC-43C8-858C-5AA72D74C8A1}"/>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21F907A7-5328-41B5-B37C-A3E03F10BF32}"/>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295400"/>
          <a:ext xmlns:a="http://schemas.openxmlformats.org/drawingml/2006/main" cx="11010900" cy="3819525"/>
        </p:xfrm>
        <a:graphic xmlns:a="http://schemas.openxmlformats.org/drawingml/2006/main">
          <a:graphicData uri="http://schemas.openxmlformats.org/drawingml/2006/table">
            <a:tbl>
              <a:tblPr/>
              <a:tblGrid>
                <a:gridCol w="1905000"/>
                <a:gridCol w="4238625"/>
                <a:gridCol w="4867275"/>
              </a:tblGrid>
              <a:tr h="636588">
                <a:tc>
                  <a:txBody>
                    <a:bodyPr wrap="square" lIns="76200" tIns="47625" rIns="66675" bIns="47625">
                      <a:normAutofit/>
                    </a:bodyPr>
                    <a:lstStyle/>
                    <a:p>
                      <a:r>
                        <a:rPr sz="1200" b="1">
                          <a:solidFill>
                            <a:srgbClr val="FFFFFF"/>
                          </a:solidFill>
                          <a:latin typeface="Aptos"/>
                          <a:ea typeface="Aptos"/>
                          <a:cs typeface="Aptos"/>
                        </a:rPr>
                        <a:t>Paso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Entrada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Resultado comprensible</a:t>
                      </a:r>
                    </a:p>
                  </a:txBody>
                  <a:tcPr marL="91440" marR="91440" marT="45720" marB="45720" anchor="ctr">
                    <a:solidFill>
                      <a:srgbClr val="17202B"/>
                    </a:solidFill>
                  </a:tcPr>
                </a:tc>
              </a:tr>
              <a:tr h="636588">
                <a:tc>
                  <a:txBody>
                    <a:bodyPr wrap="square" lIns="76200" tIns="47625" rIns="66675" bIns="47625">
                      <a:normAutofit/>
                    </a:bodyPr>
                    <a:lstStyle/>
                    <a:p>
                      <a:r>
                        <a:rPr sz="1275" b="0">
                          <a:solidFill>
                            <a:srgbClr val="20252C"/>
                          </a:solidFill>
                          <a:latin typeface="Aptos"/>
                          <a:ea typeface="Aptos"/>
                          <a:cs typeface="Aptos"/>
                        </a:rPr>
                        <a:t>1. Reunir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Manzanas, rutas, flota, destinos y calles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Una base con fuente, año y nivel de revisión</a:t>
                      </a:r>
                    </a:p>
                  </a:txBody>
                  <a:tcPr marL="91440" marR="91440" marT="45720" marB="45720" anchor="ctr">
                    <a:solidFill>
                      <a:srgbClr val="FFFFFF"/>
                    </a:solidFill>
                  </a:tcPr>
                </a:tc>
              </a:tr>
              <a:tr h="636588">
                <a:tc>
                  <a:txBody>
                    <a:bodyPr wrap="square" lIns="76200" tIns="47625" rIns="66675" bIns="47625">
                      <a:normAutofit/>
                    </a:bodyPr>
                    <a:lstStyle/>
                    <a:p>
                      <a:r>
                        <a:rPr sz="1275" b="0">
                          <a:solidFill>
                            <a:srgbClr val="20252C"/>
                          </a:solidFill>
                          <a:latin typeface="Aptos"/>
                          <a:ea typeface="Aptos"/>
                          <a:cs typeface="Aptos"/>
                        </a:rPr>
                        <a:t>2. Ubicar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Abordajes y entradas a destinos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Población que puede acceder a cada servicio</a:t>
                      </a:r>
                    </a:p>
                  </a:txBody>
                  <a:tcPr marL="91440" marR="91440" marT="45720" marB="45720" anchor="ctr">
                    <a:solidFill>
                      <a:srgbClr val="F5F6F8"/>
                    </a:solidFill>
                  </a:tcPr>
                </a:tc>
              </a:tr>
              <a:tr h="636588">
                <a:tc>
                  <a:txBody>
                    <a:bodyPr wrap="square" lIns="76200" tIns="47625" rIns="66675" bIns="47625">
                      <a:normAutofit/>
                    </a:bodyPr>
                    <a:lstStyle/>
                    <a:p>
                      <a:r>
                        <a:rPr sz="1275" b="0">
                          <a:solidFill>
                            <a:srgbClr val="20252C"/>
                          </a:solidFill>
                          <a:latin typeface="Aptos"/>
                          <a:ea typeface="Aptos"/>
                          <a:cs typeface="Aptos"/>
                        </a:rPr>
                        <a:t>3. Simular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Intervalos, velocidad comercial, capacidad y costo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Unidades necesarias y oferta por hora</a:t>
                      </a:r>
                    </a:p>
                  </a:txBody>
                  <a:tcPr marL="91440" marR="91440" marT="45720" marB="45720" anchor="ctr">
                    <a:solidFill>
                      <a:srgbClr val="FFFFFF"/>
                    </a:solidFill>
                  </a:tcPr>
                </a:tc>
              </a:tr>
              <a:tr h="636588">
                <a:tc>
                  <a:txBody>
                    <a:bodyPr wrap="square" lIns="76200" tIns="47625" rIns="66675" bIns="47625">
                      <a:normAutofit/>
                    </a:bodyPr>
                    <a:lstStyle/>
                    <a:p>
                      <a:r>
                        <a:rPr sz="1275" b="0">
                          <a:solidFill>
                            <a:srgbClr val="20252C"/>
                          </a:solidFill>
                          <a:latin typeface="Aptos"/>
                          <a:ea typeface="Aptos"/>
                          <a:cs typeface="Aptos"/>
                        </a:rPr>
                        <a:t>4. Comparar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Ruta actual y alternativa</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Zonas que ganan o pierden acceso</a:t>
                      </a:r>
                    </a:p>
                  </a:txBody>
                  <a:tcPr marL="91440" marR="91440" marT="45720" marB="45720" anchor="ctr">
                    <a:solidFill>
                      <a:srgbClr val="F5F6F8"/>
                    </a:solidFill>
                  </a:tcPr>
                </a:tc>
              </a:tr>
              <a:tr h="636588">
                <a:tc>
                  <a:txBody>
                    <a:bodyPr wrap="square" lIns="76200" tIns="47625" rIns="66675" bIns="47625">
                      <a:normAutofit/>
                    </a:bodyPr>
                    <a:lstStyle/>
                    <a:p>
                      <a:r>
                        <a:rPr sz="1275" b="0">
                          <a:solidFill>
                            <a:srgbClr val="20252C"/>
                          </a:solidFill>
                          <a:latin typeface="Aptos"/>
                          <a:ea typeface="Aptos"/>
                          <a:cs typeface="Aptos"/>
                        </a:rPr>
                        <a:t>5. Validar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Campo, operadores y municipio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Decisión de piloto o corrección de la propuesta</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F0593B3-6AC4-40D3-AB98-313EDC1B5CC4}"/>
              </a:ext>
            </a:extLst>
          </p:cNvPr>
          <p:cNvSpPr>
            <a:spLocks xmlns:a="http://schemas.openxmlformats.org/drawingml/2006/main" noGrp="1"/>
          </p:cNvSpPr>
          <p:nvPr/>
        </p:nvSpPr>
        <p:spPr>
          <a:xfrm xmlns:a="http://schemas.openxmlformats.org/drawingml/2006/main">
            <a:off x="571500" y="5391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El sistema apoya la decisión técnica. Un cambio de ruta se publica para pasajeros después de validar trazado, paraderos y operación.</a:t>
            </a:r>
          </a:p>
        </p:txBody>
      </p:sp>
    </p:spTree>
    <p:extLst>
      <p:ext uri="{BB962C8B-B14F-4D97-AF65-F5344CB8AC3E}">
        <p14:creationId xmlns:p14="http://schemas.microsoft.com/office/powerpoint/2010/main" val="12494052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DEB136B-AB2D-40F2-92EF-BC05C3296431}"/>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Vista del pasajero: planificar un viaje</a:t>
            </a:r>
          </a:p>
        </p:txBody>
      </p:sp>
      <p:sp>
        <p:nvSpPr>
          <p:cNvPr id="2" name="">
            <a:extLst xmlns:a="http://schemas.openxmlformats.org/drawingml/2006/main">
              <a:ext uri="{FF2B5EF4-FFF2-40B4-BE49-F238E27FC236}">
                <a16:creationId xmlns:a16="http://schemas.microsoft.com/office/drawing/2014/main" id="{58CB84BD-2323-4543-9174-FEE40632ABCC}"/>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1BE98655-01A8-4A7E-A898-D4C99B51F8B9}"/>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40C5B3F5-65F9-4B30-8AB9-645EC4B70B70}"/>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DB83752F-8AE7-4453-A64B-7FA8B0FFC45E}"/>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8fabf00e32349f1"/>
          <a:stretch xmlns:a="http://schemas.openxmlformats.org/drawingml/2006/main"/>
        </p:blipFill>
        <p:spPr>
          <a:xfrm xmlns:a="http://schemas.openxmlformats.org/drawingml/2006/main">
            <a:off x="785813" y="1323975"/>
            <a:ext cx="7239000" cy="4524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4FCC73A-00A3-4BA4-B142-1BE062F1D592}"/>
              </a:ext>
            </a:extLst>
          </p:cNvPr>
          <p:cNvSpPr>
            <a:spLocks xmlns:a="http://schemas.openxmlformats.org/drawingml/2006/main" noGrp="1"/>
          </p:cNvSpPr>
          <p:nvPr/>
        </p:nvSpPr>
        <p:spPr>
          <a:xfrm xmlns:a="http://schemas.openxmlformats.org/drawingml/2006/main">
            <a:off x="8572500" y="1409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75CBA"/>
                </a:solidFill>
                <a:latin typeface="Aptos"/>
                <a:ea typeface="Aptos"/>
                <a:cs typeface="Aptos"/>
              </a:defRPr>
            </a:pPr>
            <a:r>
              <a:rPr sz="1050" b="1">
                <a:solidFill>
                  <a:srgbClr val="275CBA"/>
                </a:solidFill>
                <a:latin typeface="Aptos"/>
                <a:ea typeface="Aptos"/>
                <a:cs typeface="Aptos"/>
              </a:rPr>
              <a:t>ENTRADA DEL USUARIO</a:t>
            </a:r>
          </a:p>
        </p:txBody>
      </p:sp>
      <p:sp>
        <p:nvSpPr>
          <p:cNvPr id="8" name="">
            <a:extLst xmlns:a="http://schemas.openxmlformats.org/drawingml/2006/main">
              <a:ext uri="{FF2B5EF4-FFF2-40B4-BE49-F238E27FC236}">
                <a16:creationId xmlns:a16="http://schemas.microsoft.com/office/drawing/2014/main" id="{940EFFDE-F575-4D5B-8E5C-54CBAA6F7A3E}"/>
              </a:ext>
            </a:extLst>
          </p:cNvPr>
          <p:cNvSpPr>
            <a:spLocks xmlns:a="http://schemas.openxmlformats.org/drawingml/2006/main" noGrp="1"/>
          </p:cNvSpPr>
          <p:nvPr/>
        </p:nvSpPr>
        <p:spPr>
          <a:xfrm xmlns:a="http://schemas.openxmlformats.org/drawingml/2006/main">
            <a:off x="8572500" y="1743075"/>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Origen y destino</a:t>
            </a:r>
          </a:p>
        </p:txBody>
      </p:sp>
      <p:sp>
        <p:nvSpPr>
          <p:cNvPr id="9" name="">
            <a:extLst xmlns:a="http://schemas.openxmlformats.org/drawingml/2006/main">
              <a:ext uri="{FF2B5EF4-FFF2-40B4-BE49-F238E27FC236}">
                <a16:creationId xmlns:a16="http://schemas.microsoft.com/office/drawing/2014/main" id="{92AB36EB-98D3-4C35-B51C-96412ED35C9E}"/>
              </a:ext>
            </a:extLst>
          </p:cNvPr>
          <p:cNvSpPr>
            <a:spLocks xmlns:a="http://schemas.openxmlformats.org/drawingml/2006/main" noGrp="1"/>
          </p:cNvSpPr>
          <p:nvPr/>
        </p:nvSpPr>
        <p:spPr>
          <a:xfrm xmlns:a="http://schemas.openxmlformats.org/drawingml/2006/main">
            <a:off x="8572500" y="2238375"/>
            <a:ext cx="276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0252C"/>
                </a:solidFill>
                <a:latin typeface="Aptos"/>
                <a:ea typeface="Aptos"/>
                <a:cs typeface="Aptos"/>
              </a:defRPr>
            </a:pPr>
            <a:r>
              <a:rPr sz="1425" b="0">
                <a:solidFill>
                  <a:srgbClr val="20252C"/>
                </a:solidFill>
                <a:latin typeface="Aptos"/>
                <a:ea typeface="Aptos"/>
                <a:cs typeface="Aptos"/>
              </a:rPr>
              <a:t>Hora de salida y preferencia de viaje</a:t>
            </a:r>
          </a:p>
        </p:txBody>
      </p:sp>
      <p:sp>
        <p:nvSpPr>
          <p:cNvPr id="10" name="">
            <a:extLst xmlns:a="http://schemas.openxmlformats.org/drawingml/2006/main">
              <a:ext uri="{FF2B5EF4-FFF2-40B4-BE49-F238E27FC236}">
                <a16:creationId xmlns:a16="http://schemas.microsoft.com/office/drawing/2014/main" id="{10A5045E-1F14-4FB9-BCF2-6C2509594665}"/>
              </a:ext>
            </a:extLst>
          </p:cNvPr>
          <p:cNvSpPr>
            <a:spLocks xmlns:a="http://schemas.openxmlformats.org/drawingml/2006/main" noGrp="1"/>
          </p:cNvSpPr>
          <p:nvPr/>
        </p:nvSpPr>
        <p:spPr>
          <a:xfrm xmlns:a="http://schemas.openxmlformats.org/drawingml/2006/main">
            <a:off x="8572500" y="31242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75CBA"/>
                </a:solidFill>
                <a:latin typeface="Aptos"/>
                <a:ea typeface="Aptos"/>
                <a:cs typeface="Aptos"/>
              </a:defRPr>
            </a:pPr>
            <a:r>
              <a:rPr sz="1050" b="1">
                <a:solidFill>
                  <a:srgbClr val="275CBA"/>
                </a:solidFill>
                <a:latin typeface="Aptos"/>
                <a:ea typeface="Aptos"/>
                <a:cs typeface="Aptos"/>
              </a:rPr>
              <a:t>RESULTADO ESPERADO</a:t>
            </a:r>
          </a:p>
        </p:txBody>
      </p:sp>
      <p:sp>
        <p:nvSpPr>
          <p:cNvPr id="11" name="">
            <a:extLst xmlns:a="http://schemas.openxmlformats.org/drawingml/2006/main">
              <a:ext uri="{FF2B5EF4-FFF2-40B4-BE49-F238E27FC236}">
                <a16:creationId xmlns:a16="http://schemas.microsoft.com/office/drawing/2014/main" id="{B287C3AD-233A-449A-AABC-E08F71BB29F5}"/>
              </a:ext>
            </a:extLst>
          </p:cNvPr>
          <p:cNvSpPr>
            <a:spLocks xmlns:a="http://schemas.openxmlformats.org/drawingml/2006/main" noGrp="1"/>
          </p:cNvSpPr>
          <p:nvPr/>
        </p:nvSpPr>
        <p:spPr>
          <a:xfrm xmlns:a="http://schemas.openxmlformats.org/drawingml/2006/main">
            <a:off x="8572500" y="3457575"/>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Recorridos candidatos, caminata y tiempo total estimado.</a:t>
            </a:r>
          </a:p>
        </p:txBody>
      </p:sp>
      <p:sp>
        <p:nvSpPr>
          <p:cNvPr id="12" name="">
            <a:extLst xmlns:a="http://schemas.openxmlformats.org/drawingml/2006/main">
              <a:ext uri="{FF2B5EF4-FFF2-40B4-BE49-F238E27FC236}">
                <a16:creationId xmlns:a16="http://schemas.microsoft.com/office/drawing/2014/main" id="{ACD42D7F-93BE-4AA0-8860-DE905E1AFCA6}"/>
              </a:ext>
            </a:extLst>
          </p:cNvPr>
          <p:cNvSpPr>
            <a:spLocks xmlns:a="http://schemas.openxmlformats.org/drawingml/2006/main" noGrp="1"/>
          </p:cNvSpPr>
          <p:nvPr/>
        </p:nvSpPr>
        <p:spPr>
          <a:xfrm xmlns:a="http://schemas.openxmlformats.org/drawingml/2006/main">
            <a:off x="8572500" y="4857750"/>
            <a:ext cx="276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9373D"/>
                </a:solidFill>
                <a:latin typeface="Aptos"/>
                <a:ea typeface="Aptos"/>
                <a:cs typeface="Aptos"/>
              </a:defRPr>
            </a:pPr>
            <a:r>
              <a:rPr sz="1350" b="0">
                <a:solidFill>
                  <a:srgbClr val="A9373D"/>
                </a:solidFill>
                <a:latin typeface="Aptos"/>
                <a:ea typeface="Aptos"/>
                <a:cs typeface="Aptos"/>
              </a:rPr>
              <a:t>La recomendación pública requiere rutas y puntos de abordaje comprobados.</a:t>
            </a:r>
          </a:p>
        </p:txBody>
      </p:sp>
      <p:sp>
        <p:nvSpPr>
          <p:cNvPr id="13" name="">
            <a:extLst xmlns:a="http://schemas.openxmlformats.org/drawingml/2006/main">
              <a:ext uri="{FF2B5EF4-FFF2-40B4-BE49-F238E27FC236}">
                <a16:creationId xmlns:a16="http://schemas.microsoft.com/office/drawing/2014/main" id="{B50FD8BD-4D96-42A1-AC6B-79C2C7ED0FE9}"/>
              </a:ext>
            </a:extLst>
          </p:cNvPr>
          <p:cNvSpPr>
            <a:spLocks xmlns:a="http://schemas.openxmlformats.org/drawingml/2006/main" noGrp="1"/>
          </p:cNvSpPr>
          <p:nvPr/>
        </p:nvSpPr>
        <p:spPr>
          <a:xfrm xmlns:a="http://schemas.openxmlformats.org/drawingml/2006/main">
            <a:off x="571500" y="6038850"/>
            <a:ext cx="762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86473"/>
                </a:solidFill>
                <a:latin typeface="Aptos"/>
                <a:ea typeface="Aptos"/>
                <a:cs typeface="Aptos"/>
              </a:defRPr>
            </a:pPr>
            <a:r>
              <a:rPr sz="1050" b="0">
                <a:solidFill>
                  <a:srgbClr val="586473"/>
                </a:solidFill>
                <a:latin typeface="Aptos"/>
                <a:ea typeface="Aptos"/>
                <a:cs typeface="Aptos"/>
              </a:rPr>
              <a:t>Captura de la versión local de Puriy, 22/09/2026.</a:t>
            </a:r>
          </a:p>
        </p:txBody>
      </p:sp>
    </p:spTree>
    <p:extLst>
      <p:ext uri="{BB962C8B-B14F-4D97-AF65-F5344CB8AC3E}">
        <p14:creationId xmlns:p14="http://schemas.microsoft.com/office/powerpoint/2010/main" val="7477868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81EA333-D7BB-4760-9D20-AD4A3759CB87}"/>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Mapa de recorridos y ficha de servicio</a:t>
            </a:r>
          </a:p>
        </p:txBody>
      </p:sp>
      <p:sp>
        <p:nvSpPr>
          <p:cNvPr id="2" name="">
            <a:extLst xmlns:a="http://schemas.openxmlformats.org/drawingml/2006/main">
              <a:ext uri="{FF2B5EF4-FFF2-40B4-BE49-F238E27FC236}">
                <a16:creationId xmlns:a16="http://schemas.microsoft.com/office/drawing/2014/main" id="{47B5A853-678E-422B-9838-7C473013F5ED}"/>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11D6B9C7-F91B-42A7-8D8C-0AEF3CF8B7C6}"/>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4227E928-38D7-44F6-803A-19200BF2C7FE}"/>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A9606CAB-3B37-4872-BBFC-671B56C8AACB}"/>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fb850d4c8c44ef0"/>
          <a:stretch xmlns:a="http://schemas.openxmlformats.org/drawingml/2006/main"/>
        </p:blipFill>
        <p:spPr>
          <a:xfrm xmlns:a="http://schemas.openxmlformats.org/drawingml/2006/main">
            <a:off x="624840" y="1295400"/>
            <a:ext cx="5227320" cy="326707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8f25db1b3c545b9"/>
          <a:stretch xmlns:a="http://schemas.openxmlformats.org/drawingml/2006/main"/>
        </p:blipFill>
        <p:spPr>
          <a:xfrm xmlns:a="http://schemas.openxmlformats.org/drawingml/2006/main">
            <a:off x="6258877" y="1295400"/>
            <a:ext cx="5227320" cy="32670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2692EFA-D55B-49BB-BCFD-5562CF43FE7E}"/>
              </a:ext>
            </a:extLst>
          </p:cNvPr>
          <p:cNvSpPr>
            <a:spLocks xmlns:a="http://schemas.openxmlformats.org/drawingml/2006/main" noGrp="1"/>
          </p:cNvSpPr>
          <p:nvPr/>
        </p:nvSpPr>
        <p:spPr>
          <a:xfrm xmlns:a="http://schemas.openxmlformats.org/drawingml/2006/main">
            <a:off x="571500" y="47244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Explorar rutas</a:t>
            </a:r>
          </a:p>
        </p:txBody>
      </p:sp>
      <p:sp>
        <p:nvSpPr>
          <p:cNvPr id="9" name="">
            <a:extLst xmlns:a="http://schemas.openxmlformats.org/drawingml/2006/main">
              <a:ext uri="{FF2B5EF4-FFF2-40B4-BE49-F238E27FC236}">
                <a16:creationId xmlns:a16="http://schemas.microsoft.com/office/drawing/2014/main" id="{02918F8B-03DD-42F0-AE44-B850E7FE9D75}"/>
              </a:ext>
            </a:extLst>
          </p:cNvPr>
          <p:cNvSpPr>
            <a:spLocks xmlns:a="http://schemas.openxmlformats.org/drawingml/2006/main" noGrp="1"/>
          </p:cNvSpPr>
          <p:nvPr/>
        </p:nvSpPr>
        <p:spPr>
          <a:xfrm xmlns:a="http://schemas.openxmlformats.org/drawingml/2006/main">
            <a:off x="571500" y="5076825"/>
            <a:ext cx="519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86473"/>
                </a:solidFill>
                <a:latin typeface="Aptos"/>
                <a:ea typeface="Aptos"/>
                <a:cs typeface="Aptos"/>
              </a:defRPr>
            </a:pPr>
            <a:r>
              <a:rPr sz="1350" b="0">
                <a:solidFill>
                  <a:srgbClr val="586473"/>
                </a:solidFill>
                <a:latin typeface="Aptos"/>
                <a:ea typeface="Aptos"/>
                <a:cs typeface="Aptos"/>
              </a:rPr>
              <a:t>El mapa muestra ida y vuelta y permite abrir una ficha.</a:t>
            </a:r>
          </a:p>
        </p:txBody>
      </p:sp>
      <p:sp>
        <p:nvSpPr>
          <p:cNvPr id="10" name="">
            <a:extLst xmlns:a="http://schemas.openxmlformats.org/drawingml/2006/main">
              <a:ext uri="{FF2B5EF4-FFF2-40B4-BE49-F238E27FC236}">
                <a16:creationId xmlns:a16="http://schemas.microsoft.com/office/drawing/2014/main" id="{F6091961-9626-4CDD-B428-AF80EEB6FE59}"/>
              </a:ext>
            </a:extLst>
          </p:cNvPr>
          <p:cNvSpPr>
            <a:spLocks xmlns:a="http://schemas.openxmlformats.org/drawingml/2006/main" noGrp="1"/>
          </p:cNvSpPr>
          <p:nvPr/>
        </p:nvSpPr>
        <p:spPr>
          <a:xfrm xmlns:a="http://schemas.openxmlformats.org/drawingml/2006/main">
            <a:off x="6162675" y="47244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Estado del prototipo</a:t>
            </a:r>
          </a:p>
        </p:txBody>
      </p:sp>
      <p:sp>
        <p:nvSpPr>
          <p:cNvPr id="11" name="">
            <a:extLst xmlns:a="http://schemas.openxmlformats.org/drawingml/2006/main">
              <a:ext uri="{FF2B5EF4-FFF2-40B4-BE49-F238E27FC236}">
                <a16:creationId xmlns:a16="http://schemas.microsoft.com/office/drawing/2014/main" id="{44599AF3-4CD8-4653-BBC8-8C19B64906B4}"/>
              </a:ext>
            </a:extLst>
          </p:cNvPr>
          <p:cNvSpPr>
            <a:spLocks xmlns:a="http://schemas.openxmlformats.org/drawingml/2006/main" noGrp="1"/>
          </p:cNvSpPr>
          <p:nvPr/>
        </p:nvSpPr>
        <p:spPr>
          <a:xfrm xmlns:a="http://schemas.openxmlformats.org/drawingml/2006/main">
            <a:off x="6162675" y="507682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86473"/>
                </a:solidFill>
                <a:latin typeface="Aptos"/>
                <a:ea typeface="Aptos"/>
                <a:cs typeface="Aptos"/>
              </a:defRPr>
            </a:pPr>
            <a:r>
              <a:rPr sz="1350" b="0">
                <a:solidFill>
                  <a:srgbClr val="586473"/>
                </a:solidFill>
                <a:latin typeface="Aptos"/>
                <a:ea typeface="Aptos"/>
                <a:cs typeface="Aptos"/>
              </a:rPr>
              <a:t>N40 PRUEBA es el único recorrido público visible. Registra 0 abordajes verificados; su frecuencia y horario no deben asumirse como servicio oficial.</a:t>
            </a:r>
          </a:p>
        </p:txBody>
      </p:sp>
    </p:spTree>
    <p:extLst>
      <p:ext uri="{BB962C8B-B14F-4D97-AF65-F5344CB8AC3E}">
        <p14:creationId xmlns:p14="http://schemas.microsoft.com/office/powerpoint/2010/main" val="18845798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35663E-9046-4A79-8E9E-9999FD8F7114}"/>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 mejor ruta depende del viaje completo</a:t>
            </a:r>
          </a:p>
        </p:txBody>
      </p:sp>
      <p:sp>
        <p:nvSpPr>
          <p:cNvPr id="2" name="">
            <a:extLst xmlns:a="http://schemas.openxmlformats.org/drawingml/2006/main">
              <a:ext uri="{FF2B5EF4-FFF2-40B4-BE49-F238E27FC236}">
                <a16:creationId xmlns:a16="http://schemas.microsoft.com/office/drawing/2014/main" id="{17FB32B4-D6AE-4D94-8C22-46E806C2AC55}"/>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A17EA290-C571-4D7D-9743-6A3EA9AE0300}"/>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487CE584-4C17-492D-8747-F05D2E30AD23}"/>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35BEAAB8-5C30-4153-B436-533D913E15A3}"/>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2F8BC658-3645-431A-8252-DB7F2BAF5609}"/>
              </a:ext>
            </a:extLst>
          </p:cNvPr>
          <p:cNvSpPr>
            <a:spLocks xmlns:a="http://schemas.openxmlformats.org/drawingml/2006/main" noGrp="1"/>
          </p:cNvSpPr>
          <p:nvPr/>
        </p:nvSpPr>
        <p:spPr>
          <a:xfrm xmlns:a="http://schemas.openxmlformats.org/drawingml/2006/main">
            <a:off x="571500" y="127635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Tiempo puerta a puerta = caminar a la parada + esperar + viajar + caminar al destino</a:t>
            </a:r>
          </a:p>
        </p:txBody>
      </p:sp>
      <p:graphicFrame>
        <p:nvGraphicFramePr>
          <p:cNvPr id="16" name=""/>
          <p:cNvGraphicFramePr/>
          <p:nvPr/>
        </p:nvGraphicFramePr>
        <p:xfrm>
          <a:off xmlns:a="http://schemas.openxmlformats.org/drawingml/2006/main" x="571500" y="2428875"/>
          <a:ext xmlns:a="http://schemas.openxmlformats.org/drawingml/2006/main" cx="11010900" cy="2038350"/>
        </p:xfrm>
        <a:graphic xmlns:a="http://schemas.openxmlformats.org/drawingml/2006/main">
          <a:graphicData uri="http://schemas.openxmlformats.org/drawingml/2006/table">
            <a:tbl>
              <a:tblPr/>
              <a:tblGrid>
                <a:gridCol w="2514600"/>
                <a:gridCol w="1724025"/>
                <a:gridCol w="1428750"/>
                <a:gridCol w="1962150"/>
                <a:gridCol w="1847850"/>
                <a:gridCol w="1533525"/>
              </a:tblGrid>
              <a:tr h="679450">
                <a:tc>
                  <a:txBody>
                    <a:bodyPr wrap="square" lIns="76200" tIns="47625" rIns="66675" bIns="47625">
                      <a:normAutofit/>
                    </a:bodyPr>
                    <a:lstStyle/>
                    <a:p>
                      <a:r>
                        <a:rPr sz="1200" b="1">
                          <a:solidFill>
                            <a:srgbClr val="FFFFFF"/>
                          </a:solidFill>
                          <a:latin typeface="Aptos"/>
                          <a:ea typeface="Aptos"/>
                          <a:cs typeface="Aptos"/>
                        </a:rPr>
                        <a:t>Ejemplo ilustrativo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Caminar al abordar</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Espera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En vehículo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Caminata final</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Total</a:t>
                      </a:r>
                    </a:p>
                  </a:txBody>
                  <a:tcPr marL="91440" marR="91440" marT="45720" marB="45720" anchor="ctr">
                    <a:solidFill>
                      <a:srgbClr val="17202B"/>
                    </a:solidFill>
                  </a:tcPr>
                </a:tc>
              </a:tr>
              <a:tr h="679450">
                <a:tc>
                  <a:txBody>
                    <a:bodyPr wrap="square" lIns="76200" tIns="47625" rIns="66675" bIns="47625">
                      <a:normAutofit/>
                    </a:bodyPr>
                    <a:lstStyle/>
                    <a:p>
                      <a:r>
                        <a:rPr sz="1275" b="0">
                          <a:solidFill>
                            <a:srgbClr val="20252C"/>
                          </a:solidFill>
                          <a:latin typeface="Aptos"/>
                          <a:ea typeface="Aptos"/>
                          <a:cs typeface="Aptos"/>
                        </a:rPr>
                        <a:t>Ruta 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5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7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18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5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35 min</a:t>
                      </a:r>
                    </a:p>
                  </a:txBody>
                  <a:tcPr marL="91440" marR="91440" marT="45720" marB="45720" anchor="ctr">
                    <a:solidFill>
                      <a:srgbClr val="FFFFFF"/>
                    </a:solidFill>
                  </a:tcPr>
                </a:tc>
              </a:tr>
              <a:tr h="679450">
                <a:tc>
                  <a:txBody>
                    <a:bodyPr wrap="square" lIns="76200" tIns="47625" rIns="66675" bIns="47625">
                      <a:normAutofit/>
                    </a:bodyPr>
                    <a:lstStyle/>
                    <a:p>
                      <a:r>
                        <a:rPr sz="1275" b="0">
                          <a:solidFill>
                            <a:srgbClr val="20252C"/>
                          </a:solidFill>
                          <a:latin typeface="Aptos"/>
                          <a:ea typeface="Aptos"/>
                          <a:cs typeface="Aptos"/>
                        </a:rPr>
                        <a:t>Ruta B</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8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4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15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6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33 min</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A20B28ED-2CFC-4A4F-BF1B-55F2F4DBCD76}"/>
              </a:ext>
            </a:extLst>
          </p:cNvPr>
          <p:cNvSpPr>
            <a:spLocks xmlns:a="http://schemas.openxmlformats.org/drawingml/2006/main" noGrp="1"/>
          </p:cNvSpPr>
          <p:nvPr/>
        </p:nvSpPr>
        <p:spPr>
          <a:xfrm xmlns:a="http://schemas.openxmlformats.org/drawingml/2006/main">
            <a:off x="571500" y="4772025"/>
            <a:ext cx="108870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Aunque la ruta B exige caminar más, en este ejemplo llega antes por la menor espera y el menor tiempo a bordo.</a:t>
            </a:r>
          </a:p>
        </p:txBody>
      </p:sp>
      <p:sp>
        <p:nvSpPr>
          <p:cNvPr id="9" name="">
            <a:extLst xmlns:a="http://schemas.openxmlformats.org/drawingml/2006/main">
              <a:ext uri="{FF2B5EF4-FFF2-40B4-BE49-F238E27FC236}">
                <a16:creationId xmlns:a16="http://schemas.microsoft.com/office/drawing/2014/main" id="{C6CE5023-47F7-4427-A711-0AD88A021FD3}"/>
              </a:ext>
            </a:extLst>
          </p:cNvPr>
          <p:cNvSpPr>
            <a:spLocks xmlns:a="http://schemas.openxmlformats.org/drawingml/2006/main" noGrp="1"/>
          </p:cNvSpPr>
          <p:nvPr/>
        </p:nvSpPr>
        <p:spPr>
          <a:xfrm xmlns:a="http://schemas.openxmlformats.org/drawingml/2006/main">
            <a:off x="571500" y="5524500"/>
            <a:ext cx="10887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9373D"/>
                </a:solidFill>
                <a:latin typeface="Aptos"/>
                <a:ea typeface="Aptos"/>
                <a:cs typeface="Aptos"/>
              </a:defRPr>
            </a:pPr>
            <a:r>
              <a:rPr sz="1425" b="0">
                <a:solidFill>
                  <a:srgbClr val="A9373D"/>
                </a:solidFill>
                <a:latin typeface="Aptos"/>
                <a:ea typeface="Aptos"/>
                <a:cs typeface="Aptos"/>
              </a:rPr>
              <a:t>Los valores son didácticos. Puriy necesita tiempos medidos e intervalos observados para convertir esta comparación en una indicación confiable.</a:t>
            </a:r>
          </a:p>
        </p:txBody>
      </p:sp>
    </p:spTree>
    <p:extLst>
      <p:ext uri="{BB962C8B-B14F-4D97-AF65-F5344CB8AC3E}">
        <p14:creationId xmlns:p14="http://schemas.microsoft.com/office/powerpoint/2010/main" val="20659943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7834C6-9730-4FA5-94B4-4D0E2BDD7427}"/>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Laboratorio de movilidad para planificar el servicio</a:t>
            </a:r>
          </a:p>
        </p:txBody>
      </p:sp>
      <p:sp>
        <p:nvSpPr>
          <p:cNvPr id="2" name="">
            <a:extLst xmlns:a="http://schemas.openxmlformats.org/drawingml/2006/main">
              <a:ext uri="{FF2B5EF4-FFF2-40B4-BE49-F238E27FC236}">
                <a16:creationId xmlns:a16="http://schemas.microsoft.com/office/drawing/2014/main" id="{FB959449-64B4-446E-A9D0-B0104344F2AB}"/>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55D8117E-8C84-46F3-98CE-736AC4C61EB0}"/>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F732A74F-60E7-4869-991C-A03EA2968343}"/>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B7118F06-BC59-4217-AF9F-E4AFEBF6A995}"/>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140B1472-FC1E-4F0A-A7AC-E7DB28399A31}"/>
              </a:ext>
            </a:extLst>
          </p:cNvPr>
          <p:cNvSpPr>
            <a:spLocks xmlns:a="http://schemas.openxmlformats.org/drawingml/2006/main" noGrp="1"/>
          </p:cNvSpPr>
          <p:nvPr/>
        </p:nvSpPr>
        <p:spPr>
          <a:xfrm xmlns:a="http://schemas.openxmlformats.org/drawingml/2006/main">
            <a:off x="571500"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La municipalidad y las empresas pueden contrastar una ruta base con una alternativa antes de llevarla a campo.</a:t>
            </a:r>
          </a:p>
        </p:txBody>
      </p:sp>
      <p:graphicFrame>
        <p:nvGraphicFramePr>
          <p:cNvPr id="15" name=""/>
          <p:cNvGraphicFramePr/>
          <p:nvPr/>
        </p:nvGraphicFramePr>
        <p:xfrm>
          <a:off xmlns:a="http://schemas.openxmlformats.org/drawingml/2006/main" x="571500" y="2124075"/>
          <a:ext xmlns:a="http://schemas.openxmlformats.org/drawingml/2006/main" cx="11010900" cy="3333750"/>
        </p:xfrm>
        <a:graphic xmlns:a="http://schemas.openxmlformats.org/drawingml/2006/main">
          <a:graphicData uri="http://schemas.openxmlformats.org/drawingml/2006/table">
            <a:tbl>
              <a:tblPr/>
              <a:tblGrid>
                <a:gridCol w="2552700"/>
                <a:gridCol w="5238750"/>
                <a:gridCol w="3219450"/>
              </a:tblGrid>
              <a:tr h="555625">
                <a:tc>
                  <a:txBody>
                    <a:bodyPr wrap="square" lIns="76200" tIns="47625" rIns="66675" bIns="47625">
                      <a:normAutofit/>
                    </a:bodyPr>
                    <a:lstStyle/>
                    <a:p>
                      <a:r>
                        <a:rPr sz="1125" b="1">
                          <a:solidFill>
                            <a:srgbClr val="FFFFFF"/>
                          </a:solidFill>
                          <a:latin typeface="Aptos"/>
                          <a:ea typeface="Aptos"/>
                          <a:cs typeface="Aptos"/>
                        </a:rPr>
                        <a:t>Módulo disponible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Qué puede probar el equipo técnico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Resultado</a:t>
                      </a:r>
                    </a:p>
                  </a:txBody>
                  <a:tcPr marL="91440" marR="91440" marT="45720" marB="45720" anchor="ctr">
                    <a:solidFill>
                      <a:srgbClr val="17202B"/>
                    </a:solidFill>
                  </a:tcPr>
                </a:tc>
              </a:tr>
              <a:tr h="555625">
                <a:tc>
                  <a:txBody>
                    <a:bodyPr wrap="square" lIns="76200" tIns="47625" rIns="66675" bIns="47625">
                      <a:normAutofit/>
                    </a:bodyPr>
                    <a:lstStyle/>
                    <a:p>
                      <a:r>
                        <a:rPr sz="1200" b="0">
                          <a:solidFill>
                            <a:srgbClr val="20252C"/>
                          </a:solidFill>
                          <a:latin typeface="Aptos"/>
                          <a:ea typeface="Aptos"/>
                          <a:cs typeface="Aptos"/>
                        </a:rPr>
                        <a:t>Fuentes y calidad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Revisar censo, PDU, vacíos y discrepancias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Inventario trazable</a:t>
                      </a:r>
                    </a:p>
                  </a:txBody>
                  <a:tcPr marL="91440" marR="91440" marT="45720" marB="45720" anchor="ctr">
                    <a:solidFill>
                      <a:srgbClr val="FFFFFF"/>
                    </a:solidFill>
                  </a:tcPr>
                </a:tc>
              </a:tr>
              <a:tr h="555625">
                <a:tc>
                  <a:txBody>
                    <a:bodyPr wrap="square" lIns="76200" tIns="47625" rIns="66675" bIns="47625">
                      <a:normAutofit/>
                    </a:bodyPr>
                    <a:lstStyle/>
                    <a:p>
                      <a:r>
                        <a:rPr sz="1200" b="0">
                          <a:solidFill>
                            <a:srgbClr val="20252C"/>
                          </a:solidFill>
                          <a:latin typeface="Aptos"/>
                          <a:ea typeface="Aptos"/>
                          <a:cs typeface="Aptos"/>
                        </a:rPr>
                        <a:t>Destinos y calendario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Ubicar accesos, horarios, ferias y afectaciones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Escenario por día y franja</a:t>
                      </a:r>
                    </a:p>
                  </a:txBody>
                  <a:tcPr marL="91440" marR="91440" marT="45720" marB="45720" anchor="ctr">
                    <a:solidFill>
                      <a:srgbClr val="F5F6F8"/>
                    </a:solidFill>
                  </a:tcPr>
                </a:tc>
              </a:tr>
              <a:tr h="555625">
                <a:tc>
                  <a:txBody>
                    <a:bodyPr wrap="square" lIns="76200" tIns="47625" rIns="66675" bIns="47625">
                      <a:normAutofit/>
                    </a:bodyPr>
                    <a:lstStyle/>
                    <a:p>
                      <a:r>
                        <a:rPr sz="1200" b="0">
                          <a:solidFill>
                            <a:srgbClr val="20252C"/>
                          </a:solidFill>
                          <a:latin typeface="Aptos"/>
                          <a:ea typeface="Aptos"/>
                          <a:cs typeface="Aptos"/>
                        </a:rPr>
                        <a:t>Comparar propuestas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Cambiar trazado o intervalo con la flota disponible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Acceso, tiempo, capacidad y costo</a:t>
                      </a:r>
                    </a:p>
                  </a:txBody>
                  <a:tcPr marL="91440" marR="91440" marT="45720" marB="45720" anchor="ctr">
                    <a:solidFill>
                      <a:srgbClr val="FFFFFF"/>
                    </a:solidFill>
                  </a:tcPr>
                </a:tc>
              </a:tr>
              <a:tr h="555625">
                <a:tc>
                  <a:txBody>
                    <a:bodyPr wrap="square" lIns="76200" tIns="47625" rIns="66675" bIns="47625">
                      <a:normAutofit/>
                    </a:bodyPr>
                    <a:lstStyle/>
                    <a:p>
                      <a:r>
                        <a:rPr sz="1200" b="0">
                          <a:solidFill>
                            <a:srgbClr val="20252C"/>
                          </a:solidFill>
                          <a:latin typeface="Aptos"/>
                          <a:ea typeface="Aptos"/>
                          <a:cs typeface="Aptos"/>
                        </a:rPr>
                        <a:t>Observaciones de campo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Registrar ascensos, ciclos e intervalos medidos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Sustituir supuestos por evidencia</a:t>
                      </a:r>
                    </a:p>
                  </a:txBody>
                  <a:tcPr marL="91440" marR="91440" marT="45720" marB="45720" anchor="ctr">
                    <a:solidFill>
                      <a:srgbClr val="F5F6F8"/>
                    </a:solidFill>
                  </a:tcPr>
                </a:tc>
              </a:tr>
              <a:tr h="555625">
                <a:tc>
                  <a:txBody>
                    <a:bodyPr wrap="square" lIns="76200" tIns="47625" rIns="66675" bIns="47625">
                      <a:normAutofit/>
                    </a:bodyPr>
                    <a:lstStyle/>
                    <a:p>
                      <a:r>
                        <a:rPr sz="1200" b="0">
                          <a:solidFill>
                            <a:srgbClr val="20252C"/>
                          </a:solidFill>
                          <a:latin typeface="Aptos"/>
                          <a:ea typeface="Aptos"/>
                          <a:cs typeface="Aptos"/>
                        </a:rPr>
                        <a:t>Estudios y respaldo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Guardar parámetros y exportar resultados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Revisión reproducible</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B351F04-3866-4C86-A3FE-75142C1BF3A3}"/>
              </a:ext>
            </a:extLst>
          </p:cNvPr>
          <p:cNvSpPr>
            <a:spLocks xmlns:a="http://schemas.openxmlformats.org/drawingml/2006/main" noGrp="1"/>
          </p:cNvSpPr>
          <p:nvPr/>
        </p:nvSpPr>
        <p:spPr>
          <a:xfrm xmlns:a="http://schemas.openxmlformats.org/drawingml/2006/main">
            <a:off x="571500" y="571500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A9373D"/>
                </a:solidFill>
                <a:latin typeface="Aptos"/>
                <a:ea typeface="Aptos"/>
                <a:cs typeface="Aptos"/>
              </a:defRPr>
            </a:pPr>
            <a:r>
              <a:rPr sz="1425" b="1">
                <a:solidFill>
                  <a:srgbClr val="A9373D"/>
                </a:solidFill>
                <a:latin typeface="Aptos"/>
                <a:ea typeface="Aptos"/>
                <a:cs typeface="Aptos"/>
              </a:rPr>
              <a:t>El laboratorio estudia una línea base y una alternativa por vez. Todavía no optimiza toda la red de Juliaca.</a:t>
            </a:r>
          </a:p>
        </p:txBody>
      </p:sp>
    </p:spTree>
    <p:extLst>
      <p:ext uri="{BB962C8B-B14F-4D97-AF65-F5344CB8AC3E}">
        <p14:creationId xmlns:p14="http://schemas.microsoft.com/office/powerpoint/2010/main" val="10948430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DC5D5F-CEEE-44CC-AB88-0676DD5CF2A1}"/>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Frecuencia, flota y capacidad: el cálculo básico</a:t>
            </a:r>
          </a:p>
        </p:txBody>
      </p:sp>
      <p:sp>
        <p:nvSpPr>
          <p:cNvPr id="2" name="">
            <a:extLst xmlns:a="http://schemas.openxmlformats.org/drawingml/2006/main">
              <a:ext uri="{FF2B5EF4-FFF2-40B4-BE49-F238E27FC236}">
                <a16:creationId xmlns:a16="http://schemas.microsoft.com/office/drawing/2014/main" id="{428936F2-C0B9-4212-A078-B723DE34079A}"/>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14</a:t>
            </a:r>
          </a:p>
        </p:txBody>
      </p:sp>
      <p:sp>
        <p:nvSpPr>
          <p:cNvPr id="3" name="">
            <a:extLst xmlns:a="http://schemas.openxmlformats.org/drawingml/2006/main">
              <a:ext uri="{FF2B5EF4-FFF2-40B4-BE49-F238E27FC236}">
                <a16:creationId xmlns:a16="http://schemas.microsoft.com/office/drawing/2014/main" id="{E6152666-9F95-4B2D-8BC2-0F90B15DCC49}"/>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3C88734C-7582-40FF-9308-D0908C5928BF}"/>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71118DA0-47DC-4897-A87C-E6FFAAA0AD5F}"/>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4" name=""/>
          <p:cNvGraphicFramePr/>
          <p:nvPr/>
        </p:nvGraphicFramePr>
        <p:xfrm>
          <a:off xmlns:a="http://schemas.openxmlformats.org/drawingml/2006/main" x="571500" y="1466850"/>
          <a:ext xmlns:a="http://schemas.openxmlformats.org/drawingml/2006/main" cx="11010900" cy="2895600"/>
        </p:xfrm>
        <a:graphic xmlns:a="http://schemas.openxmlformats.org/drawingml/2006/main">
          <a:graphicData uri="http://schemas.openxmlformats.org/drawingml/2006/table">
            <a:tbl>
              <a:tblPr/>
              <a:tblGrid>
                <a:gridCol w="2133600"/>
                <a:gridCol w="5000625"/>
                <a:gridCol w="3876675"/>
              </a:tblGrid>
              <a:tr h="723900">
                <a:tc>
                  <a:txBody>
                    <a:bodyPr wrap="square" lIns="76200" tIns="47625" rIns="66675" bIns="47625">
                      <a:normAutofit/>
                    </a:bodyPr>
                    <a:lstStyle/>
                    <a:p>
                      <a:r>
                        <a:rPr sz="1125" b="1">
                          <a:solidFill>
                            <a:srgbClr val="FFFFFF"/>
                          </a:solidFill>
                          <a:latin typeface="Aptos"/>
                          <a:ea typeface="Aptos"/>
                          <a:cs typeface="Aptos"/>
                        </a:rPr>
                        <a:t>Medida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Fórmula operativa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Ejemplo didáctico</a:t>
                      </a:r>
                    </a:p>
                  </a:txBody>
                  <a:tcPr marL="91440" marR="91440" marT="45720" marB="45720" anchor="ctr">
                    <a:solidFill>
                      <a:srgbClr val="17202B"/>
                    </a:solidFill>
                  </a:tcPr>
                </a:tc>
              </a:tr>
              <a:tr h="723900">
                <a:tc>
                  <a:txBody>
                    <a:bodyPr wrap="square" lIns="76200" tIns="47625" rIns="66675" bIns="47625">
                      <a:normAutofit/>
                    </a:bodyPr>
                    <a:lstStyle/>
                    <a:p>
                      <a:r>
                        <a:rPr sz="1200" b="0">
                          <a:solidFill>
                            <a:srgbClr val="20252C"/>
                          </a:solidFill>
                          <a:latin typeface="Aptos"/>
                          <a:ea typeface="Aptos"/>
                          <a:cs typeface="Aptos"/>
                        </a:rPr>
                        <a:t>Ciclo de ida y vuelta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(km ida + vuelta) / velocidad comercial × 60 + regulación + demora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13 km / 15 km/h × 60 + 10 min = 62 min</a:t>
                      </a:r>
                    </a:p>
                  </a:txBody>
                  <a:tcPr marL="91440" marR="91440" marT="45720" marB="45720" anchor="ctr">
                    <a:solidFill>
                      <a:srgbClr val="FFFFFF"/>
                    </a:solidFill>
                  </a:tcPr>
                </a:tc>
              </a:tr>
              <a:tr h="723900">
                <a:tc>
                  <a:txBody>
                    <a:bodyPr wrap="square" lIns="76200" tIns="47625" rIns="66675" bIns="47625">
                      <a:normAutofit/>
                    </a:bodyPr>
                    <a:lstStyle/>
                    <a:p>
                      <a:r>
                        <a:rPr sz="1200" b="0">
                          <a:solidFill>
                            <a:srgbClr val="20252C"/>
                          </a:solidFill>
                          <a:latin typeface="Aptos"/>
                          <a:ea typeface="Aptos"/>
                          <a:cs typeface="Aptos"/>
                        </a:rPr>
                        <a:t>Unidades necesarias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techo(ciclo / intervalo solicitado)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techo(62 / 8) = 8 vehículos</a:t>
                      </a:r>
                    </a:p>
                  </a:txBody>
                  <a:tcPr marL="91440" marR="91440" marT="45720" marB="45720" anchor="ctr">
                    <a:solidFill>
                      <a:srgbClr val="F5F6F8"/>
                    </a:solidFill>
                  </a:tcPr>
                </a:tc>
              </a:tr>
              <a:tr h="723900">
                <a:tc>
                  <a:txBody>
                    <a:bodyPr wrap="square" lIns="76200" tIns="47625" rIns="66675" bIns="47625">
                      <a:normAutofit/>
                    </a:bodyPr>
                    <a:lstStyle/>
                    <a:p>
                      <a:r>
                        <a:rPr sz="1200" b="0">
                          <a:solidFill>
                            <a:srgbClr val="20252C"/>
                          </a:solidFill>
                          <a:latin typeface="Aptos"/>
                          <a:ea typeface="Aptos"/>
                          <a:cs typeface="Aptos"/>
                        </a:rPr>
                        <a:t>Oferta por hora y sentido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60 / intervalo sostenible × capacidad habilitada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60 / 8 × 16 = 120 plazas/h</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1D124A7-E017-43E1-B047-F734B5CD4DEF}"/>
              </a:ext>
            </a:extLst>
          </p:cNvPr>
          <p:cNvSpPr>
            <a:spLocks xmlns:a="http://schemas.openxmlformats.org/drawingml/2006/main" noGrp="1"/>
          </p:cNvSpPr>
          <p:nvPr/>
        </p:nvSpPr>
        <p:spPr>
          <a:xfrm xmlns:a="http://schemas.openxmlformats.org/drawingml/2006/main">
            <a:off x="571500" y="4714875"/>
            <a:ext cx="10934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75CBA"/>
                </a:solidFill>
                <a:latin typeface="Aptos"/>
                <a:ea typeface="Aptos"/>
                <a:cs typeface="Aptos"/>
              </a:defRPr>
            </a:pPr>
            <a:r>
              <a:rPr sz="1725" b="1">
                <a:solidFill>
                  <a:srgbClr val="275CBA"/>
                </a:solidFill>
                <a:latin typeface="Aptos"/>
                <a:ea typeface="Aptos"/>
                <a:cs typeface="Aptos"/>
              </a:rPr>
              <a:t>Si la flota disponible no alcanza, Puriy calcula un intervalo sostenible mayor. No agrega vehículos imaginarios.</a:t>
            </a:r>
          </a:p>
        </p:txBody>
      </p:sp>
      <p:sp>
        <p:nvSpPr>
          <p:cNvPr id="8" name="">
            <a:extLst xmlns:a="http://schemas.openxmlformats.org/drawingml/2006/main">
              <a:ext uri="{FF2B5EF4-FFF2-40B4-BE49-F238E27FC236}">
                <a16:creationId xmlns:a16="http://schemas.microsoft.com/office/drawing/2014/main" id="{6A09F499-3A08-4F54-86E5-8EBE7E2873FE}"/>
              </a:ext>
            </a:extLst>
          </p:cNvPr>
          <p:cNvSpPr>
            <a:spLocks xmlns:a="http://schemas.openxmlformats.org/drawingml/2006/main" noGrp="1"/>
          </p:cNvSpPr>
          <p:nvPr/>
        </p:nvSpPr>
        <p:spPr>
          <a:xfrm xmlns:a="http://schemas.openxmlformats.org/drawingml/2006/main">
            <a:off x="571500" y="5562600"/>
            <a:ext cx="1093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9373D"/>
                </a:solidFill>
                <a:latin typeface="Aptos"/>
                <a:ea typeface="Aptos"/>
                <a:cs typeface="Aptos"/>
              </a:defRPr>
            </a:pPr>
            <a:r>
              <a:rPr sz="1425" b="0">
                <a:solidFill>
                  <a:srgbClr val="A9373D"/>
                </a:solidFill>
                <a:latin typeface="Aptos"/>
                <a:ea typeface="Aptos"/>
                <a:cs typeface="Aptos"/>
              </a:rPr>
              <a:t>El PDU no entrega una frecuencia confiable para cada línea urbana. El piloto debe medir intervalos por sentido, día y hora.</a:t>
            </a:r>
          </a:p>
        </p:txBody>
      </p:sp>
    </p:spTree>
    <p:extLst>
      <p:ext uri="{BB962C8B-B14F-4D97-AF65-F5344CB8AC3E}">
        <p14:creationId xmlns:p14="http://schemas.microsoft.com/office/powerpoint/2010/main" val="15677910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4E3CC8-ABE6-4A95-B760-886FA1CB9493}"/>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se juzga una ruta alternativa</a:t>
            </a:r>
          </a:p>
        </p:txBody>
      </p:sp>
      <p:sp>
        <p:nvSpPr>
          <p:cNvPr id="2" name="">
            <a:extLst xmlns:a="http://schemas.openxmlformats.org/drawingml/2006/main">
              <a:ext uri="{FF2B5EF4-FFF2-40B4-BE49-F238E27FC236}">
                <a16:creationId xmlns:a16="http://schemas.microsoft.com/office/drawing/2014/main" id="{EFCE4520-DC1F-43AE-92FD-8D0DD29DC7A2}"/>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15</a:t>
            </a:r>
          </a:p>
        </p:txBody>
      </p:sp>
      <p:sp>
        <p:nvSpPr>
          <p:cNvPr id="3" name="">
            <a:extLst xmlns:a="http://schemas.openxmlformats.org/drawingml/2006/main">
              <a:ext uri="{FF2B5EF4-FFF2-40B4-BE49-F238E27FC236}">
                <a16:creationId xmlns:a16="http://schemas.microsoft.com/office/drawing/2014/main" id="{75E984B0-80DD-471C-9B11-4E32D8EBA19A}"/>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0BB5BE4F-2ED9-48A4-A175-FA30B504CD6F}"/>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CE1AC7BC-5DDD-4E15-9A3F-8DFA3697DD64}"/>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3D6CE168-B2B7-4857-8840-E5E8487ED6EF}"/>
              </a:ext>
            </a:extLst>
          </p:cNvPr>
          <p:cNvSpPr>
            <a:spLocks xmlns:a="http://schemas.openxmlformats.org/drawingml/2006/main" noGrp="1"/>
          </p:cNvSpPr>
          <p:nvPr/>
        </p:nvSpPr>
        <p:spPr>
          <a:xfrm xmlns:a="http://schemas.openxmlformats.org/drawingml/2006/main">
            <a:off x="571500" y="1247775"/>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Una propuesta debe mejorar acceso sin ocultar costos ni barrios perjudicados.</a:t>
            </a:r>
          </a:p>
        </p:txBody>
      </p:sp>
      <p:graphicFrame>
        <p:nvGraphicFramePr>
          <p:cNvPr id="15" name=""/>
          <p:cNvGraphicFramePr/>
          <p:nvPr/>
        </p:nvGraphicFramePr>
        <p:xfrm>
          <a:off xmlns:a="http://schemas.openxmlformats.org/drawingml/2006/main" x="571500" y="2190750"/>
          <a:ext xmlns:a="http://schemas.openxmlformats.org/drawingml/2006/main" cx="11010900" cy="3019425"/>
        </p:xfrm>
        <a:graphic xmlns:a="http://schemas.openxmlformats.org/drawingml/2006/main">
          <a:graphicData uri="http://schemas.openxmlformats.org/drawingml/2006/table">
            <a:tbl>
              <a:tblPr/>
              <a:tblGrid>
                <a:gridCol w="2952750"/>
                <a:gridCol w="2238375"/>
                <a:gridCol w="2486025"/>
                <a:gridCol w="3333750"/>
              </a:tblGrid>
              <a:tr h="603885">
                <a:tc>
                  <a:txBody>
                    <a:bodyPr wrap="square" lIns="76200" tIns="47625" rIns="66675" bIns="47625">
                      <a:normAutofit/>
                    </a:bodyPr>
                    <a:lstStyle/>
                    <a:p>
                      <a:r>
                        <a:rPr sz="1125" b="1">
                          <a:solidFill>
                            <a:srgbClr val="FFFFFF"/>
                          </a:solidFill>
                          <a:latin typeface="Aptos"/>
                          <a:ea typeface="Aptos"/>
                          <a:cs typeface="Aptos"/>
                        </a:rPr>
                        <a:t>Pregunta de comparación</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Ruta base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Ruta propuesta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Condición de decisión</a:t>
                      </a:r>
                    </a:p>
                  </a:txBody>
                  <a:tcPr marL="91440" marR="91440" marT="45720" marB="45720" anchor="ctr">
                    <a:solidFill>
                      <a:srgbClr val="17202B"/>
                    </a:solidFill>
                  </a:tcPr>
                </a:tc>
              </a:tr>
              <a:tr h="603885">
                <a:tc>
                  <a:txBody>
                    <a:bodyPr wrap="square" lIns="76200" tIns="47625" rIns="66675" bIns="47625">
                      <a:normAutofit/>
                    </a:bodyPr>
                    <a:lstStyle/>
                    <a:p>
                      <a:r>
                        <a:rPr sz="1200" b="0">
                          <a:solidFill>
                            <a:srgbClr val="20252C"/>
                          </a:solidFill>
                          <a:latin typeface="Aptos"/>
                          <a:ea typeface="Aptos"/>
                          <a:cs typeface="Aptos"/>
                        </a:rPr>
                        <a:t>¿A cuántas personas acerca a un abordaje?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Cobertura inicial</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Ganancias y pérdidas por manzana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No desplazar el problema a otro barrio</a:t>
                      </a:r>
                    </a:p>
                  </a:txBody>
                  <a:tcPr marL="91440" marR="91440" marT="45720" marB="45720" anchor="ctr">
                    <a:solidFill>
                      <a:srgbClr val="FFFFFF"/>
                    </a:solidFill>
                  </a:tcPr>
                </a:tc>
              </a:tr>
              <a:tr h="603885">
                <a:tc>
                  <a:txBody>
                    <a:bodyPr wrap="square" lIns="76200" tIns="47625" rIns="66675" bIns="47625">
                      <a:normAutofit/>
                    </a:bodyPr>
                    <a:lstStyle/>
                    <a:p>
                      <a:r>
                        <a:rPr sz="1200" b="0">
                          <a:solidFill>
                            <a:srgbClr val="20252C"/>
                          </a:solidFill>
                          <a:latin typeface="Aptos"/>
                          <a:ea typeface="Aptos"/>
                          <a:cs typeface="Aptos"/>
                        </a:rPr>
                        <a:t>¿Cuántos vehículos necesita?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Flota y ciclo actual</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Ciclo con desvío e intervalo sostenible</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Respetar flota disponible y reserva</a:t>
                      </a:r>
                    </a:p>
                  </a:txBody>
                  <a:tcPr marL="91440" marR="91440" marT="45720" marB="45720" anchor="ctr">
                    <a:solidFill>
                      <a:srgbClr val="F5F6F8"/>
                    </a:solidFill>
                  </a:tcPr>
                </a:tc>
              </a:tr>
              <a:tr h="603885">
                <a:tc>
                  <a:txBody>
                    <a:bodyPr wrap="square" lIns="76200" tIns="47625" rIns="66675" bIns="47625">
                      <a:normAutofit/>
                    </a:bodyPr>
                    <a:lstStyle/>
                    <a:p>
                      <a:r>
                        <a:rPr sz="1200" b="0">
                          <a:solidFill>
                            <a:srgbClr val="20252C"/>
                          </a:solidFill>
                          <a:latin typeface="Aptos"/>
                          <a:ea typeface="Aptos"/>
                          <a:cs typeface="Aptos"/>
                        </a:rPr>
                        <a:t>¿Qué pasa con el pasajero?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Caminata, espera y viaje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Nuevo tiempo puerta a puerta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Comprobar destino y sentido correcto</a:t>
                      </a:r>
                    </a:p>
                  </a:txBody>
                  <a:tcPr marL="91440" marR="91440" marT="45720" marB="45720" anchor="ctr">
                    <a:solidFill>
                      <a:srgbClr val="FFFFFF"/>
                    </a:solidFill>
                  </a:tcPr>
                </a:tc>
              </a:tr>
              <a:tr h="603885">
                <a:tc>
                  <a:txBody>
                    <a:bodyPr wrap="square" lIns="76200" tIns="47625" rIns="66675" bIns="47625">
                      <a:normAutofit/>
                    </a:bodyPr>
                    <a:lstStyle/>
                    <a:p>
                      <a:r>
                        <a:rPr sz="1200" b="0">
                          <a:solidFill>
                            <a:srgbClr val="20252C"/>
                          </a:solidFill>
                          <a:latin typeface="Aptos"/>
                          <a:ea typeface="Aptos"/>
                          <a:cs typeface="Aptos"/>
                        </a:rPr>
                        <a:t>¿Cuánto cuesta operar?</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Vehículo-km y horas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Diferencia de costo por hora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Cotizar y acordar con el operador</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FC9B9984-78B1-4E33-AA9E-D8F1158475AE}"/>
              </a:ext>
            </a:extLst>
          </p:cNvPr>
          <p:cNvSpPr>
            <a:spLocks xmlns:a="http://schemas.openxmlformats.org/drawingml/2006/main" noGrp="1"/>
          </p:cNvSpPr>
          <p:nvPr/>
        </p:nvSpPr>
        <p:spPr>
          <a:xfrm xmlns:a="http://schemas.openxmlformats.org/drawingml/2006/main">
            <a:off x="571500" y="55245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El editor puede generar un desvío candidato hacia un destino o una manzana. La calle y los giros se revisan en campo.</a:t>
            </a:r>
          </a:p>
        </p:txBody>
      </p:sp>
    </p:spTree>
    <p:extLst>
      <p:ext uri="{BB962C8B-B14F-4D97-AF65-F5344CB8AC3E}">
        <p14:creationId xmlns:p14="http://schemas.microsoft.com/office/powerpoint/2010/main" val="183070819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494C3E-F74C-497C-AEF1-B3C65A338166}"/>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GPS para detectar congestión por tramo</a:t>
            </a:r>
          </a:p>
        </p:txBody>
      </p:sp>
      <p:sp>
        <p:nvSpPr>
          <p:cNvPr id="2" name="">
            <a:extLst xmlns:a="http://schemas.openxmlformats.org/drawingml/2006/main">
              <a:ext uri="{FF2B5EF4-FFF2-40B4-BE49-F238E27FC236}">
                <a16:creationId xmlns:a16="http://schemas.microsoft.com/office/drawing/2014/main" id="{BBE00B3F-AA24-40D5-9571-9C261880117C}"/>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16</a:t>
            </a:r>
          </a:p>
        </p:txBody>
      </p:sp>
      <p:sp>
        <p:nvSpPr>
          <p:cNvPr id="3" name="">
            <a:extLst xmlns:a="http://schemas.openxmlformats.org/drawingml/2006/main">
              <a:ext uri="{FF2B5EF4-FFF2-40B4-BE49-F238E27FC236}">
                <a16:creationId xmlns:a16="http://schemas.microsoft.com/office/drawing/2014/main" id="{82782C60-57DB-4FC0-B948-CCABC7184AFF}"/>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541354D3-441E-4EC9-A7CD-BA67770294E3}"/>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2C227829-AFBC-4217-BE97-319961B63411}"/>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4" name=""/>
          <p:cNvGraphicFramePr/>
          <p:nvPr/>
        </p:nvGraphicFramePr>
        <p:xfrm>
          <a:off xmlns:a="http://schemas.openxmlformats.org/drawingml/2006/main" x="571500" y="1295400"/>
          <a:ext xmlns:a="http://schemas.openxmlformats.org/drawingml/2006/main" cx="11010900" cy="3657600"/>
        </p:xfrm>
        <a:graphic xmlns:a="http://schemas.openxmlformats.org/drawingml/2006/main">
          <a:graphicData uri="http://schemas.openxmlformats.org/drawingml/2006/table">
            <a:tbl>
              <a:tblPr/>
              <a:tblGrid>
                <a:gridCol w="2466975"/>
                <a:gridCol w="4314825"/>
                <a:gridCol w="4229100"/>
              </a:tblGrid>
              <a:tr h="609600">
                <a:tc>
                  <a:txBody>
                    <a:bodyPr wrap="square" lIns="76200" tIns="47625" rIns="66675" bIns="47625">
                      <a:normAutofit/>
                    </a:bodyPr>
                    <a:lstStyle/>
                    <a:p>
                      <a:r>
                        <a:rPr sz="1125" b="1">
                          <a:solidFill>
                            <a:srgbClr val="FFFFFF"/>
                          </a:solidFill>
                          <a:latin typeface="Aptos"/>
                          <a:ea typeface="Aptos"/>
                          <a:cs typeface="Aptos"/>
                        </a:rPr>
                        <a:t>Etapa futura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Cálculo o control</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Por qué importa</a:t>
                      </a:r>
                    </a:p>
                  </a:txBody>
                  <a:tcPr marL="91440" marR="91440" marT="45720" marB="45720" anchor="ctr">
                    <a:solidFill>
                      <a:srgbClr val="17202B"/>
                    </a:solidFill>
                  </a:tcPr>
                </a:tc>
              </a:tr>
              <a:tr h="609600">
                <a:tc>
                  <a:txBody>
                    <a:bodyPr wrap="square" lIns="76200" tIns="47625" rIns="66675" bIns="47625">
                      <a:normAutofit/>
                    </a:bodyPr>
                    <a:lstStyle/>
                    <a:p>
                      <a:r>
                        <a:rPr sz="1200" b="0">
                          <a:solidFill>
                            <a:srgbClr val="20252C"/>
                          </a:solidFill>
                          <a:latin typeface="Aptos"/>
                          <a:ea typeface="Aptos"/>
                          <a:cs typeface="Aptos"/>
                        </a:rPr>
                        <a:t>Segmentar</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Tramos cortos, por ejemplo 100 m</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Localizar el problema en vez de pintar toda la ruta</a:t>
                      </a:r>
                    </a:p>
                  </a:txBody>
                  <a:tcPr marL="91440" marR="91440" marT="45720" marB="45720" anchor="ctr">
                    <a:solidFill>
                      <a:srgbClr val="FFFFFF"/>
                    </a:solidFill>
                  </a:tcPr>
                </a:tc>
              </a:tr>
              <a:tr h="609600">
                <a:tc>
                  <a:txBody>
                    <a:bodyPr wrap="square" lIns="76200" tIns="47625" rIns="66675" bIns="47625">
                      <a:normAutofit/>
                    </a:bodyPr>
                    <a:lstStyle/>
                    <a:p>
                      <a:r>
                        <a:rPr sz="1200" b="0">
                          <a:solidFill>
                            <a:srgbClr val="20252C"/>
                          </a:solidFill>
                          <a:latin typeface="Aptos"/>
                          <a:ea typeface="Aptos"/>
                          <a:cs typeface="Aptos"/>
                        </a:rPr>
                        <a:t>Construir referencia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Mediana de velocidad por día de semana y hora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Comparar lunes con lunes, hora con hora</a:t>
                      </a:r>
                    </a:p>
                  </a:txBody>
                  <a:tcPr marL="91440" marR="91440" marT="45720" marB="45720" anchor="ctr">
                    <a:solidFill>
                      <a:srgbClr val="F5F6F8"/>
                    </a:solidFill>
                  </a:tcPr>
                </a:tc>
              </a:tr>
              <a:tr h="609600">
                <a:tc>
                  <a:txBody>
                    <a:bodyPr wrap="square" lIns="76200" tIns="47625" rIns="66675" bIns="47625">
                      <a:normAutofit/>
                    </a:bodyPr>
                    <a:lstStyle/>
                    <a:p>
                      <a:r>
                        <a:rPr sz="1200" b="0">
                          <a:solidFill>
                            <a:srgbClr val="20252C"/>
                          </a:solidFill>
                          <a:latin typeface="Aptos"/>
                          <a:ea typeface="Aptos"/>
                          <a:cs typeface="Aptos"/>
                        </a:rPr>
                        <a:t>Observar GPS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Posiciones recientes asignadas a la calle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Evitar saltos, registros antiguos y sentidos erróneos</a:t>
                      </a:r>
                    </a:p>
                  </a:txBody>
                  <a:tcPr marL="91440" marR="91440" marT="45720" marB="45720" anchor="ctr">
                    <a:solidFill>
                      <a:srgbClr val="FFFFFF"/>
                    </a:solidFill>
                  </a:tcPr>
                </a:tc>
              </a:tr>
              <a:tr h="609600">
                <a:tc>
                  <a:txBody>
                    <a:bodyPr wrap="square" lIns="76200" tIns="47625" rIns="66675" bIns="47625">
                      <a:normAutofit/>
                    </a:bodyPr>
                    <a:lstStyle/>
                    <a:p>
                      <a:r>
                        <a:rPr sz="1200" b="0">
                          <a:solidFill>
                            <a:srgbClr val="20252C"/>
                          </a:solidFill>
                          <a:latin typeface="Aptos"/>
                          <a:ea typeface="Aptos"/>
                          <a:cs typeface="Aptos"/>
                        </a:rPr>
                        <a:t>Confirmar anomalía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Varias unidades y suficientes muestras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Una unidad lenta no demuestra congestión</a:t>
                      </a:r>
                    </a:p>
                  </a:txBody>
                  <a:tcPr marL="91440" marR="91440" marT="45720" marB="45720" anchor="ctr">
                    <a:solidFill>
                      <a:srgbClr val="F5F6F8"/>
                    </a:solidFill>
                  </a:tcPr>
                </a:tc>
              </a:tr>
              <a:tr h="609600">
                <a:tc>
                  <a:txBody>
                    <a:bodyPr wrap="square" lIns="76200" tIns="47625" rIns="66675" bIns="47625">
                      <a:normAutofit/>
                    </a:bodyPr>
                    <a:lstStyle/>
                    <a:p>
                      <a:r>
                        <a:rPr sz="1200" b="0">
                          <a:solidFill>
                            <a:srgbClr val="20252C"/>
                          </a:solidFill>
                          <a:latin typeface="Aptos"/>
                          <a:ea typeface="Aptos"/>
                          <a:cs typeface="Aptos"/>
                        </a:rPr>
                        <a:t>Evaluar desvío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Tiempo, cobertura, capacidad y calles permitidas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No trasladar la congestión a otra zona</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D018724-D2E9-4F7F-980A-5B6C0EBD9D91}"/>
              </a:ext>
            </a:extLst>
          </p:cNvPr>
          <p:cNvSpPr>
            <a:spLocks xmlns:a="http://schemas.openxmlformats.org/drawingml/2006/main" noGrp="1"/>
          </p:cNvSpPr>
          <p:nvPr/>
        </p:nvSpPr>
        <p:spPr>
          <a:xfrm xmlns:a="http://schemas.openxmlformats.org/drawingml/2006/main">
            <a:off x="571500" y="5172075"/>
            <a:ext cx="1090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75CBA"/>
                </a:solidFill>
                <a:latin typeface="Aptos"/>
                <a:ea typeface="Aptos"/>
                <a:cs typeface="Aptos"/>
              </a:defRPr>
            </a:pPr>
            <a:r>
              <a:rPr sz="1725" b="1">
                <a:solidFill>
                  <a:srgbClr val="275CBA"/>
                </a:solidFill>
                <a:latin typeface="Aptos"/>
                <a:ea typeface="Aptos"/>
                <a:cs typeface="Aptos"/>
              </a:rPr>
              <a:t>Ejemplo: velocidad habitual 25 km/h; mediana reciente 10 km/h = 40 % de la habitual.</a:t>
            </a:r>
          </a:p>
        </p:txBody>
      </p:sp>
      <p:sp>
        <p:nvSpPr>
          <p:cNvPr id="8" name="">
            <a:extLst xmlns:a="http://schemas.openxmlformats.org/drawingml/2006/main">
              <a:ext uri="{FF2B5EF4-FFF2-40B4-BE49-F238E27FC236}">
                <a16:creationId xmlns:a16="http://schemas.microsoft.com/office/drawing/2014/main" id="{EA6C0F11-478D-4EF6-AED2-4B2F9865752C}"/>
              </a:ext>
            </a:extLst>
          </p:cNvPr>
          <p:cNvSpPr>
            <a:spLocks xmlns:a="http://schemas.openxmlformats.org/drawingml/2006/main" noGrp="1"/>
          </p:cNvSpPr>
          <p:nvPr/>
        </p:nvSpPr>
        <p:spPr>
          <a:xfrm xmlns:a="http://schemas.openxmlformats.org/drawingml/2006/main">
            <a:off x="571500" y="580072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9373D"/>
                </a:solidFill>
                <a:latin typeface="Aptos"/>
                <a:ea typeface="Aptos"/>
                <a:cs typeface="Aptos"/>
              </a:defRPr>
            </a:pPr>
            <a:r>
              <a:rPr sz="1425" b="0">
                <a:solidFill>
                  <a:srgbClr val="A9373D"/>
                </a:solidFill>
                <a:latin typeface="Aptos"/>
                <a:ea typeface="Aptos"/>
                <a:cs typeface="Aptos"/>
              </a:rPr>
              <a:t>Es un ejemplo, no una medición de Juliaca. El GPS real de operadores aún no alimenta este indicador.</a:t>
            </a:r>
          </a:p>
        </p:txBody>
      </p:sp>
    </p:spTree>
    <p:extLst>
      <p:ext uri="{BB962C8B-B14F-4D97-AF65-F5344CB8AC3E}">
        <p14:creationId xmlns:p14="http://schemas.microsoft.com/office/powerpoint/2010/main" val="19475707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5C971E-B2CA-45B0-B300-3F545FFBF930}"/>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El servicio cambia según día, hora y uso de la vía</a:t>
            </a:r>
          </a:p>
        </p:txBody>
      </p:sp>
      <p:sp>
        <p:nvSpPr>
          <p:cNvPr id="2" name="">
            <a:extLst xmlns:a="http://schemas.openxmlformats.org/drawingml/2006/main">
              <a:ext uri="{FF2B5EF4-FFF2-40B4-BE49-F238E27FC236}">
                <a16:creationId xmlns:a16="http://schemas.microsoft.com/office/drawing/2014/main" id="{B770940B-F149-4FD4-B9EB-2C724D466E02}"/>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17</a:t>
            </a:r>
          </a:p>
        </p:txBody>
      </p:sp>
      <p:sp>
        <p:nvSpPr>
          <p:cNvPr id="3" name="">
            <a:extLst xmlns:a="http://schemas.openxmlformats.org/drawingml/2006/main">
              <a:ext uri="{FF2B5EF4-FFF2-40B4-BE49-F238E27FC236}">
                <a16:creationId xmlns:a16="http://schemas.microsoft.com/office/drawing/2014/main" id="{A36095F6-E63A-48E7-90F3-09418C0652CA}"/>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F3115C65-DF36-44D2-8B57-64ED5DFF00C3}"/>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9F22E389-D492-4983-BF15-B4C338C45869}"/>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5250C988-522F-4D32-9152-FA391E8A2D53}"/>
              </a:ext>
            </a:extLst>
          </p:cNvPr>
          <p:cNvSpPr>
            <a:spLocks xmlns:a="http://schemas.openxmlformats.org/drawingml/2006/main" noGrp="1"/>
          </p:cNvSpPr>
          <p:nvPr/>
        </p:nvSpPr>
        <p:spPr>
          <a:xfrm xmlns:a="http://schemas.openxmlformats.org/drawingml/2006/main">
            <a:off x="571500" y="1257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Un intervalo útil a las 07:00 puede ser excesivo o insuficiente en otra franja. Ferias, cierres y semáforos modifican el tiempo de viaje.</a:t>
            </a:r>
          </a:p>
        </p:txBody>
      </p:sp>
      <p:graphicFrame>
        <p:nvGraphicFramePr>
          <p:cNvPr id="15" name=""/>
          <p:cNvGraphicFramePr/>
          <p:nvPr/>
        </p:nvGraphicFramePr>
        <p:xfrm>
          <a:off xmlns:a="http://schemas.openxmlformats.org/drawingml/2006/main" x="571500" y="2343150"/>
          <a:ext xmlns:a="http://schemas.openxmlformats.org/drawingml/2006/main" cx="11010900" cy="2771775"/>
        </p:xfrm>
        <a:graphic xmlns:a="http://schemas.openxmlformats.org/drawingml/2006/main">
          <a:graphicData uri="http://schemas.openxmlformats.org/drawingml/2006/table">
            <a:tbl>
              <a:tblPr/>
              <a:tblGrid>
                <a:gridCol w="2419350"/>
                <a:gridCol w="4800600"/>
                <a:gridCol w="3790950"/>
              </a:tblGrid>
              <a:tr h="554355">
                <a:tc>
                  <a:txBody>
                    <a:bodyPr wrap="square" lIns="76200" tIns="47625" rIns="66675" bIns="47625">
                      <a:normAutofit/>
                    </a:bodyPr>
                    <a:lstStyle/>
                    <a:p>
                      <a:r>
                        <a:rPr sz="1125" b="1">
                          <a:solidFill>
                            <a:srgbClr val="FFFFFF"/>
                          </a:solidFill>
                          <a:latin typeface="Aptos"/>
                          <a:ea typeface="Aptos"/>
                          <a:cs typeface="Aptos"/>
                        </a:rPr>
                        <a:t>Condición</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Dato documentado o disponible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Tratamiento en Puriy</a:t>
                      </a:r>
                    </a:p>
                  </a:txBody>
                  <a:tcPr marL="91440" marR="91440" marT="45720" marB="45720" anchor="ctr">
                    <a:solidFill>
                      <a:srgbClr val="17202B"/>
                    </a:solidFill>
                  </a:tcPr>
                </a:tc>
              </a:tr>
              <a:tr h="554355">
                <a:tc>
                  <a:txBody>
                    <a:bodyPr wrap="square" lIns="76200" tIns="47625" rIns="66675" bIns="47625">
                      <a:normAutofit/>
                    </a:bodyPr>
                    <a:lstStyle/>
                    <a:p>
                      <a:r>
                        <a:rPr sz="1200" b="0">
                          <a:solidFill>
                            <a:srgbClr val="20252C"/>
                          </a:solidFill>
                          <a:latin typeface="Aptos"/>
                          <a:ea typeface="Aptos"/>
                          <a:cs typeface="Aptos"/>
                        </a:rPr>
                        <a:t>Hora punta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PMUS: concentración alrededor de las 07:00</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Medir por día, sentido y franja</a:t>
                      </a:r>
                    </a:p>
                  </a:txBody>
                  <a:tcPr marL="91440" marR="91440" marT="45720" marB="45720" anchor="ctr">
                    <a:solidFill>
                      <a:srgbClr val="FFFFFF"/>
                    </a:solidFill>
                  </a:tcPr>
                </a:tc>
              </a:tr>
              <a:tr h="554355">
                <a:tc>
                  <a:txBody>
                    <a:bodyPr wrap="square" lIns="76200" tIns="47625" rIns="66675" bIns="47625">
                      <a:normAutofit/>
                    </a:bodyPr>
                    <a:lstStyle/>
                    <a:p>
                      <a:r>
                        <a:rPr sz="1200" b="0">
                          <a:solidFill>
                            <a:srgbClr val="20252C"/>
                          </a:solidFill>
                          <a:latin typeface="Aptos"/>
                          <a:ea typeface="Aptos"/>
                          <a:cs typeface="Aptos"/>
                        </a:rPr>
                        <a:t>Ocupación temporal de calles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PDU: 4,33 km lunes; 1,40 km sábados; 5,81 km domingos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Escenarios de calendario, sin sumar tramos solapados</a:t>
                      </a:r>
                    </a:p>
                  </a:txBody>
                  <a:tcPr marL="91440" marR="91440" marT="45720" marB="45720" anchor="ctr">
                    <a:solidFill>
                      <a:srgbClr val="F5F6F8"/>
                    </a:solidFill>
                  </a:tcPr>
                </a:tc>
              </a:tr>
              <a:tr h="554355">
                <a:tc>
                  <a:txBody>
                    <a:bodyPr wrap="square" lIns="76200" tIns="47625" rIns="66675" bIns="47625">
                      <a:normAutofit/>
                    </a:bodyPr>
                    <a:lstStyle/>
                    <a:p>
                      <a:r>
                        <a:rPr sz="1200" b="0">
                          <a:solidFill>
                            <a:srgbClr val="20252C"/>
                          </a:solidFill>
                          <a:latin typeface="Aptos"/>
                          <a:ea typeface="Aptos"/>
                          <a:cs typeface="Aptos"/>
                        </a:rPr>
                        <a:t>Semáforos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Inventario editable en la plataforma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Cruzar tiempos de ciclo y cola cuando haya medición</a:t>
                      </a:r>
                    </a:p>
                  </a:txBody>
                  <a:tcPr marL="91440" marR="91440" marT="45720" marB="45720" anchor="ctr">
                    <a:solidFill>
                      <a:srgbClr val="FFFFFF"/>
                    </a:solidFill>
                  </a:tcPr>
                </a:tc>
              </a:tr>
              <a:tr h="554355">
                <a:tc>
                  <a:txBody>
                    <a:bodyPr wrap="square" lIns="76200" tIns="47625" rIns="66675" bIns="47625">
                      <a:normAutofit/>
                    </a:bodyPr>
                    <a:lstStyle/>
                    <a:p>
                      <a:r>
                        <a:rPr sz="1200" b="0">
                          <a:solidFill>
                            <a:srgbClr val="20252C"/>
                          </a:solidFill>
                          <a:latin typeface="Aptos"/>
                          <a:ea typeface="Aptos"/>
                          <a:cs typeface="Aptos"/>
                        </a:rPr>
                        <a:t>Incidentes y obras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Registro futuro geolocalizado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Separar evento extraordinario del patrón habitual</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99AFDE2B-DBD7-4E21-B2D7-D79C83791EB3}"/>
              </a:ext>
            </a:extLst>
          </p:cNvPr>
          <p:cNvSpPr>
            <a:spLocks xmlns:a="http://schemas.openxmlformats.org/drawingml/2006/main" noGrp="1"/>
          </p:cNvSpPr>
          <p:nvPr/>
        </p:nvSpPr>
        <p:spPr>
          <a:xfrm xmlns:a="http://schemas.openxmlformats.org/drawingml/2006/main">
            <a:off x="571500" y="543877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El calendario ya permite añadir minutos al ciclo o suspender una línea en un escenario. Optimizar semáforos exige aforos y autorización municipal.</a:t>
            </a:r>
          </a:p>
        </p:txBody>
      </p:sp>
    </p:spTree>
    <p:extLst>
      <p:ext uri="{BB962C8B-B14F-4D97-AF65-F5344CB8AC3E}">
        <p14:creationId xmlns:p14="http://schemas.microsoft.com/office/powerpoint/2010/main" val="20098372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8B7137-70BB-446E-AC5D-A8D203CB5D27}"/>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Qué gana cada usuario de Puriy</a:t>
            </a:r>
          </a:p>
        </p:txBody>
      </p:sp>
      <p:sp>
        <p:nvSpPr>
          <p:cNvPr id="2" name="">
            <a:extLst xmlns:a="http://schemas.openxmlformats.org/drawingml/2006/main">
              <a:ext uri="{FF2B5EF4-FFF2-40B4-BE49-F238E27FC236}">
                <a16:creationId xmlns:a16="http://schemas.microsoft.com/office/drawing/2014/main" id="{9F955602-5D49-4484-88E8-85FE246C7717}"/>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18</a:t>
            </a:r>
          </a:p>
        </p:txBody>
      </p:sp>
      <p:sp>
        <p:nvSpPr>
          <p:cNvPr id="3" name="">
            <a:extLst xmlns:a="http://schemas.openxmlformats.org/drawingml/2006/main">
              <a:ext uri="{FF2B5EF4-FFF2-40B4-BE49-F238E27FC236}">
                <a16:creationId xmlns:a16="http://schemas.microsoft.com/office/drawing/2014/main" id="{D42E079C-A4B6-4292-8A6A-01BA2D5CD880}"/>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65139585-F1CA-47EB-A6D4-8E90F4839F4E}"/>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B56F42A3-8098-4181-A748-F6F0E7183350}"/>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62075"/>
          <a:ext xmlns:a="http://schemas.openxmlformats.org/drawingml/2006/main" cx="11010900" cy="3829050"/>
        </p:xfrm>
        <a:graphic xmlns:a="http://schemas.openxmlformats.org/drawingml/2006/main">
          <a:graphicData uri="http://schemas.openxmlformats.org/drawingml/2006/table">
            <a:tbl>
              <a:tblPr/>
              <a:tblGrid>
                <a:gridCol w="2428875"/>
                <a:gridCol w="5534025"/>
                <a:gridCol w="3048000"/>
              </a:tblGrid>
              <a:tr h="638175">
                <a:tc>
                  <a:txBody>
                    <a:bodyPr wrap="square" lIns="76200" tIns="47625" rIns="66675" bIns="47625">
                      <a:normAutofit/>
                    </a:bodyPr>
                    <a:lstStyle/>
                    <a:p>
                      <a:r>
                        <a:rPr sz="1125" b="1">
                          <a:solidFill>
                            <a:srgbClr val="FFFFFF"/>
                          </a:solidFill>
                          <a:latin typeface="Aptos"/>
                          <a:ea typeface="Aptos"/>
                          <a:cs typeface="Aptos"/>
                        </a:rPr>
                        <a:t>Usuario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Utilidad inmediata o en piloto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Indicador para comprobarla</a:t>
                      </a:r>
                    </a:p>
                  </a:txBody>
                  <a:tcPr marL="91440" marR="91440" marT="45720" marB="45720" anchor="ctr">
                    <a:solidFill>
                      <a:srgbClr val="17202B"/>
                    </a:solidFill>
                  </a:tcPr>
                </a:tc>
              </a:tr>
              <a:tr h="638175">
                <a:tc>
                  <a:txBody>
                    <a:bodyPr wrap="square" lIns="76200" tIns="47625" rIns="66675" bIns="47625">
                      <a:normAutofit/>
                    </a:bodyPr>
                    <a:lstStyle/>
                    <a:p>
                      <a:r>
                        <a:rPr sz="1200" b="0">
                          <a:solidFill>
                            <a:srgbClr val="20252C"/>
                          </a:solidFill>
                          <a:latin typeface="Aptos"/>
                          <a:ea typeface="Aptos"/>
                          <a:cs typeface="Aptos"/>
                        </a:rPr>
                        <a:t>Pasajero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Ubicar un recorrido verificado y comparar viaje completo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Tiempo puerta a puerta y espera medida</a:t>
                      </a:r>
                    </a:p>
                  </a:txBody>
                  <a:tcPr marL="91440" marR="91440" marT="45720" marB="45720" anchor="ctr">
                    <a:solidFill>
                      <a:srgbClr val="FFFFFF"/>
                    </a:solidFill>
                  </a:tcPr>
                </a:tc>
              </a:tr>
              <a:tr h="638175">
                <a:tc>
                  <a:txBody>
                    <a:bodyPr wrap="square" lIns="76200" tIns="47625" rIns="66675" bIns="47625">
                      <a:normAutofit/>
                    </a:bodyPr>
                    <a:lstStyle/>
                    <a:p>
                      <a:r>
                        <a:rPr sz="1200" b="0">
                          <a:solidFill>
                            <a:srgbClr val="20252C"/>
                          </a:solidFill>
                          <a:latin typeface="Aptos"/>
                          <a:ea typeface="Aptos"/>
                          <a:cs typeface="Aptos"/>
                        </a:rPr>
                        <a:t>Transportista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Ajustar intervalos a flota activa y demanda observada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Regularidad, ocupación y costo por hora</a:t>
                      </a:r>
                    </a:p>
                  </a:txBody>
                  <a:tcPr marL="91440" marR="91440" marT="45720" marB="45720" anchor="ctr">
                    <a:solidFill>
                      <a:srgbClr val="F5F6F8"/>
                    </a:solidFill>
                  </a:tcPr>
                </a:tc>
              </a:tr>
              <a:tr h="638175">
                <a:tc>
                  <a:txBody>
                    <a:bodyPr wrap="square" lIns="76200" tIns="47625" rIns="66675" bIns="47625">
                      <a:normAutofit/>
                    </a:bodyPr>
                    <a:lstStyle/>
                    <a:p>
                      <a:r>
                        <a:rPr sz="1200" b="0">
                          <a:solidFill>
                            <a:srgbClr val="20252C"/>
                          </a:solidFill>
                          <a:latin typeface="Aptos"/>
                          <a:ea typeface="Aptos"/>
                          <a:cs typeface="Aptos"/>
                        </a:rPr>
                        <a:t>Municipalidad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Ver cobertura, pérdidas de acceso y tramos anómalos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Población servida y zonas perjudicadas</a:t>
                      </a:r>
                    </a:p>
                  </a:txBody>
                  <a:tcPr marL="91440" marR="91440" marT="45720" marB="45720" anchor="ctr">
                    <a:solidFill>
                      <a:srgbClr val="FFFFFF"/>
                    </a:solidFill>
                  </a:tcPr>
                </a:tc>
              </a:tr>
              <a:tr h="638175">
                <a:tc>
                  <a:txBody>
                    <a:bodyPr wrap="square" lIns="76200" tIns="47625" rIns="66675" bIns="47625">
                      <a:normAutofit/>
                    </a:bodyPr>
                    <a:lstStyle/>
                    <a:p>
                      <a:r>
                        <a:rPr sz="1200" b="0">
                          <a:solidFill>
                            <a:srgbClr val="20252C"/>
                          </a:solidFill>
                          <a:latin typeface="Aptos"/>
                          <a:ea typeface="Aptos"/>
                          <a:cs typeface="Aptos"/>
                        </a:rPr>
                        <a:t>Estudiantes y barrios periféricos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Acceso a destinos abiertos según hora de entrada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Tiempo a educación, salud y mercados</a:t>
                      </a:r>
                    </a:p>
                  </a:txBody>
                  <a:tcPr marL="91440" marR="91440" marT="45720" marB="45720" anchor="ctr">
                    <a:solidFill>
                      <a:srgbClr val="F5F6F8"/>
                    </a:solidFill>
                  </a:tcPr>
                </a:tc>
              </a:tr>
              <a:tr h="638175">
                <a:tc>
                  <a:txBody>
                    <a:bodyPr wrap="square" lIns="76200" tIns="47625" rIns="66675" bIns="47625">
                      <a:normAutofit/>
                    </a:bodyPr>
                    <a:lstStyle/>
                    <a:p>
                      <a:r>
                        <a:rPr sz="1200" b="0">
                          <a:solidFill>
                            <a:srgbClr val="20252C"/>
                          </a:solidFill>
                          <a:latin typeface="Aptos"/>
                          <a:ea typeface="Aptos"/>
                          <a:cs typeface="Aptos"/>
                        </a:rPr>
                        <a:t>Ciudad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Revisar recorrido total, desvíos y seguridad de abordaje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Vehículo-km e incidentes documentados</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52033D2-0A1D-49DB-B35B-CADA5026C565}"/>
              </a:ext>
            </a:extLst>
          </p:cNvPr>
          <p:cNvSpPr>
            <a:spLocks xmlns:a="http://schemas.openxmlformats.org/drawingml/2006/main" noGrp="1"/>
          </p:cNvSpPr>
          <p:nvPr/>
        </p:nvSpPr>
        <p:spPr>
          <a:xfrm xmlns:a="http://schemas.openxmlformats.org/drawingml/2006/main">
            <a:off x="571500" y="55340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A9373D"/>
                </a:solidFill>
                <a:latin typeface="Aptos"/>
                <a:ea typeface="Aptos"/>
                <a:cs typeface="Aptos"/>
              </a:defRPr>
            </a:pPr>
            <a:r>
              <a:rPr sz="1500" b="1">
                <a:solidFill>
                  <a:srgbClr val="A9373D"/>
                </a:solidFill>
                <a:latin typeface="Aptos"/>
                <a:ea typeface="Aptos"/>
                <a:cs typeface="Aptos"/>
              </a:rPr>
              <a:t>Los beneficios son metas de evaluación. Aún no se ha medido una reducción atribuible de tráfico o espera.</a:t>
            </a:r>
          </a:p>
        </p:txBody>
      </p:sp>
    </p:spTree>
    <p:extLst>
      <p:ext uri="{BB962C8B-B14F-4D97-AF65-F5344CB8AC3E}">
        <p14:creationId xmlns:p14="http://schemas.microsoft.com/office/powerpoint/2010/main" val="36316906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52D170-9C0F-416C-B902-38FF7500B35B}"/>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se comprobará el impacto del piloto</a:t>
            </a:r>
          </a:p>
        </p:txBody>
      </p:sp>
      <p:sp>
        <p:nvSpPr>
          <p:cNvPr id="2" name="">
            <a:extLst xmlns:a="http://schemas.openxmlformats.org/drawingml/2006/main">
              <a:ext uri="{FF2B5EF4-FFF2-40B4-BE49-F238E27FC236}">
                <a16:creationId xmlns:a16="http://schemas.microsoft.com/office/drawing/2014/main" id="{52F6E438-6A16-4BD2-ACC3-9B161FDF47D3}"/>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19</a:t>
            </a:r>
          </a:p>
        </p:txBody>
      </p:sp>
      <p:sp>
        <p:nvSpPr>
          <p:cNvPr id="3" name="">
            <a:extLst xmlns:a="http://schemas.openxmlformats.org/drawingml/2006/main">
              <a:ext uri="{FF2B5EF4-FFF2-40B4-BE49-F238E27FC236}">
                <a16:creationId xmlns:a16="http://schemas.microsoft.com/office/drawing/2014/main" id="{08A8F95A-4FC0-43FE-A99F-2C6345EE0FEA}"/>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BB2A338B-2232-4B95-8367-B1B1629728FE}"/>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48A17AD5-9271-4695-9F4A-C6911DBFA43A}"/>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C49C1F50-C658-47FC-8967-EB6823862FBB}"/>
              </a:ext>
            </a:extLst>
          </p:cNvPr>
          <p:cNvSpPr>
            <a:spLocks xmlns:a="http://schemas.openxmlformats.org/drawingml/2006/main" noGrp="1"/>
          </p:cNvSpPr>
          <p:nvPr/>
        </p:nvSpPr>
        <p:spPr>
          <a:xfrm xmlns:a="http://schemas.openxmlformats.org/drawingml/2006/main">
            <a:off x="571500" y="1343025"/>
            <a:ext cx="2924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275CBA"/>
                </a:solidFill>
                <a:latin typeface="Aptos"/>
                <a:ea typeface="Aptos"/>
                <a:cs typeface="Aptos"/>
              </a:defRPr>
            </a:pPr>
            <a:r>
              <a:rPr sz="2775" b="1">
                <a:solidFill>
                  <a:srgbClr val="275CBA"/>
                </a:solidFill>
                <a:latin typeface="Aptos"/>
                <a:ea typeface="Aptos"/>
                <a:cs typeface="Aptos"/>
              </a:rPr>
              <a:t>2 semanas</a:t>
            </a:r>
          </a:p>
        </p:txBody>
      </p:sp>
      <p:sp>
        <p:nvSpPr>
          <p:cNvPr id="7" name="">
            <a:extLst xmlns:a="http://schemas.openxmlformats.org/drawingml/2006/main">
              <a:ext uri="{FF2B5EF4-FFF2-40B4-BE49-F238E27FC236}">
                <a16:creationId xmlns:a16="http://schemas.microsoft.com/office/drawing/2014/main" id="{DCB781B6-B4AC-4F30-BDA9-A514438A3828}"/>
              </a:ext>
            </a:extLst>
          </p:cNvPr>
          <p:cNvSpPr>
            <a:spLocks xmlns:a="http://schemas.openxmlformats.org/drawingml/2006/main" noGrp="1"/>
          </p:cNvSpPr>
          <p:nvPr/>
        </p:nvSpPr>
        <p:spPr>
          <a:xfrm xmlns:a="http://schemas.openxmlformats.org/drawingml/2006/main">
            <a:off x="571500" y="1857375"/>
            <a:ext cx="2867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línea base</a:t>
            </a:r>
          </a:p>
        </p:txBody>
      </p:sp>
      <p:sp>
        <p:nvSpPr>
          <p:cNvPr id="8" name="">
            <a:extLst xmlns:a="http://schemas.openxmlformats.org/drawingml/2006/main">
              <a:ext uri="{FF2B5EF4-FFF2-40B4-BE49-F238E27FC236}">
                <a16:creationId xmlns:a16="http://schemas.microsoft.com/office/drawing/2014/main" id="{CA01E6D0-C9C4-47D7-8F5E-0AE80CA3CEBC}"/>
              </a:ext>
            </a:extLst>
          </p:cNvPr>
          <p:cNvSpPr>
            <a:spLocks xmlns:a="http://schemas.openxmlformats.org/drawingml/2006/main" noGrp="1"/>
          </p:cNvSpPr>
          <p:nvPr/>
        </p:nvSpPr>
        <p:spPr>
          <a:xfrm xmlns:a="http://schemas.openxmlformats.org/drawingml/2006/main">
            <a:off x="3762375" y="13430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275CBA"/>
                </a:solidFill>
                <a:latin typeface="Aptos"/>
                <a:ea typeface="Aptos"/>
                <a:cs typeface="Aptos"/>
              </a:defRPr>
            </a:pPr>
            <a:r>
              <a:rPr sz="2775" b="1">
                <a:solidFill>
                  <a:srgbClr val="275CBA"/>
                </a:solidFill>
                <a:latin typeface="Aptos"/>
                <a:ea typeface="Aptos"/>
                <a:cs typeface="Aptos"/>
              </a:rPr>
              <a:t>3–4 semanas</a:t>
            </a:r>
          </a:p>
        </p:txBody>
      </p:sp>
      <p:sp>
        <p:nvSpPr>
          <p:cNvPr id="9" name="">
            <a:extLst xmlns:a="http://schemas.openxmlformats.org/drawingml/2006/main">
              <a:ext uri="{FF2B5EF4-FFF2-40B4-BE49-F238E27FC236}">
                <a16:creationId xmlns:a16="http://schemas.microsoft.com/office/drawing/2014/main" id="{B742C6B9-E6F8-4EB2-90FE-ADE430D68F85}"/>
              </a:ext>
            </a:extLst>
          </p:cNvPr>
          <p:cNvSpPr>
            <a:spLocks xmlns:a="http://schemas.openxmlformats.org/drawingml/2006/main" noGrp="1"/>
          </p:cNvSpPr>
          <p:nvPr/>
        </p:nvSpPr>
        <p:spPr>
          <a:xfrm xmlns:a="http://schemas.openxmlformats.org/drawingml/2006/main">
            <a:off x="3762375" y="1857375"/>
            <a:ext cx="331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prueba en un corredor</a:t>
            </a:r>
          </a:p>
        </p:txBody>
      </p:sp>
      <p:sp>
        <p:nvSpPr>
          <p:cNvPr id="10" name="">
            <a:extLst xmlns:a="http://schemas.openxmlformats.org/drawingml/2006/main">
              <a:ext uri="{FF2B5EF4-FFF2-40B4-BE49-F238E27FC236}">
                <a16:creationId xmlns:a16="http://schemas.microsoft.com/office/drawing/2014/main" id="{273B2B04-C4B2-42F1-8BDE-0F3298C9606E}"/>
              </a:ext>
            </a:extLst>
          </p:cNvPr>
          <p:cNvSpPr>
            <a:spLocks xmlns:a="http://schemas.openxmlformats.org/drawingml/2006/main" noGrp="1"/>
          </p:cNvSpPr>
          <p:nvPr/>
        </p:nvSpPr>
        <p:spPr>
          <a:xfrm xmlns:a="http://schemas.openxmlformats.org/drawingml/2006/main">
            <a:off x="7686675" y="1343025"/>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275CBA"/>
                </a:solidFill>
                <a:latin typeface="Aptos"/>
                <a:ea typeface="Aptos"/>
                <a:cs typeface="Aptos"/>
              </a:defRPr>
            </a:pPr>
            <a:r>
              <a:rPr sz="2550" b="1">
                <a:solidFill>
                  <a:srgbClr val="275CBA"/>
                </a:solidFill>
                <a:latin typeface="Aptos"/>
                <a:ea typeface="Aptos"/>
                <a:cs typeface="Aptos"/>
              </a:rPr>
              <a:t>Mismo contexto</a:t>
            </a:r>
          </a:p>
        </p:txBody>
      </p:sp>
      <p:sp>
        <p:nvSpPr>
          <p:cNvPr id="11" name="">
            <a:extLst xmlns:a="http://schemas.openxmlformats.org/drawingml/2006/main">
              <a:ext uri="{FF2B5EF4-FFF2-40B4-BE49-F238E27FC236}">
                <a16:creationId xmlns:a16="http://schemas.microsoft.com/office/drawing/2014/main" id="{DA2CB4AC-9050-4918-9DE7-9079D4461913}"/>
              </a:ext>
            </a:extLst>
          </p:cNvPr>
          <p:cNvSpPr>
            <a:spLocks xmlns:a="http://schemas.openxmlformats.org/drawingml/2006/main" noGrp="1"/>
          </p:cNvSpPr>
          <p:nvPr/>
        </p:nvSpPr>
        <p:spPr>
          <a:xfrm xmlns:a="http://schemas.openxmlformats.org/drawingml/2006/main">
            <a:off x="7686675" y="1857375"/>
            <a:ext cx="35337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0252C"/>
                </a:solidFill>
                <a:latin typeface="Aptos"/>
                <a:ea typeface="Aptos"/>
                <a:cs typeface="Aptos"/>
              </a:defRPr>
            </a:pPr>
            <a:r>
              <a:rPr sz="1350" b="1">
                <a:solidFill>
                  <a:srgbClr val="20252C"/>
                </a:solidFill>
                <a:latin typeface="Aptos"/>
                <a:ea typeface="Aptos"/>
                <a:cs typeface="Aptos"/>
              </a:rPr>
              <a:t>día, hora y sentido comparables</a:t>
            </a:r>
          </a:p>
        </p:txBody>
      </p:sp>
      <p:graphicFrame>
        <p:nvGraphicFramePr>
          <p:cNvPr id="25" name=""/>
          <p:cNvGraphicFramePr/>
          <p:nvPr/>
        </p:nvGraphicFramePr>
        <p:xfrm>
          <a:off xmlns:a="http://schemas.openxmlformats.org/drawingml/2006/main" x="571500" y="2714625"/>
          <a:ext xmlns:a="http://schemas.openxmlformats.org/drawingml/2006/main" cx="11010900" cy="2762250"/>
        </p:xfrm>
        <a:graphic xmlns:a="http://schemas.openxmlformats.org/drawingml/2006/main">
          <a:graphicData uri="http://schemas.openxmlformats.org/drawingml/2006/table">
            <a:tbl>
              <a:tblPr/>
              <a:tblGrid>
                <a:gridCol w="2543175"/>
                <a:gridCol w="4429125"/>
                <a:gridCol w="4038600"/>
              </a:tblGrid>
              <a:tr h="552450">
                <a:tc>
                  <a:txBody>
                    <a:bodyPr wrap="square" lIns="76200" tIns="47625" rIns="66675" bIns="47625">
                      <a:normAutofit/>
                    </a:bodyPr>
                    <a:lstStyle/>
                    <a:p>
                      <a:r>
                        <a:rPr sz="1125" b="1">
                          <a:solidFill>
                            <a:srgbClr val="FFFFFF"/>
                          </a:solidFill>
                          <a:latin typeface="Aptos"/>
                          <a:ea typeface="Aptos"/>
                          <a:cs typeface="Aptos"/>
                        </a:rPr>
                        <a:t>Indicador</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Medición antes/después</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Riesgo que debe reportarse</a:t>
                      </a:r>
                    </a:p>
                  </a:txBody>
                  <a:tcPr marL="91440" marR="91440" marT="45720" marB="45720" anchor="ctr">
                    <a:solidFill>
                      <a:srgbClr val="17202B"/>
                    </a:solidFill>
                  </a:tcPr>
                </a:tc>
              </a:tr>
              <a:tr h="552450">
                <a:tc>
                  <a:txBody>
                    <a:bodyPr wrap="square" lIns="76200" tIns="47625" rIns="66675" bIns="47625">
                      <a:normAutofit/>
                    </a:bodyPr>
                    <a:lstStyle/>
                    <a:p>
                      <a:r>
                        <a:rPr sz="1200" b="0">
                          <a:solidFill>
                            <a:srgbClr val="20252C"/>
                          </a:solidFill>
                          <a:latin typeface="Aptos"/>
                          <a:ea typeface="Aptos"/>
                          <a:cs typeface="Aptos"/>
                        </a:rPr>
                        <a:t>Espera y viaje completo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Mediana y P90 en franjas comparables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Otros cambios de tráfico o temporada</a:t>
                      </a:r>
                    </a:p>
                  </a:txBody>
                  <a:tcPr marL="91440" marR="91440" marT="45720" marB="45720" anchor="ctr">
                    <a:solidFill>
                      <a:srgbClr val="FFFFFF"/>
                    </a:solidFill>
                  </a:tcPr>
                </a:tc>
              </a:tr>
              <a:tr h="552450">
                <a:tc>
                  <a:txBody>
                    <a:bodyPr wrap="square" lIns="76200" tIns="47625" rIns="66675" bIns="47625">
                      <a:normAutofit/>
                    </a:bodyPr>
                    <a:lstStyle/>
                    <a:p>
                      <a:r>
                        <a:rPr sz="1200" b="0">
                          <a:solidFill>
                            <a:srgbClr val="20252C"/>
                          </a:solidFill>
                          <a:latin typeface="Aptos"/>
                          <a:ea typeface="Aptos"/>
                          <a:cs typeface="Aptos"/>
                        </a:rPr>
                        <a:t>Regularidad y capacidad</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Intervalos, carga crítica y vehículos activos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GPS incompleto o conteos escasos</a:t>
                      </a:r>
                    </a:p>
                  </a:txBody>
                  <a:tcPr marL="91440" marR="91440" marT="45720" marB="45720" anchor="ctr">
                    <a:solidFill>
                      <a:srgbClr val="F5F6F8"/>
                    </a:solidFill>
                  </a:tcPr>
                </a:tc>
              </a:tr>
              <a:tr h="552450">
                <a:tc>
                  <a:txBody>
                    <a:bodyPr wrap="square" lIns="76200" tIns="47625" rIns="66675" bIns="47625">
                      <a:normAutofit/>
                    </a:bodyPr>
                    <a:lstStyle/>
                    <a:p>
                      <a:r>
                        <a:rPr sz="1200" b="0">
                          <a:solidFill>
                            <a:srgbClr val="20252C"/>
                          </a:solidFill>
                          <a:latin typeface="Aptos"/>
                          <a:ea typeface="Aptos"/>
                          <a:cs typeface="Aptos"/>
                        </a:rPr>
                        <a:t>Acceso y equidad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Personas conocidas que ganan o pierden acceso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Manzanas sin dato y red peatonal incompleta</a:t>
                      </a:r>
                    </a:p>
                  </a:txBody>
                  <a:tcPr marL="91440" marR="91440" marT="45720" marB="45720" anchor="ctr">
                    <a:solidFill>
                      <a:srgbClr val="FFFFFF"/>
                    </a:solidFill>
                  </a:tcPr>
                </a:tc>
              </a:tr>
              <a:tr h="552450">
                <a:tc>
                  <a:txBody>
                    <a:bodyPr wrap="square" lIns="76200" tIns="47625" rIns="66675" bIns="47625">
                      <a:normAutofit/>
                    </a:bodyPr>
                    <a:lstStyle/>
                    <a:p>
                      <a:r>
                        <a:rPr sz="1200" b="0">
                          <a:solidFill>
                            <a:srgbClr val="20252C"/>
                          </a:solidFill>
                          <a:latin typeface="Aptos"/>
                          <a:ea typeface="Aptos"/>
                          <a:cs typeface="Aptos"/>
                        </a:rPr>
                        <a:t>Seguridad</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Abordajes validados y desvíos documentados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Pocos incidentes para inferir causalidad</a:t>
                      </a:r>
                    </a:p>
                  </a:txBody>
                  <a:tcPr marL="91440" marR="91440" marT="45720" marB="45720" anchor="ctr">
                    <a:solidFill>
                      <a:srgbClr val="F5F6F8"/>
                    </a:solidFill>
                  </a:tcPr>
                </a:tc>
              </a:tr>
            </a:tbl>
          </a:graphicData>
        </a:graphic>
      </p:graphicFrame>
      <p:sp>
        <p:nvSpPr>
          <p:cNvPr id="13" name="">
            <a:extLst xmlns:a="http://schemas.openxmlformats.org/drawingml/2006/main">
              <a:ext uri="{FF2B5EF4-FFF2-40B4-BE49-F238E27FC236}">
                <a16:creationId xmlns:a16="http://schemas.microsoft.com/office/drawing/2014/main" id="{AA7BAD2A-61B9-45AC-906E-056851E6ED16}"/>
              </a:ext>
            </a:extLst>
          </p:cNvPr>
          <p:cNvSpPr>
            <a:spLocks xmlns:a="http://schemas.openxmlformats.org/drawingml/2006/main" noGrp="1"/>
          </p:cNvSpPr>
          <p:nvPr/>
        </p:nvSpPr>
        <p:spPr>
          <a:xfrm xmlns:a="http://schemas.openxmlformats.org/drawingml/2006/main">
            <a:off x="571500" y="5781675"/>
            <a:ext cx="10934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9373D"/>
                </a:solidFill>
                <a:latin typeface="Aptos"/>
                <a:ea typeface="Aptos"/>
                <a:cs typeface="Aptos"/>
              </a:defRPr>
            </a:pPr>
            <a:r>
              <a:rPr sz="1350" b="1">
                <a:solidFill>
                  <a:srgbClr val="A9373D"/>
                </a:solidFill>
                <a:latin typeface="Aptos"/>
                <a:ea typeface="Aptos"/>
                <a:cs typeface="Aptos"/>
              </a:rPr>
              <a:t>Si es posible, se medirá un corredor de control. Una mejora local no prueba por sí sola que bajó el tráfico de toda Juliaca.</a:t>
            </a:r>
          </a:p>
        </p:txBody>
      </p:sp>
    </p:spTree>
    <p:extLst>
      <p:ext uri="{BB962C8B-B14F-4D97-AF65-F5344CB8AC3E}">
        <p14:creationId xmlns:p14="http://schemas.microsoft.com/office/powerpoint/2010/main" val="7941221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91C44A0-3710-4700-A5B0-4FA08D061DF3}"/>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Viabilidad: del prototipo a un corredor piloto</a:t>
            </a:r>
          </a:p>
        </p:txBody>
      </p:sp>
      <p:sp>
        <p:nvSpPr>
          <p:cNvPr id="2" name="">
            <a:extLst xmlns:a="http://schemas.openxmlformats.org/drawingml/2006/main">
              <a:ext uri="{FF2B5EF4-FFF2-40B4-BE49-F238E27FC236}">
                <a16:creationId xmlns:a16="http://schemas.microsoft.com/office/drawing/2014/main" id="{524F1838-3DAD-4BB4-B75D-7ED7846DFB4E}"/>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20</a:t>
            </a:r>
          </a:p>
        </p:txBody>
      </p:sp>
      <p:sp>
        <p:nvSpPr>
          <p:cNvPr id="3" name="">
            <a:extLst xmlns:a="http://schemas.openxmlformats.org/drawingml/2006/main">
              <a:ext uri="{FF2B5EF4-FFF2-40B4-BE49-F238E27FC236}">
                <a16:creationId xmlns:a16="http://schemas.microsoft.com/office/drawing/2014/main" id="{56043E80-EC94-4C30-AC37-A9B162D9175A}"/>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6EE8FB3B-5B3B-446D-9639-11BDA1FB2134}"/>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28D40E3F-13E0-49EE-9698-965A85AF9E9E}"/>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5" name=""/>
          <p:cNvGraphicFramePr/>
          <p:nvPr/>
        </p:nvGraphicFramePr>
        <p:xfrm>
          <a:off xmlns:a="http://schemas.openxmlformats.org/drawingml/2006/main" x="571500" y="1276350"/>
          <a:ext xmlns:a="http://schemas.openxmlformats.org/drawingml/2006/main" cx="11010900" cy="2905125"/>
        </p:xfrm>
        <a:graphic xmlns:a="http://schemas.openxmlformats.org/drawingml/2006/main">
          <a:graphicData uri="http://schemas.openxmlformats.org/drawingml/2006/table">
            <a:tbl>
              <a:tblPr/>
              <a:tblGrid>
                <a:gridCol w="2286000"/>
                <a:gridCol w="2266950"/>
                <a:gridCol w="6457950"/>
              </a:tblGrid>
              <a:tr h="484188">
                <a:tc>
                  <a:txBody>
                    <a:bodyPr wrap="square" lIns="76200" tIns="47625" rIns="66675" bIns="47625">
                      <a:normAutofit/>
                    </a:bodyPr>
                    <a:lstStyle/>
                    <a:p>
                      <a:r>
                        <a:rPr sz="1200" b="1">
                          <a:solidFill>
                            <a:srgbClr val="FFFFFF"/>
                          </a:solidFill>
                          <a:latin typeface="Aptos"/>
                          <a:ea typeface="Aptos"/>
                          <a:cs typeface="Aptos"/>
                        </a:rPr>
                        <a:t>Fase</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Duración propuesta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Trabajo verificable</a:t>
                      </a:r>
                    </a:p>
                  </a:txBody>
                  <a:tcPr marL="91440" marR="91440" marT="45720" marB="45720" anchor="ctr">
                    <a:solidFill>
                      <a:srgbClr val="17202B"/>
                    </a:solidFill>
                  </a:tcPr>
                </a:tc>
              </a:tr>
              <a:tr h="484188">
                <a:tc>
                  <a:txBody>
                    <a:bodyPr wrap="square" lIns="76200" tIns="47625" rIns="66675" bIns="47625">
                      <a:normAutofit/>
                    </a:bodyPr>
                    <a:lstStyle/>
                    <a:p>
                      <a:r>
                        <a:rPr sz="1275" b="0">
                          <a:solidFill>
                            <a:srgbClr val="20252C"/>
                          </a:solidFill>
                          <a:latin typeface="Aptos"/>
                          <a:ea typeface="Aptos"/>
                          <a:cs typeface="Aptos"/>
                        </a:rPr>
                        <a:t>Preparar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2 semanas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Ruta vigente, abordajes, fuentes y convenio de datos</a:t>
                      </a:r>
                    </a:p>
                  </a:txBody>
                  <a:tcPr marL="91440" marR="91440" marT="45720" marB="45720" anchor="ctr">
                    <a:solidFill>
                      <a:srgbClr val="FFFFFF"/>
                    </a:solidFill>
                  </a:tcPr>
                </a:tc>
              </a:tr>
              <a:tr h="484188">
                <a:tc>
                  <a:txBody>
                    <a:bodyPr wrap="square" lIns="76200" tIns="47625" rIns="66675" bIns="47625">
                      <a:normAutofit/>
                    </a:bodyPr>
                    <a:lstStyle/>
                    <a:p>
                      <a:r>
                        <a:rPr sz="1275" b="0">
                          <a:solidFill>
                            <a:srgbClr val="20252C"/>
                          </a:solidFill>
                          <a:latin typeface="Aptos"/>
                          <a:ea typeface="Aptos"/>
                          <a:cs typeface="Aptos"/>
                        </a:rPr>
                        <a:t>Medir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2 semanas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Aforos, velocidad, intervalos y ascensos</a:t>
                      </a:r>
                    </a:p>
                  </a:txBody>
                  <a:tcPr marL="91440" marR="91440" marT="45720" marB="45720" anchor="ctr">
                    <a:solidFill>
                      <a:srgbClr val="F5F6F8"/>
                    </a:solidFill>
                  </a:tcPr>
                </a:tc>
              </a:tr>
              <a:tr h="484188">
                <a:tc>
                  <a:txBody>
                    <a:bodyPr wrap="square" lIns="76200" tIns="47625" rIns="66675" bIns="47625">
                      <a:normAutofit/>
                    </a:bodyPr>
                    <a:lstStyle/>
                    <a:p>
                      <a:r>
                        <a:rPr sz="1275" b="0">
                          <a:solidFill>
                            <a:srgbClr val="20252C"/>
                          </a:solidFill>
                          <a:latin typeface="Aptos"/>
                          <a:ea typeface="Aptos"/>
                          <a:cs typeface="Aptos"/>
                        </a:rPr>
                        <a:t>Modelar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2 semanas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Escenarios de trazado, flota, acceso y costo</a:t>
                      </a:r>
                    </a:p>
                  </a:txBody>
                  <a:tcPr marL="91440" marR="91440" marT="45720" marB="45720" anchor="ctr">
                    <a:solidFill>
                      <a:srgbClr val="FFFFFF"/>
                    </a:solidFill>
                  </a:tcPr>
                </a:tc>
              </a:tr>
              <a:tr h="484188">
                <a:tc>
                  <a:txBody>
                    <a:bodyPr wrap="square" lIns="76200" tIns="47625" rIns="66675" bIns="47625">
                      <a:normAutofit/>
                    </a:bodyPr>
                    <a:lstStyle/>
                    <a:p>
                      <a:r>
                        <a:rPr sz="1275" b="0">
                          <a:solidFill>
                            <a:srgbClr val="20252C"/>
                          </a:solidFill>
                          <a:latin typeface="Aptos"/>
                          <a:ea typeface="Aptos"/>
                          <a:cs typeface="Aptos"/>
                        </a:rPr>
                        <a:t>Acordar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1 semana</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Revisión municipal y de operadores</a:t>
                      </a:r>
                    </a:p>
                  </a:txBody>
                  <a:tcPr marL="91440" marR="91440" marT="45720" marB="45720" anchor="ctr">
                    <a:solidFill>
                      <a:srgbClr val="F5F6F8"/>
                    </a:solidFill>
                  </a:tcPr>
                </a:tc>
              </a:tr>
              <a:tr h="484188">
                <a:tc>
                  <a:txBody>
                    <a:bodyPr wrap="square" lIns="76200" tIns="47625" rIns="66675" bIns="47625">
                      <a:normAutofit/>
                    </a:bodyPr>
                    <a:lstStyle/>
                    <a:p>
                      <a:r>
                        <a:rPr sz="1275" b="0">
                          <a:solidFill>
                            <a:srgbClr val="20252C"/>
                          </a:solidFill>
                          <a:latin typeface="Aptos"/>
                          <a:ea typeface="Aptos"/>
                          <a:cs typeface="Aptos"/>
                        </a:rPr>
                        <a:t>Pilotear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3–4 semanas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Operación medida y ajustes</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D4DEFDA-B04A-4327-A4B0-77CECA82A6FB}"/>
              </a:ext>
            </a:extLst>
          </p:cNvPr>
          <p:cNvSpPr>
            <a:spLocks xmlns:a="http://schemas.openxmlformats.org/drawingml/2006/main" noGrp="1"/>
          </p:cNvSpPr>
          <p:nvPr/>
        </p:nvSpPr>
        <p:spPr>
          <a:xfrm xmlns:a="http://schemas.openxmlformats.org/drawingml/2006/main">
            <a:off x="571500" y="45529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75CBA"/>
                </a:solidFill>
                <a:latin typeface="Aptos"/>
                <a:ea typeface="Aptos"/>
                <a:cs typeface="Aptos"/>
              </a:defRPr>
            </a:pPr>
            <a:r>
              <a:rPr sz="1050" b="1">
                <a:solidFill>
                  <a:srgbClr val="275CBA"/>
                </a:solidFill>
                <a:latin typeface="Aptos"/>
                <a:ea typeface="Aptos"/>
                <a:cs typeface="Aptos"/>
              </a:rPr>
              <a:t>RUBROS QUE DEBEN COTIZARSE</a:t>
            </a:r>
          </a:p>
        </p:txBody>
      </p:sp>
      <p:sp>
        <p:nvSpPr>
          <p:cNvPr id="8" name="">
            <a:extLst xmlns:a="http://schemas.openxmlformats.org/drawingml/2006/main">
              <a:ext uri="{FF2B5EF4-FFF2-40B4-BE49-F238E27FC236}">
                <a16:creationId xmlns:a16="http://schemas.microsoft.com/office/drawing/2014/main" id="{1839676F-79A9-4FDD-ADCD-A476D82624D2}"/>
              </a:ext>
            </a:extLst>
          </p:cNvPr>
          <p:cNvSpPr>
            <a:spLocks xmlns:a="http://schemas.openxmlformats.org/drawingml/2006/main" noGrp="1"/>
          </p:cNvSpPr>
          <p:nvPr/>
        </p:nvSpPr>
        <p:spPr>
          <a:xfrm xmlns:a="http://schemas.openxmlformats.org/drawingml/2006/main">
            <a:off x="571500" y="4867275"/>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Servidor y base de datos, frontend, dominio y copias; responsable técnico; jornadas de campo; GPS y conectividad donde hagan falta.</a:t>
            </a:r>
          </a:p>
        </p:txBody>
      </p:sp>
      <p:sp>
        <p:nvSpPr>
          <p:cNvPr id="9" name="">
            <a:extLst xmlns:a="http://schemas.openxmlformats.org/drawingml/2006/main">
              <a:ext uri="{FF2B5EF4-FFF2-40B4-BE49-F238E27FC236}">
                <a16:creationId xmlns:a16="http://schemas.microsoft.com/office/drawing/2014/main" id="{75837AEA-A2CA-4B6B-96F8-8DD115E97EF6}"/>
              </a:ext>
            </a:extLst>
          </p:cNvPr>
          <p:cNvSpPr>
            <a:spLocks xmlns:a="http://schemas.openxmlformats.org/drawingml/2006/main" noGrp="1"/>
          </p:cNvSpPr>
          <p:nvPr/>
        </p:nvSpPr>
        <p:spPr>
          <a:xfrm xmlns:a="http://schemas.openxmlformats.org/drawingml/2006/main">
            <a:off x="571500" y="58769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9373D"/>
                </a:solidFill>
                <a:latin typeface="Aptos"/>
                <a:ea typeface="Aptos"/>
                <a:cs typeface="Aptos"/>
              </a:defRPr>
            </a:pPr>
            <a:r>
              <a:rPr sz="1350" b="0">
                <a:solidFill>
                  <a:srgbClr val="A9373D"/>
                </a:solidFill>
                <a:latin typeface="Aptos"/>
                <a:ea typeface="Aptos"/>
                <a:cs typeface="Aptos"/>
              </a:rPr>
              <a:t>El costo final depende del corredor, las unidades participantes y los acuerdos de acceso a datos. La secuencia propuesta suma 10–11 semanas.</a:t>
            </a:r>
          </a:p>
        </p:txBody>
      </p:sp>
    </p:spTree>
    <p:extLst>
      <p:ext uri="{BB962C8B-B14F-4D97-AF65-F5344CB8AC3E}">
        <p14:creationId xmlns:p14="http://schemas.microsoft.com/office/powerpoint/2010/main" val="6381941"/>
      </p:ext>
    </p:extLst>
  </p:cSld>
</p:sld>
</file>

<file path=ppt/slides/slide21.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95E0281-1711-486E-A1BF-539C2AC9E489}"/>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FFFFFF"/>
                </a:solidFill>
                <a:latin typeface="Aptos"/>
                <a:ea typeface="Aptos"/>
                <a:cs typeface="Aptos"/>
              </a:defRPr>
            </a:pPr>
            <a:r>
              <a:rPr sz="2325" b="1">
                <a:solidFill>
                  <a:srgbClr val="FFFFFF"/>
                </a:solidFill>
                <a:latin typeface="Aptos"/>
                <a:ea typeface="Aptos"/>
                <a:cs typeface="Aptos"/>
              </a:rPr>
              <a:t>Equipo ASEDIC y decisión solicitada</a:t>
            </a:r>
          </a:p>
        </p:txBody>
      </p:sp>
      <p:sp>
        <p:nvSpPr>
          <p:cNvPr id="2" name="">
            <a:extLst xmlns:a="http://schemas.openxmlformats.org/drawingml/2006/main">
              <a:ext uri="{FF2B5EF4-FFF2-40B4-BE49-F238E27FC236}">
                <a16:creationId xmlns:a16="http://schemas.microsoft.com/office/drawing/2014/main" id="{4BC320DF-4FC9-4545-8AC8-1667897DD6AD}"/>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B4CAFA"/>
                </a:solidFill>
                <a:latin typeface="Aptos"/>
                <a:ea typeface="Aptos"/>
                <a:cs typeface="Aptos"/>
              </a:defRPr>
            </a:pPr>
            <a:r>
              <a:rPr sz="1200" b="1">
                <a:solidFill>
                  <a:srgbClr val="B4CAFA"/>
                </a:solidFill>
                <a:latin typeface="Aptos"/>
                <a:ea typeface="Aptos"/>
                <a:cs typeface="Aptos"/>
              </a:rPr>
              <a:t>21</a:t>
            </a:r>
          </a:p>
        </p:txBody>
      </p:sp>
      <p:sp>
        <p:nvSpPr>
          <p:cNvPr id="3" name="">
            <a:extLst xmlns:a="http://schemas.openxmlformats.org/drawingml/2006/main">
              <a:ext uri="{FF2B5EF4-FFF2-40B4-BE49-F238E27FC236}">
                <a16:creationId xmlns:a16="http://schemas.microsoft.com/office/drawing/2014/main" id="{339879E8-5518-4BBB-B4B8-8D8A12C17108}"/>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455160"/>
            </a:solidFill>
            <a:prstDash val="solid"/>
          </a:ln>
        </p:spPr>
      </p:sp>
      <p:sp>
        <p:nvSpPr>
          <p:cNvPr id="4" name="">
            <a:extLst xmlns:a="http://schemas.openxmlformats.org/drawingml/2006/main">
              <a:ext uri="{FF2B5EF4-FFF2-40B4-BE49-F238E27FC236}">
                <a16:creationId xmlns:a16="http://schemas.microsoft.com/office/drawing/2014/main" id="{15571F2A-1AAB-4D9E-B51F-B2B3DFEED547}"/>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A9B7C7"/>
                </a:solidFill>
                <a:latin typeface="Aptos"/>
                <a:ea typeface="Aptos"/>
                <a:cs typeface="Aptos"/>
              </a:defRPr>
            </a:pPr>
            <a:r>
              <a:rPr sz="825" b="0">
                <a:solidFill>
                  <a:srgbClr val="A9B7C7"/>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EA2FA578-9D7C-4DC8-9E68-24D21AADD191}"/>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A9B7C7"/>
                </a:solidFill>
                <a:latin typeface="Aptos"/>
                <a:ea typeface="Aptos"/>
                <a:cs typeface="Aptos"/>
              </a:defRPr>
            </a:pPr>
            <a:r>
              <a:rPr sz="825" b="0">
                <a:solidFill>
                  <a:srgbClr val="A9B7C7"/>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69DB2E12-0F54-427B-8656-D7F32B3199C4}"/>
              </a:ext>
            </a:extLst>
          </p:cNvPr>
          <p:cNvSpPr>
            <a:spLocks xmlns:a="http://schemas.openxmlformats.org/drawingml/2006/main" noGrp="1"/>
          </p:cNvSpPr>
          <p:nvPr/>
        </p:nvSpPr>
        <p:spPr>
          <a:xfrm xmlns:a="http://schemas.openxmlformats.org/drawingml/2006/main">
            <a:off x="571500" y="15049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Ivan Antony Mamani Guevara</a:t>
            </a:r>
          </a:p>
        </p:txBody>
      </p:sp>
      <p:sp>
        <p:nvSpPr>
          <p:cNvPr id="7" name="">
            <a:extLst xmlns:a="http://schemas.openxmlformats.org/drawingml/2006/main">
              <a:ext uri="{FF2B5EF4-FFF2-40B4-BE49-F238E27FC236}">
                <a16:creationId xmlns:a16="http://schemas.microsoft.com/office/drawing/2014/main" id="{6681A574-9724-4AEE-BCC2-765A4DF0CE79}"/>
              </a:ext>
            </a:extLst>
          </p:cNvPr>
          <p:cNvSpPr>
            <a:spLocks xmlns:a="http://schemas.openxmlformats.org/drawingml/2006/main" noGrp="1"/>
          </p:cNvSpPr>
          <p:nvPr/>
        </p:nvSpPr>
        <p:spPr>
          <a:xfrm xmlns:a="http://schemas.openxmlformats.org/drawingml/2006/main">
            <a:off x="571500" y="2571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4CAFA"/>
                </a:solidFill>
                <a:latin typeface="Aptos"/>
                <a:ea typeface="Aptos"/>
                <a:cs typeface="Aptos"/>
              </a:defRPr>
            </a:pPr>
            <a:r>
              <a:rPr sz="1350" b="1">
                <a:solidFill>
                  <a:srgbClr val="B4CAFA"/>
                </a:solidFill>
                <a:latin typeface="Aptos"/>
                <a:ea typeface="Aptos"/>
                <a:cs typeface="Aptos"/>
              </a:rPr>
              <a:t>Líder, 26 años</a:t>
            </a:r>
          </a:p>
        </p:txBody>
      </p:sp>
      <p:sp>
        <p:nvSpPr>
          <p:cNvPr id="8" name="">
            <a:extLst xmlns:a="http://schemas.openxmlformats.org/drawingml/2006/main">
              <a:ext uri="{FF2B5EF4-FFF2-40B4-BE49-F238E27FC236}">
                <a16:creationId xmlns:a16="http://schemas.microsoft.com/office/drawing/2014/main" id="{3AA8D0FA-9F06-4F19-B383-A50DDCAA4A8B}"/>
              </a:ext>
            </a:extLst>
          </p:cNvPr>
          <p:cNvSpPr>
            <a:spLocks xmlns:a="http://schemas.openxmlformats.org/drawingml/2006/main" noGrp="1"/>
          </p:cNvSpPr>
          <p:nvPr/>
        </p:nvSpPr>
        <p:spPr>
          <a:xfrm xmlns:a="http://schemas.openxmlformats.org/drawingml/2006/main">
            <a:off x="571500" y="3105150"/>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2DDEB"/>
                </a:solidFill>
                <a:latin typeface="Aptos"/>
                <a:ea typeface="Aptos"/>
                <a:cs typeface="Aptos"/>
              </a:defRPr>
            </a:pPr>
            <a:r>
              <a:rPr sz="1425" b="0">
                <a:solidFill>
                  <a:srgbClr val="D2DDEB"/>
                </a:solidFill>
                <a:latin typeface="Aptos"/>
                <a:ea typeface="Aptos"/>
                <a:cs typeface="Aptos"/>
              </a:rPr>
              <a:t>Coordina producto y piloto.</a:t>
            </a:r>
          </a:p>
        </p:txBody>
      </p:sp>
      <p:sp>
        <p:nvSpPr>
          <p:cNvPr id="9" name="">
            <a:extLst xmlns:a="http://schemas.openxmlformats.org/drawingml/2006/main">
              <a:ext uri="{FF2B5EF4-FFF2-40B4-BE49-F238E27FC236}">
                <a16:creationId xmlns:a16="http://schemas.microsoft.com/office/drawing/2014/main" id="{F01F5A0B-106E-4F16-8458-4592C7C3AF66}"/>
              </a:ext>
            </a:extLst>
          </p:cNvPr>
          <p:cNvSpPr>
            <a:spLocks xmlns:a="http://schemas.openxmlformats.org/drawingml/2006/main" noGrp="1"/>
          </p:cNvSpPr>
          <p:nvPr/>
        </p:nvSpPr>
        <p:spPr>
          <a:xfrm xmlns:a="http://schemas.openxmlformats.org/drawingml/2006/main">
            <a:off x="4048125" y="1438275"/>
            <a:ext cx="19050" cy="2619375"/>
          </a:xfrm>
          <a:prstGeom xmlns:a="http://schemas.openxmlformats.org/drawingml/2006/main" prst="rect">
            <a:avLst/>
          </a:prstGeom>
          <a:solidFill xmlns:a="http://schemas.openxmlformats.org/drawingml/2006/main">
            <a:srgbClr val="46556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4AD9394-3A44-4ED4-B93D-F6DAAF9FA43F}"/>
              </a:ext>
            </a:extLst>
          </p:cNvPr>
          <p:cNvSpPr>
            <a:spLocks xmlns:a="http://schemas.openxmlformats.org/drawingml/2006/main" noGrp="1"/>
          </p:cNvSpPr>
          <p:nvPr/>
        </p:nvSpPr>
        <p:spPr>
          <a:xfrm xmlns:a="http://schemas.openxmlformats.org/drawingml/2006/main">
            <a:off x="4276725" y="15049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Josue Isaac Coila Belizario</a:t>
            </a:r>
          </a:p>
        </p:txBody>
      </p:sp>
      <p:sp>
        <p:nvSpPr>
          <p:cNvPr id="11" name="">
            <a:extLst xmlns:a="http://schemas.openxmlformats.org/drawingml/2006/main">
              <a:ext uri="{FF2B5EF4-FFF2-40B4-BE49-F238E27FC236}">
                <a16:creationId xmlns:a16="http://schemas.microsoft.com/office/drawing/2014/main" id="{8125F6C5-C230-4361-9DE0-057A5F2A4AD5}"/>
              </a:ext>
            </a:extLst>
          </p:cNvPr>
          <p:cNvSpPr>
            <a:spLocks xmlns:a="http://schemas.openxmlformats.org/drawingml/2006/main" noGrp="1"/>
          </p:cNvSpPr>
          <p:nvPr/>
        </p:nvSpPr>
        <p:spPr>
          <a:xfrm xmlns:a="http://schemas.openxmlformats.org/drawingml/2006/main">
            <a:off x="4276725" y="2571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4CAFA"/>
                </a:solidFill>
                <a:latin typeface="Aptos"/>
                <a:ea typeface="Aptos"/>
                <a:cs typeface="Aptos"/>
              </a:defRPr>
            </a:pPr>
            <a:r>
              <a:rPr sz="1350" b="1">
                <a:solidFill>
                  <a:srgbClr val="B4CAFA"/>
                </a:solidFill>
                <a:latin typeface="Aptos"/>
                <a:ea typeface="Aptos"/>
                <a:cs typeface="Aptos"/>
              </a:rPr>
              <a:t>Investigador, 26 años</a:t>
            </a:r>
          </a:p>
        </p:txBody>
      </p:sp>
      <p:sp>
        <p:nvSpPr>
          <p:cNvPr id="12" name="">
            <a:extLst xmlns:a="http://schemas.openxmlformats.org/drawingml/2006/main">
              <a:ext uri="{FF2B5EF4-FFF2-40B4-BE49-F238E27FC236}">
                <a16:creationId xmlns:a16="http://schemas.microsoft.com/office/drawing/2014/main" id="{AF77C6DB-84DE-412D-B79F-60366EE9865C}"/>
              </a:ext>
            </a:extLst>
          </p:cNvPr>
          <p:cNvSpPr>
            <a:spLocks xmlns:a="http://schemas.openxmlformats.org/drawingml/2006/main" noGrp="1"/>
          </p:cNvSpPr>
          <p:nvPr/>
        </p:nvSpPr>
        <p:spPr>
          <a:xfrm xmlns:a="http://schemas.openxmlformats.org/drawingml/2006/main">
            <a:off x="4276725" y="3105150"/>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2DDEB"/>
                </a:solidFill>
                <a:latin typeface="Aptos"/>
                <a:ea typeface="Aptos"/>
                <a:cs typeface="Aptos"/>
              </a:defRPr>
            </a:pPr>
            <a:r>
              <a:rPr sz="1425" b="0">
                <a:solidFill>
                  <a:srgbClr val="D2DDEB"/>
                </a:solidFill>
                <a:latin typeface="Aptos"/>
                <a:ea typeface="Aptos"/>
                <a:cs typeface="Aptos"/>
              </a:rPr>
              <a:t>Verifica fuentes y mediciones.</a:t>
            </a:r>
          </a:p>
        </p:txBody>
      </p:sp>
      <p:sp>
        <p:nvSpPr>
          <p:cNvPr id="13" name="">
            <a:extLst xmlns:a="http://schemas.openxmlformats.org/drawingml/2006/main">
              <a:ext uri="{FF2B5EF4-FFF2-40B4-BE49-F238E27FC236}">
                <a16:creationId xmlns:a16="http://schemas.microsoft.com/office/drawing/2014/main" id="{AFFCE348-4AB3-4F43-8A39-42E1DB001ABB}"/>
              </a:ext>
            </a:extLst>
          </p:cNvPr>
          <p:cNvSpPr>
            <a:spLocks xmlns:a="http://schemas.openxmlformats.org/drawingml/2006/main" noGrp="1"/>
          </p:cNvSpPr>
          <p:nvPr/>
        </p:nvSpPr>
        <p:spPr>
          <a:xfrm xmlns:a="http://schemas.openxmlformats.org/drawingml/2006/main">
            <a:off x="7753350" y="1438275"/>
            <a:ext cx="19050" cy="2619375"/>
          </a:xfrm>
          <a:prstGeom xmlns:a="http://schemas.openxmlformats.org/drawingml/2006/main" prst="rect">
            <a:avLst/>
          </a:prstGeom>
          <a:solidFill xmlns:a="http://schemas.openxmlformats.org/drawingml/2006/main">
            <a:srgbClr val="46556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74AFA3C-2E38-473A-B276-FEF8E9B6866D}"/>
              </a:ext>
            </a:extLst>
          </p:cNvPr>
          <p:cNvSpPr>
            <a:spLocks xmlns:a="http://schemas.openxmlformats.org/drawingml/2006/main" noGrp="1"/>
          </p:cNvSpPr>
          <p:nvPr/>
        </p:nvSpPr>
        <p:spPr>
          <a:xfrm xmlns:a="http://schemas.openxmlformats.org/drawingml/2006/main">
            <a:off x="7981950" y="15049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Franklin Diosdado Palomino Quispe</a:t>
            </a:r>
          </a:p>
        </p:txBody>
      </p:sp>
      <p:sp>
        <p:nvSpPr>
          <p:cNvPr id="15" name="">
            <a:extLst xmlns:a="http://schemas.openxmlformats.org/drawingml/2006/main">
              <a:ext uri="{FF2B5EF4-FFF2-40B4-BE49-F238E27FC236}">
                <a16:creationId xmlns:a16="http://schemas.microsoft.com/office/drawing/2014/main" id="{378BE027-C4D9-4B99-9DE2-959FD636E0AC}"/>
              </a:ext>
            </a:extLst>
          </p:cNvPr>
          <p:cNvSpPr>
            <a:spLocks xmlns:a="http://schemas.openxmlformats.org/drawingml/2006/main" noGrp="1"/>
          </p:cNvSpPr>
          <p:nvPr/>
        </p:nvSpPr>
        <p:spPr>
          <a:xfrm xmlns:a="http://schemas.openxmlformats.org/drawingml/2006/main">
            <a:off x="7981950" y="2571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4CAFA"/>
                </a:solidFill>
                <a:latin typeface="Aptos"/>
                <a:ea typeface="Aptos"/>
                <a:cs typeface="Aptos"/>
              </a:defRPr>
            </a:pPr>
            <a:r>
              <a:rPr sz="1350" b="1">
                <a:solidFill>
                  <a:srgbClr val="B4CAFA"/>
                </a:solidFill>
                <a:latin typeface="Aptos"/>
                <a:ea typeface="Aptos"/>
                <a:cs typeface="Aptos"/>
              </a:rPr>
              <a:t>Expositor, 24 años</a:t>
            </a:r>
          </a:p>
        </p:txBody>
      </p:sp>
      <p:sp>
        <p:nvSpPr>
          <p:cNvPr id="16" name="">
            <a:extLst xmlns:a="http://schemas.openxmlformats.org/drawingml/2006/main">
              <a:ext uri="{FF2B5EF4-FFF2-40B4-BE49-F238E27FC236}">
                <a16:creationId xmlns:a16="http://schemas.microsoft.com/office/drawing/2014/main" id="{E11A2552-8059-4538-830F-7BF49CDB061B}"/>
              </a:ext>
            </a:extLst>
          </p:cNvPr>
          <p:cNvSpPr>
            <a:spLocks xmlns:a="http://schemas.openxmlformats.org/drawingml/2006/main" noGrp="1"/>
          </p:cNvSpPr>
          <p:nvPr/>
        </p:nvSpPr>
        <p:spPr>
          <a:xfrm xmlns:a="http://schemas.openxmlformats.org/drawingml/2006/main">
            <a:off x="7981950" y="3105150"/>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2DDEB"/>
                </a:solidFill>
                <a:latin typeface="Aptos"/>
                <a:ea typeface="Aptos"/>
                <a:cs typeface="Aptos"/>
              </a:defRPr>
            </a:pPr>
            <a:r>
              <a:rPr sz="1425" b="0">
                <a:solidFill>
                  <a:srgbClr val="D2DDEB"/>
                </a:solidFill>
                <a:latin typeface="Aptos"/>
                <a:ea typeface="Aptos"/>
                <a:cs typeface="Aptos"/>
              </a:rPr>
              <a:t>Comunica propuesta y resultados.</a:t>
            </a:r>
          </a:p>
        </p:txBody>
      </p:sp>
      <p:sp>
        <p:nvSpPr>
          <p:cNvPr id="17" name="">
            <a:extLst xmlns:a="http://schemas.openxmlformats.org/drawingml/2006/main">
              <a:ext uri="{FF2B5EF4-FFF2-40B4-BE49-F238E27FC236}">
                <a16:creationId xmlns:a16="http://schemas.microsoft.com/office/drawing/2014/main" id="{40BBB9CF-8FC3-4428-BD67-CA1D023358E9}"/>
              </a:ext>
            </a:extLst>
          </p:cNvPr>
          <p:cNvSpPr>
            <a:spLocks xmlns:a="http://schemas.openxmlformats.org/drawingml/2006/main" noGrp="1"/>
          </p:cNvSpPr>
          <p:nvPr/>
        </p:nvSpPr>
        <p:spPr>
          <a:xfrm xmlns:a="http://schemas.openxmlformats.org/drawingml/2006/main">
            <a:off x="571500" y="4676775"/>
            <a:ext cx="11010900" cy="0"/>
          </a:xfrm>
          <a:prstGeom xmlns:a="http://schemas.openxmlformats.org/drawingml/2006/main" prst="line">
            <a:avLst/>
          </a:prstGeom>
          <a:noFill xmlns:a="http://schemas.openxmlformats.org/drawingml/2006/main"/>
          <a:ln xmlns:a="http://schemas.openxmlformats.org/drawingml/2006/main" w="19050">
            <a:solidFill>
              <a:srgbClr val="465567"/>
            </a:solidFill>
            <a:prstDash val="solid"/>
          </a:ln>
        </p:spPr>
      </p:sp>
      <p:sp>
        <p:nvSpPr>
          <p:cNvPr id="18" name="">
            <a:extLst xmlns:a="http://schemas.openxmlformats.org/drawingml/2006/main">
              <a:ext uri="{FF2B5EF4-FFF2-40B4-BE49-F238E27FC236}">
                <a16:creationId xmlns:a16="http://schemas.microsoft.com/office/drawing/2014/main" id="{91C76B1A-6376-4029-BFE9-879705F23D1A}"/>
              </a:ext>
            </a:extLst>
          </p:cNvPr>
          <p:cNvSpPr>
            <a:spLocks xmlns:a="http://schemas.openxmlformats.org/drawingml/2006/main" noGrp="1"/>
          </p:cNvSpPr>
          <p:nvPr/>
        </p:nvSpPr>
        <p:spPr>
          <a:xfrm xmlns:a="http://schemas.openxmlformats.org/drawingml/2006/main">
            <a:off x="571500" y="4991100"/>
            <a:ext cx="36480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4CAFA"/>
                </a:solidFill>
                <a:latin typeface="Aptos"/>
                <a:ea typeface="Aptos"/>
                <a:cs typeface="Aptos"/>
              </a:defRPr>
            </a:pPr>
            <a:r>
              <a:rPr sz="1650" b="1">
                <a:solidFill>
                  <a:srgbClr val="B4CAFA"/>
                </a:solidFill>
                <a:latin typeface="Aptos"/>
                <a:ea typeface="Aptos"/>
                <a:cs typeface="Aptos"/>
              </a:rPr>
              <a:t>Siguiente decisión</a:t>
            </a:r>
          </a:p>
        </p:txBody>
      </p:sp>
      <p:sp>
        <p:nvSpPr>
          <p:cNvPr id="19" name="">
            <a:extLst xmlns:a="http://schemas.openxmlformats.org/drawingml/2006/main">
              <a:ext uri="{FF2B5EF4-FFF2-40B4-BE49-F238E27FC236}">
                <a16:creationId xmlns:a16="http://schemas.microsoft.com/office/drawing/2014/main" id="{9E382ADE-DB58-459C-825F-A907B990331A}"/>
              </a:ext>
            </a:extLst>
          </p:cNvPr>
          <p:cNvSpPr>
            <a:spLocks xmlns:a="http://schemas.openxmlformats.org/drawingml/2006/main" noGrp="1"/>
          </p:cNvSpPr>
          <p:nvPr/>
        </p:nvSpPr>
        <p:spPr>
          <a:xfrm xmlns:a="http://schemas.openxmlformats.org/drawingml/2006/main">
            <a:off x="571500" y="5495925"/>
            <a:ext cx="1083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Elegir un corredor, validar su ruta y medir un piloto con municipio, transportistas y pasajeros.</a:t>
            </a:r>
          </a:p>
        </p:txBody>
      </p:sp>
    </p:spTree>
    <p:extLst>
      <p:ext uri="{BB962C8B-B14F-4D97-AF65-F5344CB8AC3E}">
        <p14:creationId xmlns:p14="http://schemas.microsoft.com/office/powerpoint/2010/main" val="120739118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2C7016-9DC1-457A-A700-FAB0C16E186A}"/>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A. Cifras y ámbito de cada fuente</a:t>
            </a:r>
          </a:p>
        </p:txBody>
      </p:sp>
      <p:sp>
        <p:nvSpPr>
          <p:cNvPr id="2" name="">
            <a:extLst xmlns:a="http://schemas.openxmlformats.org/drawingml/2006/main">
              <a:ext uri="{FF2B5EF4-FFF2-40B4-BE49-F238E27FC236}">
                <a16:creationId xmlns:a16="http://schemas.microsoft.com/office/drawing/2014/main" id="{F3342415-154D-49C0-898D-8CAB300C7B48}"/>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22</a:t>
            </a:r>
          </a:p>
        </p:txBody>
      </p:sp>
      <p:sp>
        <p:nvSpPr>
          <p:cNvPr id="3" name="">
            <a:extLst xmlns:a="http://schemas.openxmlformats.org/drawingml/2006/main">
              <a:ext uri="{FF2B5EF4-FFF2-40B4-BE49-F238E27FC236}">
                <a16:creationId xmlns:a16="http://schemas.microsoft.com/office/drawing/2014/main" id="{74276CC5-4FBE-46E0-A94C-5A119F78CCA5}"/>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7A01AF70-9C38-4431-A4E4-F2CD476BEE72}"/>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74CB646A-9930-4987-AADF-041C79ECBC8B}"/>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33500"/>
          <a:ext xmlns:a="http://schemas.openxmlformats.org/drawingml/2006/main" cx="11010900" cy="4514850"/>
        </p:xfrm>
        <a:graphic xmlns:a="http://schemas.openxmlformats.org/drawingml/2006/main">
          <a:graphicData uri="http://schemas.openxmlformats.org/drawingml/2006/table">
            <a:tbl>
              <a:tblPr/>
              <a:tblGrid>
                <a:gridCol w="3543300"/>
                <a:gridCol w="3486150"/>
                <a:gridCol w="3981450"/>
              </a:tblGrid>
              <a:tr h="644979">
                <a:tc>
                  <a:txBody>
                    <a:bodyPr wrap="square" lIns="76200" tIns="47625" rIns="66675" bIns="47625">
                      <a:normAutofit/>
                    </a:bodyPr>
                    <a:lstStyle/>
                    <a:p>
                      <a:r>
                        <a:rPr sz="1050" b="1">
                          <a:solidFill>
                            <a:srgbClr val="FFFFFF"/>
                          </a:solidFill>
                          <a:latin typeface="Aptos"/>
                          <a:ea typeface="Aptos"/>
                          <a:cs typeface="Aptos"/>
                        </a:rPr>
                        <a:t>Dato</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Lectura correcta</a:t>
                      </a:r>
                    </a:p>
                  </a:txBody>
                  <a:tcPr marL="91440" marR="91440" marT="45720" marB="45720" anchor="ctr">
                    <a:solidFill>
                      <a:srgbClr val="17202B"/>
                    </a:solidFill>
                  </a:tcPr>
                </a:tc>
              </a:tr>
              <a:tr h="644979">
                <a:tc>
                  <a:txBody>
                    <a:bodyPr wrap="square" lIns="76200" tIns="47625" rIns="66675" bIns="47625">
                      <a:normAutofit/>
                    </a:bodyPr>
                    <a:lstStyle/>
                    <a:p>
                      <a:r>
                        <a:rPr sz="1125" b="0">
                          <a:solidFill>
                            <a:srgbClr val="20252C"/>
                          </a:solidFill>
                          <a:latin typeface="Aptos"/>
                          <a:ea typeface="Aptos"/>
                          <a:cs typeface="Aptos"/>
                        </a:rPr>
                        <a:t>&gt;800 mil viajes; pico 07:00</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PMUS, notas MTC/municipio 2026</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Juliaca + San Miguel + Caracoto</a:t>
                      </a:r>
                    </a:p>
                  </a:txBody>
                  <a:tcPr marL="91440" marR="91440" marT="45720" marB="45720" anchor="ctr">
                    <a:solidFill>
                      <a:srgbClr val="FFFFFF"/>
                    </a:solidFill>
                  </a:tcPr>
                </a:tc>
              </a:tr>
              <a:tr h="644979">
                <a:tc>
                  <a:txBody>
                    <a:bodyPr wrap="square" lIns="76200" tIns="47625" rIns="66675" bIns="47625">
                      <a:normAutofit/>
                    </a:bodyPr>
                    <a:lstStyle/>
                    <a:p>
                      <a:r>
                        <a:rPr sz="1125" b="0">
                          <a:solidFill>
                            <a:srgbClr val="20252C"/>
                          </a:solidFill>
                          <a:latin typeface="Aptos"/>
                          <a:ea typeface="Aptos"/>
                          <a:cs typeface="Aptos"/>
                        </a:rPr>
                        <a:t>62,3 % transporte convencional</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Notas públicas 2026</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Contexto; denominador técnico por confirmar</a:t>
                      </a:r>
                    </a:p>
                  </a:txBody>
                  <a:tcPr marL="91440" marR="91440" marT="45720" marB="45720" anchor="ctr">
                    <a:solidFill>
                      <a:srgbClr val="F5F6F8"/>
                    </a:solidFill>
                  </a:tcPr>
                </a:tc>
              </a:tr>
              <a:tr h="644979">
                <a:tc>
                  <a:txBody>
                    <a:bodyPr wrap="square" lIns="76200" tIns="47625" rIns="66675" bIns="47625">
                      <a:normAutofit/>
                    </a:bodyPr>
                    <a:lstStyle/>
                    <a:p>
                      <a:r>
                        <a:rPr sz="1125" b="0">
                          <a:solidFill>
                            <a:srgbClr val="20252C"/>
                          </a:solidFill>
                          <a:latin typeface="Aptos"/>
                          <a:ea typeface="Aptos"/>
                          <a:cs typeface="Aptos"/>
                        </a:rPr>
                        <a:t>5.204 manzanas; 194.694 hab.</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INEI 2017 + cruce cartográfico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Filtro Juliaca; habitantes asociados</a:t>
                      </a:r>
                    </a:p>
                  </a:txBody>
                  <a:tcPr marL="91440" marR="91440" marT="45720" marB="45720" anchor="ctr">
                    <a:solidFill>
                      <a:srgbClr val="FFFFFF"/>
                    </a:solidFill>
                  </a:tcPr>
                </a:tc>
              </a:tr>
              <a:tr h="644979">
                <a:tc>
                  <a:txBody>
                    <a:bodyPr wrap="square" lIns="76200" tIns="47625" rIns="66675" bIns="47625">
                      <a:normAutofit/>
                    </a:bodyPr>
                    <a:lstStyle/>
                    <a:p>
                      <a:r>
                        <a:rPr sz="1125" b="0">
                          <a:solidFill>
                            <a:srgbClr val="20252C"/>
                          </a:solidFill>
                          <a:latin typeface="Aptos"/>
                          <a:ea typeface="Aptos"/>
                          <a:cs typeface="Aptos"/>
                        </a:rPr>
                        <a:t>40 líneas; 1.963 / 1.969 unidades</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177–178</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Total impreso / suma de filas</a:t>
                      </a:r>
                    </a:p>
                  </a:txBody>
                  <a:tcPr marL="91440" marR="91440" marT="45720" marB="45720" anchor="ctr">
                    <a:solidFill>
                      <a:srgbClr val="F5F6F8"/>
                    </a:solidFill>
                  </a:tcPr>
                </a:tc>
              </a:tr>
              <a:tr h="644979">
                <a:tc>
                  <a:txBody>
                    <a:bodyPr wrap="square" lIns="76200" tIns="47625" rIns="66675" bIns="47625">
                      <a:normAutofit/>
                    </a:bodyPr>
                    <a:lstStyle/>
                    <a:p>
                      <a:r>
                        <a:rPr sz="1125" b="0">
                          <a:solidFill>
                            <a:srgbClr val="20252C"/>
                          </a:solidFill>
                          <a:latin typeface="Aptos"/>
                          <a:ea typeface="Aptos"/>
                          <a:cs typeface="Aptos"/>
                        </a:rPr>
                        <a:t>6.076 mototaxis en 140 empresas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PDU pp. 173–175</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Registro formal, no flota simultánea</a:t>
                      </a:r>
                    </a:p>
                  </a:txBody>
                  <a:tcPr marL="91440" marR="91440" marT="45720" marB="45720" anchor="ctr">
                    <a:solidFill>
                      <a:srgbClr val="FFFFFF"/>
                    </a:solidFill>
                  </a:tcPr>
                </a:tc>
              </a:tr>
              <a:tr h="644979">
                <a:tc>
                  <a:txBody>
                    <a:bodyPr wrap="square" lIns="76200" tIns="47625" rIns="66675" bIns="47625">
                      <a:normAutofit/>
                    </a:bodyPr>
                    <a:lstStyle/>
                    <a:p>
                      <a:r>
                        <a:rPr sz="1125" b="0">
                          <a:solidFill>
                            <a:srgbClr val="20252C"/>
                          </a:solidFill>
                          <a:latin typeface="Aptos"/>
                          <a:ea typeface="Aptos"/>
                          <a:cs typeface="Aptos"/>
                        </a:rPr>
                        <a:t>17 atractores; 85.482 matrículas EBR</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133 y 184–185</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Entradas solapadas; matrícula agregada 2023</a:t>
                      </a:r>
                    </a:p>
                  </a:txBody>
                  <a:tcPr marL="91440" marR="91440" marT="45720" marB="45720" anchor="ctr">
                    <a:solidFill>
                      <a:srgbClr val="F5F6F8"/>
                    </a:solidFill>
                  </a:tcPr>
                </a:tc>
              </a:tr>
            </a:tbl>
          </a:graphicData>
        </a:graphic>
      </p:graphicFrame>
      <p:sp>
        <p:nvSpPr>
          <p:cNvPr id="7" name="">
            <a:extLst xmlns:a="http://schemas.openxmlformats.org/drawingml/2006/main">
              <a:ext uri="{FF2B5EF4-FFF2-40B4-BE49-F238E27FC236}">
                <a16:creationId xmlns:a16="http://schemas.microsoft.com/office/drawing/2014/main" id="{DD3C6DAE-A4C7-44A1-A37B-705A9DBB0231}"/>
              </a:ext>
            </a:extLst>
          </p:cNvPr>
          <p:cNvSpPr>
            <a:spLocks xmlns:a="http://schemas.openxmlformats.org/drawingml/2006/main" noGrp="1"/>
          </p:cNvSpPr>
          <p:nvPr/>
        </p:nvSpPr>
        <p:spPr>
          <a:xfrm xmlns:a="http://schemas.openxmlformats.org/drawingml/2006/main">
            <a:off x="571500" y="602932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9373D"/>
                </a:solidFill>
                <a:latin typeface="Aptos"/>
                <a:ea typeface="Aptos"/>
                <a:cs typeface="Aptos"/>
              </a:defRPr>
            </a:pPr>
            <a:r>
              <a:rPr sz="1275" b="1">
                <a:solidFill>
                  <a:srgbClr val="A9373D"/>
                </a:solidFill>
                <a:latin typeface="Aptos"/>
                <a:ea typeface="Aptos"/>
                <a:cs typeface="Aptos"/>
              </a:rPr>
              <a:t>El PDU es un diagnóstico de consulta pública. Sus cifras no sustituyen la medición del servicio actual.</a:t>
            </a:r>
          </a:p>
        </p:txBody>
      </p:sp>
    </p:spTree>
    <p:extLst>
      <p:ext uri="{BB962C8B-B14F-4D97-AF65-F5344CB8AC3E}">
        <p14:creationId xmlns:p14="http://schemas.microsoft.com/office/powerpoint/2010/main" val="9814643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3B8226-DBA2-4955-B255-820B1957324E}"/>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B. Indicadores operativos del piloto</a:t>
            </a:r>
          </a:p>
        </p:txBody>
      </p:sp>
      <p:sp>
        <p:nvSpPr>
          <p:cNvPr id="2" name="">
            <a:extLst xmlns:a="http://schemas.openxmlformats.org/drawingml/2006/main">
              <a:ext uri="{FF2B5EF4-FFF2-40B4-BE49-F238E27FC236}">
                <a16:creationId xmlns:a16="http://schemas.microsoft.com/office/drawing/2014/main" id="{E3086F31-AA8A-490B-8605-DD699B19BE28}"/>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23</a:t>
            </a:r>
          </a:p>
        </p:txBody>
      </p:sp>
      <p:sp>
        <p:nvSpPr>
          <p:cNvPr id="3" name="">
            <a:extLst xmlns:a="http://schemas.openxmlformats.org/drawingml/2006/main">
              <a:ext uri="{FF2B5EF4-FFF2-40B4-BE49-F238E27FC236}">
                <a16:creationId xmlns:a16="http://schemas.microsoft.com/office/drawing/2014/main" id="{1D4A567E-28DF-45E0-823D-832E368625C3}"/>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2793F7E5-33C0-4332-90F5-514FE3060C9A}"/>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A3C0130A-7914-4AFF-A7D5-DE86E03EC0AE}"/>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257300"/>
          <a:ext xmlns:a="http://schemas.openxmlformats.org/drawingml/2006/main" cx="11010900" cy="4752975"/>
        </p:xfrm>
        <a:graphic xmlns:a="http://schemas.openxmlformats.org/drawingml/2006/main">
          <a:graphicData uri="http://schemas.openxmlformats.org/drawingml/2006/table">
            <a:tbl>
              <a:tblPr/>
              <a:tblGrid>
                <a:gridCol w="2333625"/>
                <a:gridCol w="5810250"/>
                <a:gridCol w="2867025"/>
              </a:tblGrid>
              <a:tr h="594122">
                <a:tc>
                  <a:txBody>
                    <a:bodyPr wrap="square" lIns="76200" tIns="47625" rIns="66675" bIns="47625">
                      <a:normAutofit/>
                    </a:bodyPr>
                    <a:lstStyle/>
                    <a:p>
                      <a:r>
                        <a:rPr sz="1050" b="1">
                          <a:solidFill>
                            <a:srgbClr val="FFFFFF"/>
                          </a:solidFill>
                          <a:latin typeface="Aptos"/>
                          <a:ea typeface="Aptos"/>
                          <a:cs typeface="Aptos"/>
                        </a:rPr>
                        <a:t>Indicador</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Definición propuesta</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 de verificación</a:t>
                      </a:r>
                    </a:p>
                  </a:txBody>
                  <a:tcPr marL="91440" marR="91440" marT="45720" marB="45720" anchor="ctr">
                    <a:solidFill>
                      <a:srgbClr val="17202B"/>
                    </a:solidFill>
                  </a:tcPr>
                </a:tc>
              </a:tr>
              <a:tr h="594122">
                <a:tc>
                  <a:txBody>
                    <a:bodyPr wrap="square" lIns="76200" tIns="47625" rIns="66675" bIns="47625">
                      <a:normAutofit/>
                    </a:bodyPr>
                    <a:lstStyle/>
                    <a:p>
                      <a:r>
                        <a:rPr sz="1125" b="0">
                          <a:solidFill>
                            <a:srgbClr val="20252C"/>
                          </a:solidFill>
                          <a:latin typeface="Aptos"/>
                          <a:ea typeface="Aptos"/>
                          <a:cs typeface="Aptos"/>
                        </a:rPr>
                        <a:t>Cobertura</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Habitantes conocidos a ≤400 m de un abordaje validado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Censo y red peatonal</a:t>
                      </a:r>
                    </a:p>
                  </a:txBody>
                  <a:tcPr marL="91440" marR="91440" marT="45720" marB="45720" anchor="ctr">
                    <a:solidFill>
                      <a:srgbClr val="FFFFFF"/>
                    </a:solidFill>
                  </a:tcPr>
                </a:tc>
              </a:tr>
              <a:tr h="594122">
                <a:tc>
                  <a:txBody>
                    <a:bodyPr wrap="square" lIns="76200" tIns="47625" rIns="66675" bIns="47625">
                      <a:normAutofit/>
                    </a:bodyPr>
                    <a:lstStyle/>
                    <a:p>
                      <a:r>
                        <a:rPr sz="1125" b="0">
                          <a:solidFill>
                            <a:srgbClr val="20252C"/>
                          </a:solidFill>
                          <a:latin typeface="Aptos"/>
                          <a:ea typeface="Aptos"/>
                          <a:cs typeface="Aptos"/>
                        </a:rPr>
                        <a:t>Acceso a destino</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Población conocida que llega a un servicio abierto en ≤45 min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Horarios y tiempos medidos</a:t>
                      </a:r>
                    </a:p>
                  </a:txBody>
                  <a:tcPr marL="91440" marR="91440" marT="45720" marB="45720" anchor="ctr">
                    <a:solidFill>
                      <a:srgbClr val="F5F6F8"/>
                    </a:solidFill>
                  </a:tcPr>
                </a:tc>
              </a:tr>
              <a:tr h="594122">
                <a:tc>
                  <a:txBody>
                    <a:bodyPr wrap="square" lIns="76200" tIns="47625" rIns="66675" bIns="47625">
                      <a:normAutofit/>
                    </a:bodyPr>
                    <a:lstStyle/>
                    <a:p>
                      <a:r>
                        <a:rPr sz="1125" b="0">
                          <a:solidFill>
                            <a:srgbClr val="20252C"/>
                          </a:solidFill>
                          <a:latin typeface="Aptos"/>
                          <a:ea typeface="Aptos"/>
                          <a:cs typeface="Aptos"/>
                        </a:rPr>
                        <a:t>Espera</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Intervalo observado / 2 como aproximación, con variabilidad aparte</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Conteo en parada y GPS</a:t>
                      </a:r>
                    </a:p>
                  </a:txBody>
                  <a:tcPr marL="91440" marR="91440" marT="45720" marB="45720" anchor="ctr">
                    <a:solidFill>
                      <a:srgbClr val="FFFFFF"/>
                    </a:solidFill>
                  </a:tcPr>
                </a:tc>
              </a:tr>
              <a:tr h="594122">
                <a:tc>
                  <a:txBody>
                    <a:bodyPr wrap="square" lIns="76200" tIns="47625" rIns="66675" bIns="47625">
                      <a:normAutofit/>
                    </a:bodyPr>
                    <a:lstStyle/>
                    <a:p>
                      <a:r>
                        <a:rPr sz="1125" b="0">
                          <a:solidFill>
                            <a:srgbClr val="20252C"/>
                          </a:solidFill>
                          <a:latin typeface="Aptos"/>
                          <a:ea typeface="Aptos"/>
                          <a:cs typeface="Aptos"/>
                        </a:rPr>
                        <a:t>Regularidad</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Variación de intervalos por ruta, sentido, día y hora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Despacho y GPS</a:t>
                      </a:r>
                    </a:p>
                  </a:txBody>
                  <a:tcPr marL="91440" marR="91440" marT="45720" marB="45720" anchor="ctr">
                    <a:solidFill>
                      <a:srgbClr val="F5F6F8"/>
                    </a:solidFill>
                  </a:tcPr>
                </a:tc>
              </a:tr>
              <a:tr h="594122">
                <a:tc>
                  <a:txBody>
                    <a:bodyPr wrap="square" lIns="76200" tIns="47625" rIns="66675" bIns="47625">
                      <a:normAutofit/>
                    </a:bodyPr>
                    <a:lstStyle/>
                    <a:p>
                      <a:r>
                        <a:rPr sz="1125" b="0">
                          <a:solidFill>
                            <a:srgbClr val="20252C"/>
                          </a:solidFill>
                          <a:latin typeface="Aptos"/>
                          <a:ea typeface="Aptos"/>
                          <a:cs typeface="Aptos"/>
                        </a:rPr>
                        <a:t>Capacidad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Plazas por hora/sentido y ocupación en tramo crítico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Flota habilitada y aforo</a:t>
                      </a:r>
                    </a:p>
                  </a:txBody>
                  <a:tcPr marL="91440" marR="91440" marT="45720" marB="45720" anchor="ctr">
                    <a:solidFill>
                      <a:srgbClr val="FFFFFF"/>
                    </a:solidFill>
                  </a:tcPr>
                </a:tc>
              </a:tr>
              <a:tr h="594122">
                <a:tc>
                  <a:txBody>
                    <a:bodyPr wrap="square" lIns="76200" tIns="47625" rIns="66675" bIns="47625">
                      <a:normAutofit/>
                    </a:bodyPr>
                    <a:lstStyle/>
                    <a:p>
                      <a:r>
                        <a:rPr sz="1125" b="0">
                          <a:solidFill>
                            <a:srgbClr val="20252C"/>
                          </a:solidFill>
                          <a:latin typeface="Aptos"/>
                          <a:ea typeface="Aptos"/>
                          <a:cs typeface="Aptos"/>
                        </a:rPr>
                        <a:t>Congestión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Velocidad reciente frente a histórica del mismo tramo/franja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GPS con muestras suficientes</a:t>
                      </a:r>
                    </a:p>
                  </a:txBody>
                  <a:tcPr marL="91440" marR="91440" marT="45720" marB="45720" anchor="ctr">
                    <a:solidFill>
                      <a:srgbClr val="F5F6F8"/>
                    </a:solidFill>
                  </a:tcPr>
                </a:tc>
              </a:tr>
              <a:tr h="594122">
                <a:tc>
                  <a:txBody>
                    <a:bodyPr wrap="square" lIns="76200" tIns="47625" rIns="66675" bIns="47625">
                      <a:normAutofit/>
                    </a:bodyPr>
                    <a:lstStyle/>
                    <a:p>
                      <a:r>
                        <a:rPr sz="1125" b="0">
                          <a:solidFill>
                            <a:srgbClr val="20252C"/>
                          </a:solidFill>
                          <a:latin typeface="Aptos"/>
                          <a:ea typeface="Aptos"/>
                          <a:cs typeface="Aptos"/>
                        </a:rPr>
                        <a:t>Equidad y seguridad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Ganadores/perdedores de acceso; abordajes y desvíos verificados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Resultados por manzana y campo</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ADC639-4464-4EF1-8404-0368607B3F3E}"/>
              </a:ext>
            </a:extLst>
          </p:cNvPr>
          <p:cNvSpPr>
            <a:spLocks xmlns:a="http://schemas.openxmlformats.org/drawingml/2006/main" noGrp="1"/>
          </p:cNvSpPr>
          <p:nvPr/>
        </p:nvSpPr>
        <p:spPr>
          <a:xfrm xmlns:a="http://schemas.openxmlformats.org/drawingml/2006/main">
            <a:off x="571500" y="614362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9373D"/>
                </a:solidFill>
                <a:latin typeface="Aptos"/>
                <a:ea typeface="Aptos"/>
                <a:cs typeface="Aptos"/>
              </a:defRPr>
            </a:pPr>
            <a:r>
              <a:rPr sz="1275" b="1">
                <a:solidFill>
                  <a:srgbClr val="A9373D"/>
                </a:solidFill>
                <a:latin typeface="Aptos"/>
                <a:ea typeface="Aptos"/>
                <a:cs typeface="Aptos"/>
              </a:rPr>
              <a:t>Los umbrales de 400 m y 45 min son parámetros para probar sensibilidad, no estándares asumidos para toda Juliaca.</a:t>
            </a:r>
          </a:p>
        </p:txBody>
      </p:sp>
    </p:spTree>
    <p:extLst>
      <p:ext uri="{BB962C8B-B14F-4D97-AF65-F5344CB8AC3E}">
        <p14:creationId xmlns:p14="http://schemas.microsoft.com/office/powerpoint/2010/main" val="66626836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BF0CFC-E441-4C04-949A-51B28B76A4AD}"/>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C. Qué falta para una recomendación pública confiable</a:t>
            </a:r>
          </a:p>
        </p:txBody>
      </p:sp>
      <p:sp>
        <p:nvSpPr>
          <p:cNvPr id="2" name="">
            <a:extLst xmlns:a="http://schemas.openxmlformats.org/drawingml/2006/main">
              <a:ext uri="{FF2B5EF4-FFF2-40B4-BE49-F238E27FC236}">
                <a16:creationId xmlns:a16="http://schemas.microsoft.com/office/drawing/2014/main" id="{DBA635C6-6606-4F1F-9D73-30E61561FE0D}"/>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24</a:t>
            </a:r>
          </a:p>
        </p:txBody>
      </p:sp>
      <p:sp>
        <p:nvSpPr>
          <p:cNvPr id="3" name="">
            <a:extLst xmlns:a="http://schemas.openxmlformats.org/drawingml/2006/main">
              <a:ext uri="{FF2B5EF4-FFF2-40B4-BE49-F238E27FC236}">
                <a16:creationId xmlns:a16="http://schemas.microsoft.com/office/drawing/2014/main" id="{57DA2FB4-88B8-44E7-BC35-6319FC575F69}"/>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26E0D60F-6320-45CB-A0DF-A2F452B5A4E8}"/>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FD9B0A02-A397-440F-959C-576683DC0A29}"/>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23975"/>
          <a:ext xmlns:a="http://schemas.openxmlformats.org/drawingml/2006/main" cx="11010900" cy="4400550"/>
        </p:xfrm>
        <a:graphic xmlns:a="http://schemas.openxmlformats.org/drawingml/2006/main">
          <a:graphicData uri="http://schemas.openxmlformats.org/drawingml/2006/table">
            <a:tbl>
              <a:tblPr/>
              <a:tblGrid>
                <a:gridCol w="2524125"/>
                <a:gridCol w="4067175"/>
                <a:gridCol w="4419600"/>
              </a:tblGrid>
              <a:tr h="628650">
                <a:tc>
                  <a:txBody>
                    <a:bodyPr wrap="square" lIns="76200" tIns="47625" rIns="66675" bIns="47625">
                      <a:normAutofit/>
                    </a:bodyPr>
                    <a:lstStyle/>
                    <a:p>
                      <a:r>
                        <a:rPr sz="1125" b="1">
                          <a:solidFill>
                            <a:srgbClr val="FFFFFF"/>
                          </a:solidFill>
                          <a:latin typeface="Aptos"/>
                          <a:ea typeface="Aptos"/>
                          <a:cs typeface="Aptos"/>
                        </a:rPr>
                        <a:t>Necesidad</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Situación actual</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Paso de validación</a:t>
                      </a:r>
                    </a:p>
                  </a:txBody>
                  <a:tcPr marL="91440" marR="91440" marT="45720" marB="45720" anchor="ctr">
                    <a:solidFill>
                      <a:srgbClr val="17202B"/>
                    </a:solidFill>
                  </a:tcPr>
                </a:tc>
              </a:tr>
              <a:tr h="628650">
                <a:tc>
                  <a:txBody>
                    <a:bodyPr wrap="square" lIns="76200" tIns="47625" rIns="66675" bIns="47625">
                      <a:normAutofit/>
                    </a:bodyPr>
                    <a:lstStyle/>
                    <a:p>
                      <a:r>
                        <a:rPr sz="1200" b="0">
                          <a:solidFill>
                            <a:srgbClr val="20252C"/>
                          </a:solidFill>
                          <a:latin typeface="Aptos"/>
                          <a:ea typeface="Aptos"/>
                          <a:cs typeface="Aptos"/>
                        </a:rPr>
                        <a:t>40 trazados urbanos vigentes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Catálogo PDU, sin geometrías públicas verificadas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Resoluciones, paraderos y recorrido en campo</a:t>
                      </a:r>
                    </a:p>
                  </a:txBody>
                  <a:tcPr marL="91440" marR="91440" marT="45720" marB="45720" anchor="ctr">
                    <a:solidFill>
                      <a:srgbClr val="FFFFFF"/>
                    </a:solidFill>
                  </a:tcPr>
                </a:tc>
              </a:tr>
              <a:tr h="628650">
                <a:tc>
                  <a:txBody>
                    <a:bodyPr wrap="square" lIns="76200" tIns="47625" rIns="66675" bIns="47625">
                      <a:normAutofit/>
                    </a:bodyPr>
                    <a:lstStyle/>
                    <a:p>
                      <a:r>
                        <a:rPr sz="1200" b="0">
                          <a:solidFill>
                            <a:srgbClr val="20252C"/>
                          </a:solidFill>
                          <a:latin typeface="Aptos"/>
                          <a:ea typeface="Aptos"/>
                          <a:cs typeface="Aptos"/>
                        </a:rPr>
                        <a:t>Frecuencias por día/hora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El PDU no las publica por línea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Despacho y conteos en parada</a:t>
                      </a:r>
                    </a:p>
                  </a:txBody>
                  <a:tcPr marL="91440" marR="91440" marT="45720" marB="45720" anchor="ctr">
                    <a:solidFill>
                      <a:srgbClr val="F5F6F8"/>
                    </a:solidFill>
                  </a:tcPr>
                </a:tc>
              </a:tr>
              <a:tr h="628650">
                <a:tc>
                  <a:txBody>
                    <a:bodyPr wrap="square" lIns="76200" tIns="47625" rIns="66675" bIns="47625">
                      <a:normAutofit/>
                    </a:bodyPr>
                    <a:lstStyle/>
                    <a:p>
                      <a:r>
                        <a:rPr sz="1200" b="0">
                          <a:solidFill>
                            <a:srgbClr val="20252C"/>
                          </a:solidFill>
                          <a:latin typeface="Aptos"/>
                          <a:ea typeface="Aptos"/>
                          <a:cs typeface="Aptos"/>
                        </a:rPr>
                        <a:t>GPS real y tiempos de llegada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Integración operativa pendiente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Acuerdo con operador, calidad y privacidad</a:t>
                      </a:r>
                    </a:p>
                  </a:txBody>
                  <a:tcPr marL="91440" marR="91440" marT="45720" marB="45720" anchor="ctr">
                    <a:solidFill>
                      <a:srgbClr val="FFFFFF"/>
                    </a:solidFill>
                  </a:tcPr>
                </a:tc>
              </a:tr>
              <a:tr h="628650">
                <a:tc>
                  <a:txBody>
                    <a:bodyPr wrap="square" lIns="76200" tIns="47625" rIns="66675" bIns="47625">
                      <a:normAutofit/>
                    </a:bodyPr>
                    <a:lstStyle/>
                    <a:p>
                      <a:r>
                        <a:rPr sz="1200" b="0">
                          <a:solidFill>
                            <a:srgbClr val="20252C"/>
                          </a:solidFill>
                          <a:latin typeface="Aptos"/>
                          <a:ea typeface="Aptos"/>
                          <a:cs typeface="Aptos"/>
                        </a:rPr>
                        <a:t>Demanda origen-destino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Censo residencial y PMUS agregado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Encuestas OD y ascensos/descensos</a:t>
                      </a:r>
                    </a:p>
                  </a:txBody>
                  <a:tcPr marL="91440" marR="91440" marT="45720" marB="45720" anchor="ctr">
                    <a:solidFill>
                      <a:srgbClr val="F5F6F8"/>
                    </a:solidFill>
                  </a:tcPr>
                </a:tc>
              </a:tr>
              <a:tr h="628650">
                <a:tc>
                  <a:txBody>
                    <a:bodyPr wrap="square" lIns="76200" tIns="47625" rIns="66675" bIns="47625">
                      <a:normAutofit/>
                    </a:bodyPr>
                    <a:lstStyle/>
                    <a:p>
                      <a:r>
                        <a:rPr sz="1200" b="0">
                          <a:solidFill>
                            <a:srgbClr val="20252C"/>
                          </a:solidFill>
                          <a:latin typeface="Aptos"/>
                          <a:ea typeface="Aptos"/>
                          <a:cs typeface="Aptos"/>
                        </a:rPr>
                        <a:t>Semáforos y seguridad vial</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Inventario y datos parciales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Aforos, fases, incidentes y autoridad</a:t>
                      </a:r>
                    </a:p>
                  </a:txBody>
                  <a:tcPr marL="91440" marR="91440" marT="45720" marB="45720" anchor="ctr">
                    <a:solidFill>
                      <a:srgbClr val="FFFFFF"/>
                    </a:solidFill>
                  </a:tcPr>
                </a:tc>
              </a:tr>
              <a:tr h="628650">
                <a:tc>
                  <a:txBody>
                    <a:bodyPr wrap="square" lIns="76200" tIns="47625" rIns="66675" bIns="47625">
                      <a:normAutofit/>
                    </a:bodyPr>
                    <a:lstStyle/>
                    <a:p>
                      <a:r>
                        <a:rPr sz="1200" b="0">
                          <a:solidFill>
                            <a:srgbClr val="20252C"/>
                          </a:solidFill>
                          <a:latin typeface="Aptos"/>
                          <a:ea typeface="Aptos"/>
                          <a:cs typeface="Aptos"/>
                        </a:rPr>
                        <a:t>Impacto de la propuesta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Aún sin piloto medido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Antes/después y corredor de control</a:t>
                      </a:r>
                    </a:p>
                  </a:txBody>
                  <a:tcPr marL="91440" marR="91440" marT="45720" marB="45720" anchor="ctr">
                    <a:solidFill>
                      <a:srgbClr val="F5F6F8"/>
                    </a:solidFill>
                  </a:tcPr>
                </a:tc>
              </a:tr>
            </a:tbl>
          </a:graphicData>
        </a:graphic>
      </p:graphicFrame>
      <p:sp>
        <p:nvSpPr>
          <p:cNvPr id="7" name="">
            <a:extLst xmlns:a="http://schemas.openxmlformats.org/drawingml/2006/main">
              <a:ext uri="{FF2B5EF4-FFF2-40B4-BE49-F238E27FC236}">
                <a16:creationId xmlns:a16="http://schemas.microsoft.com/office/drawing/2014/main" id="{370D15C6-B819-4FB7-8DE8-25512E5A4E38}"/>
              </a:ext>
            </a:extLst>
          </p:cNvPr>
          <p:cNvSpPr>
            <a:spLocks xmlns:a="http://schemas.openxmlformats.org/drawingml/2006/main" noGrp="1"/>
          </p:cNvSpPr>
          <p:nvPr/>
        </p:nvSpPr>
        <p:spPr>
          <a:xfrm xmlns:a="http://schemas.openxmlformats.org/drawingml/2006/main">
            <a:off x="571500" y="59531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75CBA"/>
                </a:solidFill>
                <a:latin typeface="Aptos"/>
                <a:ea typeface="Aptos"/>
                <a:cs typeface="Aptos"/>
              </a:defRPr>
            </a:pPr>
            <a:r>
              <a:rPr sz="1350" b="1">
                <a:solidFill>
                  <a:srgbClr val="275CBA"/>
                </a:solidFill>
                <a:latin typeface="Aptos"/>
                <a:ea typeface="Aptos"/>
                <a:cs typeface="Aptos"/>
              </a:rPr>
              <a:t>Puriy ya permite estudiar escenarios. La recomendación definitiva exige validar calle, operación y efecto sobre los usuarios.</a:t>
            </a:r>
          </a:p>
        </p:txBody>
      </p:sp>
    </p:spTree>
    <p:extLst>
      <p:ext uri="{BB962C8B-B14F-4D97-AF65-F5344CB8AC3E}">
        <p14:creationId xmlns:p14="http://schemas.microsoft.com/office/powerpoint/2010/main" val="951130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2026-09-23T01:56:07.9780000Z</dcterms:created>
  <dcterms:modified xsi:type="dcterms:W3CDTF">2026-09-23T01:56:07.9780000Z</dcterms:modified>
</coreProperties>
</file>