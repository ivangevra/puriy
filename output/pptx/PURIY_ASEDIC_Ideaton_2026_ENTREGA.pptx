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bd43666def4c06" /><Relationship Type="http://schemas.openxmlformats.org/officeDocument/2006/relationships/extended-properties" Target="/docProps/app.xml" Id="R80d55b4741674f98" /><Relationship Type="http://schemas.openxmlformats.org/officeDocument/2006/relationships/officeDocument" Target="/ppt/presentation.xml" Id="R9113249eae0540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e2564f98940a2"/>
  </p:sldMasterIdLst>
  <p:notesMasterIdLst>
    <p:notesMasterId xmlns:r="http://schemas.openxmlformats.org/officeDocument/2006/relationships" r:id="R5ab9eddeed904af9"/>
  </p:notesMasterIdLst>
  <p:sldIdLst>
    <p:sldId xmlns:r="http://schemas.openxmlformats.org/officeDocument/2006/relationships" id="256" r:id="R5e350af6e5474dca"/>
    <p:sldId xmlns:r="http://schemas.openxmlformats.org/officeDocument/2006/relationships" id="257" r:id="Ra3f7dffddddb4a0f"/>
    <p:sldId xmlns:r="http://schemas.openxmlformats.org/officeDocument/2006/relationships" id="258" r:id="R859022d4785c41cf"/>
    <p:sldId xmlns:r="http://schemas.openxmlformats.org/officeDocument/2006/relationships" id="259" r:id="R90bde5024eb749d7"/>
    <p:sldId xmlns:r="http://schemas.openxmlformats.org/officeDocument/2006/relationships" id="260" r:id="R9af526f4ee4b4b45"/>
    <p:sldId xmlns:r="http://schemas.openxmlformats.org/officeDocument/2006/relationships" id="261" r:id="R428b11cb0c4e4a48"/>
    <p:sldId xmlns:r="http://schemas.openxmlformats.org/officeDocument/2006/relationships" id="262" r:id="Rdace789523974a5b"/>
    <p:sldId xmlns:r="http://schemas.openxmlformats.org/officeDocument/2006/relationships" id="263" r:id="Re9c42cf965674f48"/>
    <p:sldId xmlns:r="http://schemas.openxmlformats.org/officeDocument/2006/relationships" id="264" r:id="Rcccdba83e6f64e05"/>
    <p:sldId xmlns:r="http://schemas.openxmlformats.org/officeDocument/2006/relationships" id="265" r:id="Rd14e5008d29840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c36258ea464fb7" /><Relationship Type="http://schemas.openxmlformats.org/officeDocument/2006/relationships/slideMaster" Target="/ppt/slideMasters/slideMaster1.xml" Id="R49ee2564f98940a2" /><Relationship Type="http://schemas.openxmlformats.org/officeDocument/2006/relationships/notesMaster" Target="/ppt/notesMasters/notesMaster1.xml" Id="R5ab9eddeed904af9" /><Relationship Type="http://schemas.openxmlformats.org/officeDocument/2006/relationships/presProps" Target="/ppt/presProps.xml" Id="R9ed4b64439a642ca" /><Relationship Type="http://schemas.openxmlformats.org/officeDocument/2006/relationships/tableStyles" Target="/ppt/tableStyles.xml" Id="Rc19f624bc39d46d2" /><Relationship Type="http://schemas.openxmlformats.org/officeDocument/2006/relationships/slide" Target="/ppt/slides/slide1.xml" Id="R5e350af6e5474dca" /><Relationship Type="http://schemas.openxmlformats.org/officeDocument/2006/relationships/slide" Target="/ppt/slides/slide2.xml" Id="Ra3f7dffddddb4a0f" /><Relationship Type="http://schemas.openxmlformats.org/officeDocument/2006/relationships/slide" Target="/ppt/slides/slide3.xml" Id="R859022d4785c41cf" /><Relationship Type="http://schemas.openxmlformats.org/officeDocument/2006/relationships/slide" Target="/ppt/slides/slide4.xml" Id="R90bde5024eb749d7" /><Relationship Type="http://schemas.openxmlformats.org/officeDocument/2006/relationships/slide" Target="/ppt/slides/slide5.xml" Id="R9af526f4ee4b4b45" /><Relationship Type="http://schemas.openxmlformats.org/officeDocument/2006/relationships/slide" Target="/ppt/slides/slide6.xml" Id="R428b11cb0c4e4a48" /><Relationship Type="http://schemas.openxmlformats.org/officeDocument/2006/relationships/slide" Target="/ppt/slides/slide7.xml" Id="Rdace789523974a5b" /><Relationship Type="http://schemas.openxmlformats.org/officeDocument/2006/relationships/slide" Target="/ppt/slides/slide8.xml" Id="Re9c42cf965674f48" /><Relationship Type="http://schemas.openxmlformats.org/officeDocument/2006/relationships/slide" Target="/ppt/slides/slide9.xml" Id="Rcccdba83e6f64e05" /><Relationship Type="http://schemas.openxmlformats.org/officeDocument/2006/relationships/slide" Target="/ppt/slides/slide10.xml" Id="Rd14e5008d29840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e8ac5d74f7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395a5ce3464d5d" /><Relationship Type="http://schemas.openxmlformats.org/officeDocument/2006/relationships/notesMaster" Target="/ppt/notesMasters/notesMaster1.xml" Id="R877b2748b77247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b3b9b506b04768" /><Relationship Type="http://schemas.openxmlformats.org/officeDocument/2006/relationships/notesMaster" Target="/ppt/notesMasters/notesMaster1.xml" Id="R068aa93649c742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e01540583422b" /><Relationship Type="http://schemas.openxmlformats.org/officeDocument/2006/relationships/notesMaster" Target="/ppt/notesMasters/notesMaster1.xml" Id="R637005b0c9d44c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85bdfd3484271" /><Relationship Type="http://schemas.openxmlformats.org/officeDocument/2006/relationships/notesMaster" Target="/ppt/notesMasters/notesMaster1.xml" Id="R4a4e221551364f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fc14d078b4537" /><Relationship Type="http://schemas.openxmlformats.org/officeDocument/2006/relationships/notesMaster" Target="/ppt/notesMasters/notesMaster1.xml" Id="R4dd32ed34b07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1174201c9441e" /><Relationship Type="http://schemas.openxmlformats.org/officeDocument/2006/relationships/notesMaster" Target="/ppt/notesMasters/notesMaster1.xml" Id="Rf758e115007645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55e2377a7f4415" /><Relationship Type="http://schemas.openxmlformats.org/officeDocument/2006/relationships/notesMaster" Target="/ppt/notesMasters/notesMaster1.xml" Id="Ra366ee6c2eb348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f30362b48945c4" /><Relationship Type="http://schemas.openxmlformats.org/officeDocument/2006/relationships/notesMaster" Target="/ppt/notesMasters/notesMaster1.xml" Id="R5fc3adcbae9a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ebf66aa3e34660" /><Relationship Type="http://schemas.openxmlformats.org/officeDocument/2006/relationships/notesMaster" Target="/ppt/notesMasters/notesMaster1.xml" Id="R21ff89365fc849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fda360de3b4238" /><Relationship Type="http://schemas.openxmlformats.org/officeDocument/2006/relationships/notesMaster" Target="/ppt/notesMasters/notesMaster1.xml" Id="Rcd41a0b7289143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situación cotidiana: una persona sabe dónde quiere llegar, pero no siempre sabe qué micro tomar, cuánto esperará o qué ruta evitar por congestión. Puriy convierte datos dispersos en una orientación útil para el pasajero y en evidencia para quienes planifican la movilidad.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problema no consiste solo en falta de rutas. La dificultad está en cruzar población, oferta de transporte, horarios, destinos y condiciones reales de circulación. Los resultados señalados son resultados esperados y deben medirse durante un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cartografía INEI y Censo 2017 para el filtro Juliaca mostrado en el prototipo; PDU Juliaca 2026-2035 para líneas y flota. El PDU imprime un total de 1,963 vehículos. Las rutas y frecuencias operativas requieren validación de campo y con los operadores.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a Puriy como una plataforma común con vistas distintas. La ciudadanía recibe orientación. Los transportistas ven operación y regularidad. La municipalidad compara escenarios. Los destinos urbanos permiten medir si una ruta acerca realmente a la población a sus actividades.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el mapa. El usuario selecciona una ruta y revisa sus sentidos, frecuencia, horario y paraderos. En la vista de gestión, el operador puede comparar una ruta base con una propuesta y calcular cobertura, capacidad y unidades necesarias. La red completa requiere validar los recorridos oficiales y su operación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flujo separa lo disponible de la siguiente etapa. Hoy el prototipo puede cargar población, rutas, destinos y observaciones, y comparar escenarios. La integración GPS, los aforos y las alertas por tramo requieren acuerdos con operadores, dispositivos y una prueba de campo.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ilustración muestra una función futura. El sistema dividiría la ruta en tramos, por ejemplo cada 100 metros, y construiría una velocidad habitual por día y franja horaria. Una caída sostenida, como pasar de 50 a 10 km/h en este ejemplo, activaría una alerta. Puriy evaluaría una alternativa y un especialista decidiría si corresponde aplicarla. La plataforma no debe desviar rutas automáticamente sin validación técnica y operativa.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cada beneficio con un indicador. Pasajeros: espera y acceso. Transportistas: regularidad y cumplimiento. Municipalidad: cobertura, superposición y tiempos. Estudiantes y población vulnerable: acceso a destinos esenciales. La imagen es una representación conceptual, no un registro de un piloto ejecutado.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viabilidad se basa en una arquitectura web ya disponible y en una implementación gradual. Los gastos principales son alojamiento del frontend y backend, base de datos, dominio, seguridad, personal técnico, actualización de datos, trabajo de campo y GPS cuando se conecte la flota. El piloto empieza con un corredor para estimar costos reales antes de escalar.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 una solicitud concreta: acceso a un corredor piloto, coordinación con operadores y datos de campo. Los DNI deben mantenerse en el Anexo 01 y no mostrarse durante la exposición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be3938cb74d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f1ade097a47b0" /><Relationship Type="http://schemas.openxmlformats.org/officeDocument/2006/relationships/slideLayout" Target="/ppt/slideLayouts/slideLayout1.xml" Id="Rcd82a83c9559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82a83c9559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7bb77581443ce" /><Relationship Type="http://schemas.openxmlformats.org/officeDocument/2006/relationships/image" Target="/ppt/media/image.png" Id="Rd015878e417c4bb7" /><Relationship Type="http://schemas.openxmlformats.org/officeDocument/2006/relationships/notesSlide" Target="/ppt/notesSlides/notesSlide1.xml" Id="Rd1dec00e7a0c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433e2c30f404b" /><Relationship Type="http://schemas.openxmlformats.org/officeDocument/2006/relationships/image" Target="/ppt/media/image2.png" Id="Re050649727b643d2" /><Relationship Type="http://schemas.openxmlformats.org/officeDocument/2006/relationships/notesSlide" Target="/ppt/notesSlides/notesSlide2.xml" Id="Rc518bbe70b114a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15276095b42ca" /><Relationship Type="http://schemas.openxmlformats.org/officeDocument/2006/relationships/image" Target="/ppt/media/image3.png" Id="R3bfe6ace84df44dc" /><Relationship Type="http://schemas.openxmlformats.org/officeDocument/2006/relationships/notesSlide" Target="/ppt/notesSlides/notesSlide3.xml" Id="Rf70402ff6686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5a807a8ed4ae9" /><Relationship Type="http://schemas.openxmlformats.org/officeDocument/2006/relationships/notesSlide" Target="/ppt/notesSlides/notesSlide4.xml" Id="R5bc2749cde6649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b9e1e20d94c2d" /><Relationship Type="http://schemas.openxmlformats.org/officeDocument/2006/relationships/image" Target="/ppt/media/image4.png" Id="R877e75f73de14e52" /><Relationship Type="http://schemas.openxmlformats.org/officeDocument/2006/relationships/notesSlide" Target="/ppt/notesSlides/notesSlide5.xml" Id="R168c166cb66649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471ca3f8d4e7d" /><Relationship Type="http://schemas.openxmlformats.org/officeDocument/2006/relationships/notesSlide" Target="/ppt/notesSlides/notesSlide6.xml" Id="R36cde1cbe40a46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824e448174be6" /><Relationship Type="http://schemas.openxmlformats.org/officeDocument/2006/relationships/image" Target="/ppt/media/image5.png" Id="R1219cc2d9bf24eec" /><Relationship Type="http://schemas.openxmlformats.org/officeDocument/2006/relationships/image" Target="/ppt/media/image6.png" Id="R41cc344c9d344b3b" /><Relationship Type="http://schemas.openxmlformats.org/officeDocument/2006/relationships/image" Target="/ppt/media/image7.png" Id="R8a82c08b0ca84fb6" /><Relationship Type="http://schemas.openxmlformats.org/officeDocument/2006/relationships/notesSlide" Target="/ppt/notesSlides/notesSlide7.xml" Id="Radfde4060b98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ea5736ddc4016" /><Relationship Type="http://schemas.openxmlformats.org/officeDocument/2006/relationships/image" Target="/ppt/media/image8.png" Id="Ra8b377036fbe4ef5" /><Relationship Type="http://schemas.openxmlformats.org/officeDocument/2006/relationships/notesSlide" Target="/ppt/notesSlides/notesSlide8.xml" Id="Rd690fad91d9646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6392c4c8d4a9f" /><Relationship Type="http://schemas.openxmlformats.org/officeDocument/2006/relationships/notesSlide" Target="/ppt/notesSlides/notesSlide9.xml" Id="R73ca3f5d8f4c4e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f401ffee543dd" /><Relationship Type="http://schemas.openxmlformats.org/officeDocument/2006/relationships/notesSlide" Target="/ppt/notesSlides/notesSlide10.xml" Id="R9789dbef8596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5878e417c4bb7"/>
          <a:srcRect xmlns:a="http://schemas.openxmlformats.org/drawingml/2006/main" l="22685" t="0" r="226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31F42-0E09-44A2-8790-9460167C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B1728"/>
              </a:gs>
              <a:gs pos="100000">
                <a:srgbClr val="0B172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BAC3B-51BB-4F62-B092-2A7679E4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238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DESAFÍO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8534C-8FB1-4058-9FBD-CC5FB013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52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09442-B2F6-4060-8A31-CC5EFE63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2197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Plataforma Inteligente para la Optimización de Rutas de Transporte Urbano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7B826-6B3E-4E48-B1BA-73481C6A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B8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6284A-BC0A-49D7-9096-E8DEEF4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3CC0A-BBAE-4D16-A9DE-B7FB09A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ED7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ED7E2"/>
                </a:solidFill>
                <a:latin typeface="Aptos"/>
                <a:ea typeface="Aptos"/>
                <a:cs typeface="Aptos"/>
              </a:rPr>
              <a:t>Juliaca ·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9AEFB-E837-4642-9481-FAAE1F9A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Movilidad basada en datos para una ciudad que cambia cada día</a:t>
            </a:r>
          </a:p>
        </p:txBody>
      </p:sp>
    </p:spTree>
    <p:extLst>
      <p:ext uri="{BB962C8B-B14F-4D97-AF65-F5344CB8AC3E}">
        <p14:creationId xmlns:p14="http://schemas.microsoft.com/office/powerpoint/2010/main" val="2066625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2DEF4F-F1FC-4404-BEEF-85DDF02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red compleja con información fragmentada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D309B-616A-431C-9B71-FFCD955B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47CF7-CE57-4129-A6BE-A41B6456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BD09-C23C-4968-BC8A-4158273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8FA4D-2578-4462-BA09-3E17EB17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planificación urbana reúne datos de población, rutas, flota, destinos y circulación en fuentes separadas.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CAE28-BAAC-4D14-8B3B-29804E3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Esta fragmentación dificulta detectar zonas desatendidas y ajustar recorridos o frecuencias a la demanda real.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0649727b643d2"/>
          <a:srcRect xmlns:a="http://schemas.openxmlformats.org/drawingml/2006/main" l="0" t="5469" r="0" b="5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257300"/>
            <a:ext cx="5486400" cy="32575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23955-99DC-4A98-BCC4-5CEC387D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9DC09-18FC-46DC-89A9-45CA3CC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reúne la información y la convierte en dos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7CF20-7193-4A35-8F2E-2BCB9E9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Para la población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D3919-09F4-4AFC-973F-79F1ACE0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Qué micro tomar, cuánto caminar y qué alternativa usar cuando cambia el tráfico.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C98C-6563-4137-B286-93B45E91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29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Para la gestión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CAC2B-B170-4762-BE23-699A508D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Comparar rutas, frecuencias, cobertura, flota y escenarios antes de intervenir.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7FE44-57B2-4AEE-A37A-E7B33F81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 esperados del piloto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25386-4AD3-4091-B684-06554B05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79655-F562-4A97-A77A-6ABFFD4A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Menor congestión y recorridos improductivos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336125-234E-44CD-980D-3E831CEC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95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1BF6B-9FA9-4F32-8EF9-9339400E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197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Información clara para pasajeros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6A2D1-E5F5-4162-8786-C92ECDB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9E981-EB69-43C4-807B-3130B4B2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Mayor control de rutas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4276C-8484-4395-9FF2-49CB396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86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B4546-16CB-44A2-8F92-3C6EAB48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10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Evidencia para semáforos y gestión vial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16172-EB0F-45FD-9C06-B0392F0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487145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6616F-E49A-45EF-82A0-032ABE1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El diagnóstico ya tiene una base verificable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FBE9F-E120-450B-9511-AB7415CF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87856-B978-4792-98C2-3AEEC87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CD7F2-359B-48D2-AEEF-BF69B5C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5,204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F378-3384-4FAA-9C6D-614A5B03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manzanas en el filtro Juliaca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C1748-5DE6-410A-804D-16DFE1E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C1299-5124-462A-906A-1AAD211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194,694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DD692-EBFC-4FFD-9124-4C09AD0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habitantes del Censo 2017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5D4B3-9A91-4B97-BA52-262BE5D1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84B39-F9B7-41C6-A3CC-6C1F4A9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C8B2D-BD24-44D3-ACA3-3880D32E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líneas urbanas documentadas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E4793-E8EC-483E-B176-16B2EA81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14450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D8D22-AC6B-4803-AD6E-246BBE9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573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1,963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FA5AB-EFC9-4C94-9FBC-AE6A910C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vehículos formales reportados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e6ace84df44dc"/>
          <a:srcRect xmlns:a="http://schemas.openxmlformats.org/drawingml/2006/main" l="0" t="7062" r="0" b="70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686050"/>
            <a:ext cx="5238750" cy="3124200"/>
          </a:xfrm>
          <a:prstGeom xmlns:a="http://schemas.openxmlformats.org/drawingml/2006/main" prst="roundRect">
            <a:avLst>
              <a:gd name="adj" fmla="val 548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EDAA5-BF27-4D40-A9D8-6CDBA444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Lo que ya integra Puriy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3A41B-BEA6-424B-9B8A-30B20F9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B3477-E723-47F9-9080-850AFB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y densidad por manzana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9C077-1216-4C38-A8C1-460580AB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8DD54-C880-4290-94D1-DC80E51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Rutas, sentidos, paraderos y frecuencias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2064E-1C55-45A4-BBE6-56CA849D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75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E67E6-2D27-4115-A1AF-4CD153E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Mercados, colegios, universidades, hospitales y centros comerciales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99293-3031-4C1D-A78A-0BD6A2E5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Datos que mejorarían la precisión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B23F2A-7C85-4179-A333-E99FF00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911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de flota · aforos por tramo · tiempos de viaje · incidentes viales · ocupación de unidades · obras y cierres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48BF4-47BC-4128-A3AB-CDD11AA2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Fuentes: INEI, Censo 2017; PDU Juliaca 2026-2035. Cifras sujetas al alcance y validación de cada fuente.</a:t>
            </a:r>
          </a:p>
        </p:txBody>
      </p:sp>
    </p:spTree>
    <p:extLst>
      <p:ext uri="{BB962C8B-B14F-4D97-AF65-F5344CB8AC3E}">
        <p14:creationId xmlns:p14="http://schemas.microsoft.com/office/powerpoint/2010/main" val="685341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A828B-DB2F-495E-BCA9-607C110A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Una plataforma para decidir y para viajar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021B2-F74C-4AAE-9398-BE5FE84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8EC26-AF24-4C23-B361-A4C6F494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C9EE6-E5E2-44EA-802A-38889B2D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5717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1169F-68B3-4BC3-9E68-04C71C2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Puriy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1DBCF-E5B3-465A-9186-CD33572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0B83C"/>
                </a:solidFill>
                <a:latin typeface="Aptos"/>
                <a:ea typeface="Aptos"/>
                <a:cs typeface="Aptos"/>
              </a:rPr>
              <a:t>datos compartidos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2C5CA-64C9-4091-A46A-F0EA9FC9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23943-3B8B-4BCC-A88C-949BDB10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E2993-BEF0-4274-8346-A5F8A94C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Control de movilidad, planificación, reorganización de rutas y evaluación de semáforos.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95A52-CDF4-46B5-A9F1-369DFDD1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95500"/>
            <a:ext cx="723900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8D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D2471-F4EC-4A1F-A5CE-40D76E91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B24A3-9F62-452D-8242-75B1533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0970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D372B-2A2C-40A8-A00D-1DA793EF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Seguimiento de flota, regularidad del servicio, horarios y recorridos con mayor congestión.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E0873-0C9F-4612-B8CE-7C43E83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714375" cy="700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B675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DC5BC-5385-4DC7-8F6D-D7FDE668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371B6-872C-46F9-AA79-006848F0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E4D96-B80F-4DF2-947F-D0F34F6C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27908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Micro adecuada, caminata estimada, tiempo de espera y alternativas cuando la circulación cambia.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0D22B-FEC5-4453-AA3C-5829F83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5703"/>
            <a:ext cx="723900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B8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96377-52BE-4B26-A229-AE28518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2AD36-01A4-4D85-BDE9-9449CFA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790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Planificadores y centros de actividad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0BBE8-CC76-4814-898B-B09D3163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2790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Cobertura de colegios, mercados, hospitales, universidades y otros destinos concurridos.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16DDD-8487-4567-B274-FD6A1CD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15703"/>
            <a:ext cx="714375" cy="14468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45B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C481B-CC93-44AB-A337-28EA46DA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055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misma base sirve para orientar el viaje y evaluar cambios de operación.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5D5B2-5D2D-4EED-AD5B-6F49E18C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903800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DE40F-904B-430E-A8F0-5362FDA7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solución integra el viaje y la planificación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9CD20-BD2F-4651-A3D0-C0460417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CEC99-71F2-45C4-A3EE-88569C53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281E3-1D33-4941-9C61-538EE54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Puriy analiza información poblacional y territorial para evaluar rutas, paraderos, frecuencias y asignación de vehículos.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C12CA-0AA4-4118-BE05-D060622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EXPERIENCIA DEL PASAJERO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C22D5-FA48-415E-BBD2-482B9EE2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ADE47-884F-4BDD-B55D-3A721075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Busca origen y destino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3A7F4-F1AE-4151-9A28-EA8E2DE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4E78B-8EBC-4E46-A7AE-B0288BE7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 caminata, micro y recorrido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A466F-0482-4E3E-9362-BB6467DE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D8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30C8C-C715-4E92-A5CC-9159DF13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Consulta frecuencia, horario y tráfico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0FE19-31A8-42DB-9563-5974C312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GESTIÓN DEL SERVICIO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17309-2CAB-4AA2-B28A-4CEC0BA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4DCA3-4F73-427F-BFFA-13EF065C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Propone y compara rutas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3F272-0160-48B9-851C-DCA1ADE3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5BC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FFA77-5CD5-44CD-B3CD-4E37196D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Calcula cobertura, flota y capacidad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e75f73de14e52"/>
          <a:srcRect xmlns:a="http://schemas.openxmlformats.org/drawingml/2006/main" l="4254" t="0" r="42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257300"/>
            <a:ext cx="6248400" cy="4552950"/>
          </a:xfrm>
          <a:prstGeom xmlns:a="http://schemas.openxmlformats.org/drawingml/2006/main" prst="roundRect">
            <a:avLst>
              <a:gd name="adj" fmla="val 3766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165B9-37BE-495E-B494-776A00F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962650"/>
            <a:ext cx="3143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Más de 40 líneas por incorporar y validar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17621-C8CC-4DFE-8D83-126295BE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173821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3BAEE-1F3A-49A8-B76E-1F740468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Funcionamiento de Puriy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B6E82-691E-47F3-A6B0-95E2CC09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F274B-2090-427A-9B88-3093B882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7F8A7-F18A-4828-9F76-3BCDBA9C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Datos de 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15BB9-BFC9-4E01-B9BF-FCCFB8D0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Motor de análisis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C1D61-2F68-4149-B4E8-586F314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4961F-91EE-4310-BC03-A0E9ED86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Población por manzana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93935-1124-4E87-9FF4-A86CAC69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Rutas y paraderos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8B33C-622C-4A8E-9B26-87ECFF08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Destinos y horarios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2311C-C45E-4B4A-B08F-BE7C51AF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266700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Observaciones de campo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C4234-2184-45A6-9307-BA7EF74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52A7A-80CD-4EEE-8D3F-1D7E81E0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762250" cy="2171700"/>
          </a:xfrm>
          <a:prstGeom xmlns:a="http://schemas.openxmlformats.org/drawingml/2006/main" prst="roundRect">
            <a:avLst>
              <a:gd name="adj" fmla="val 877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32B0E-DB5D-49A1-A8D0-EB1B692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207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Comparación de escenarios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E5AE9-D01D-476C-ABE7-80EE769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813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 poblacional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Frecuencia y capacidad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Tiempo de ciclo</a:t>
            </a:r>
          </a:p>
          <a:p xmlns:a="http://schemas.openxmlformats.org/drawingml/2006/main">
            <a:pPr algn="ctr">
              <a:defRPr sz="1425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Costo operativo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36213-1123-48BC-8411-7D416A7F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8DCF3-086E-4BA4-B5B6-6E60B5F0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Ruta para el pasajero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61318-1B75-4406-B704-2304A366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Alternativa de recorrido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48FDC-BA06-488F-B586-3D71E66F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Flota e intervalo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F0D6C-E629-4461-A811-2F499527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52825"/>
            <a:ext cx="32194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DF2"/>
            </a:solidFill>
          </a:ln>
        </p:spPr>
        <p:txBody>
          <a:bodyPr xmlns:a="http://schemas.openxmlformats.org/drawingml/2006/main" wrap="square" lIns="1524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5"/>
                </a:solidFill>
                <a:latin typeface="Aptos"/>
                <a:ea typeface="Aptos"/>
                <a:cs typeface="Aptos"/>
              </a:rPr>
              <a:t>Indicadores y reporte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1B2EC-0859-458E-9D09-BCCC21F4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4092B-AB61-4961-9732-DB370F0F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Disponible en el prototipo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3EC7B-FB61-4C40-8745-91791CBF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Mapa de rutas · densidad censal · destinos · escenarios · frecuencias · trabajo de campo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28851-B45F-4AE3-AFF0-4B5C9D80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Siguiente etapa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1FCB1-EBC5-4F7A-B6D5-FEB0B595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en tiempo real · velocidades históricas · alertas por tramo · aforos · validación con operadores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A7D6C6-BE02-41A9-B5DB-CCA65938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3093930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F1A50-6C8B-49A3-9A85-C8CA801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Innovación: del GPS a una alternativa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9754D-84EF-45A7-95A5-86789076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0ECC-32D2-49B4-83B4-6DBDA4F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BA896-7941-4DB8-9311-1B60250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PROTOTIPO ACTUAL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9cc2d9bf24eec"/>
          <a:srcRect xmlns:a="http://schemas.openxmlformats.org/drawingml/2006/main" l="0" t="12970" r="0" b="12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c344c9d344b3b"/>
          <a:srcRect xmlns:a="http://schemas.openxmlformats.org/drawingml/2006/main" l="0" t="38866" r="0" b="388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619250"/>
            <a:ext cx="2952750" cy="1714500"/>
          </a:xfrm>
          <a:prstGeom xmlns:a="http://schemas.openxmlformats.org/drawingml/2006/main" prst="roundRect">
            <a:avLst>
              <a:gd name="adj" fmla="val 77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94BA4-F79F-41FC-87C7-EB7EA9B5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CONCEPTO DE DETECCIÓN POR TRAMOS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9AC34-6130-4E27-A684-245CE3BE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A06D-6BA3-4B8B-B0EE-AA0F8E2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Dividir el recorrido en tramos cortos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42E50-7FC7-4825-94D4-E943C892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0893B-B1A6-4765-9375-68F24C97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velocidad habitual con GPS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6CC21-9ED5-4884-A586-6749E0C0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89995-912D-49D3-9A58-35D5AEA9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Detectar congestión y evaluar un desvío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590C6-41CE-4A74-9A58-4CBAE4FE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36174"/>
                </a:solidFill>
                <a:latin typeface="Aptos"/>
                <a:ea typeface="Aptos"/>
                <a:cs typeface="Aptos"/>
              </a:rPr>
              <a:t>Ejemplo ilustrativo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7603F-05F6-4250-8F8B-3C14DD1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243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832AD-B34F-4A7A-88FA-5ECD43D5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habitual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14BC4-D8B7-4E54-978A-491713DF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72050"/>
            <a:ext cx="78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07153-91C7-4F7D-9B50-0C95B05D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720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km/h observada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B08F2-44DE-4B91-9EDD-97E94BEC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34050"/>
            <a:ext cx="255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La alerta se valida con varios vehículos y periodos, no con una lectura aislada.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2c08b0ca84fb6"/>
          <a:srcRect xmlns:a="http://schemas.openxmlformats.org/drawingml/2006/main" l="23515" t="0" r="23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0400" y="1257300"/>
            <a:ext cx="4572000" cy="485775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0C3B0-CD3C-4C79-A4E2-848DD747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Capturas reales del prototipo · Ilustración conceptual de la integración GPS futura</a:t>
            </a:r>
          </a:p>
        </p:txBody>
      </p:sp>
    </p:spTree>
    <p:extLst>
      <p:ext uri="{BB962C8B-B14F-4D97-AF65-F5344CB8AC3E}">
        <p14:creationId xmlns:p14="http://schemas.microsoft.com/office/powerpoint/2010/main" val="1697802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C9002-7F5A-4B11-A658-DC92DE3F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Beneficios medibles para la ciudad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19A8D-7063-4CB9-926C-35F152AE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4A1E1-8012-4D9B-8869-C300C570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377036fbe4ef5"/>
          <a:stretch xmlns:a="http://schemas.openxmlformats.org/drawingml/2006/main"/>
        </p:blipFill>
        <p:spPr>
          <a:xfrm xmlns:a="http://schemas.openxmlformats.org/drawingml/2006/main">
            <a:off x="5334000" y="1737378"/>
            <a:ext cx="6248400" cy="3516594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BA60-8828-407A-BC9A-78635204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77215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DDE7"/>
                </a:solidFill>
                <a:latin typeface="Aptos"/>
                <a:ea typeface="Aptos"/>
                <a:cs typeface="Aptos"/>
              </a:rPr>
              <a:t>El piloto medirá cobertura, espera, tiempo de viaje, regularidad y accesibilidad.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77B53-48ED-4874-B92E-E3620FB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Pasajeros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A7523-BEDD-40B9-BAF1-CF89CFA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Menos incertidumbre al elegir una micro y mejores alternativas ante congestión o cambios de ruta.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EE6BB-8CF7-4ED5-AD13-D3713F17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Transportistas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933B5-898E-4A5E-825D-B86757D6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Mayor control de frecuencias, cumplimiento de recorridos y desempeño de la flota.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5AD7F-554D-4EFC-A334-BCB0B3A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Municipalidad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FDD85-1760-411B-B6F2-7468E411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Cobertura, superposición, tiempos y demanda para sustentar cambios de rutas o semáforos.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EE99F-3737-40EC-8E1F-526A2392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A96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9A96B"/>
                </a:solidFill>
                <a:latin typeface="Aptos"/>
                <a:ea typeface="Aptos"/>
                <a:cs typeface="Aptos"/>
              </a:rPr>
              <a:t>Estudiantes y población vulnerable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5E157-6FF6-42CC-ADC1-8FDC7FCA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DD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4DDE7"/>
                </a:solidFill>
                <a:latin typeface="Aptos"/>
                <a:ea typeface="Aptos"/>
                <a:cs typeface="Aptos"/>
              </a:rPr>
              <a:t>Acceso más claro a colegios, mercados, hospitales y otros destinos esenciales.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25C26-58D1-401F-B3D3-60A73C4A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Indicadores del piloto: cobertura, espera, tiempo de viaje, regularidad, capacidad y accesibilidad</a:t>
            </a:r>
          </a:p>
        </p:txBody>
      </p:sp>
    </p:spTree>
    <p:extLst>
      <p:ext uri="{BB962C8B-B14F-4D97-AF65-F5344CB8AC3E}">
        <p14:creationId xmlns:p14="http://schemas.microsoft.com/office/powerpoint/2010/main" val="1660707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7BE92-9A70-4A37-9982-D8AFF17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Viabilidad técnica, operativa y económica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ECA0B-77DD-4C88-A9A6-AE50B1E7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AB439-6F30-4F9D-889B-2951B808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57447-C1DB-4B7B-82E7-912AD557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Infraestructura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5DAC0-CBA3-4469-ACD3-D720E2D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Servidor para frontend y backend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Base de datos y respaldos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Dominio y seguridad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C5C83-A2B5-4AEC-AED0-8852493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Operación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AC201-D000-4927-AAAE-37C9CF04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Responsable técnico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Actualización y validación de datos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Soporte y mejoras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FD5D-94BE-4AED-847F-B93A1267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5BC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5BC6"/>
                </a:solidFill>
                <a:latin typeface="Aptos"/>
                <a:ea typeface="Aptos"/>
                <a:cs typeface="Aptos"/>
              </a:rPr>
              <a:t>Implementación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64D18-5664-4314-88B4-6E452EA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Capacitación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Trabajo de campo</a:t>
            </a:r>
          </a:p>
          <a:p xmlns:a="http://schemas.openxmlformats.org/drawingml/2006/main">
            <a:pPr algn="l">
              <a:defRPr sz="1425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GPS y conectividad gradual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85310-4085-4625-B72D-BF454651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52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Economía del 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9F972-1474-477F-A053-CB80948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209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7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Datos abiertos reducen el inicio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Una ruta permite probar antes de escalar</a:t>
            </a:r>
          </a:p>
          <a:p xmlns:a="http://schemas.openxmlformats.org/drawingml/2006/main">
            <a:pPr algn="l">
              <a:defRPr sz="135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El presupuesto crece con la flota conectada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6CD77-DFEA-4DF3-B407-592922DF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BFE67-D074-4060-AFA1-55AFF091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Piloto propuesto en un corredor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AD11-89DF-41D0-BFBE-6D994515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646C8-820E-43F0-A88F-7E6229F5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Validar datos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65B43-37C6-484A-9C4E-B86758C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2A6F0-5F5A-4D48-A757-F32E36CF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6FB14-D037-4AC0-8AA9-553DAEB3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72CDB9-90FC-4113-BD24-ED36759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Medir en campo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556B5-EC12-48E7-BC37-CDE01B3E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A12E2-A009-4254-B91A-1C3AA945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5C691-A066-440D-AC13-7D45ED2A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37E56-8142-40ED-9968-0D74E9CC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Comparar escenarios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19368-5F76-4914-AA1C-B572B4E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2 sem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97A21F-1742-48DC-AF88-24C89171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E32B0F-EE0D-404E-9127-05971644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D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D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3B201-188B-4AC7-81E1-7724009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Ajustar con actores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685FC1-8EBC-4D23-A0F3-69C284B3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1 sem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E6C6C-1BF6-4051-9C7B-07B4D304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B8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55DB95-93DC-4CD0-856C-F86ECAD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196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D7143B-762B-45C6-AE76-6D51739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768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Probar y evaluar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BC9F5A-9A42-432D-95C3-7FFD7CE5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67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74"/>
                </a:solidFill>
                <a:latin typeface="Aptos"/>
                <a:ea typeface="Aptos"/>
                <a:cs typeface="Aptos"/>
              </a:rPr>
              <a:t>3–4 sem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A1477-49B5-469F-BCA7-11F8E2D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235"/>
                </a:solidFill>
                <a:latin typeface="Aptos"/>
                <a:ea typeface="Aptos"/>
                <a:cs typeface="Aptos"/>
              </a:rPr>
              <a:t>La implementación comienza pequeña, mide resultados y escala con evidencia.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BB3C1D-D737-4E5D-ACB0-C5AAF6A7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859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8597"/>
                </a:solidFill>
                <a:latin typeface="Aptos"/>
                <a:ea typeface="Aptos"/>
                <a:cs typeface="Aptos"/>
              </a:rPr>
              <a:t>ASEDIC · Ideatón por el Transporte Urbano de Juliaca · 2026</a:t>
            </a:r>
          </a:p>
        </p:txBody>
      </p:sp>
    </p:spTree>
    <p:extLst>
      <p:ext uri="{BB962C8B-B14F-4D97-AF65-F5344CB8AC3E}">
        <p14:creationId xmlns:p14="http://schemas.microsoft.com/office/powerpoint/2010/main" val="115928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C7173-2C57-4B59-AC4B-172E895C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Equipo ASEDIC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45052-7004-4182-A5DC-92AF79B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3AE69-4636-4415-84CB-BF7EC6A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AB486-81AC-4E4D-8A55-AA68C94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Tres responsabilidades para llevar Puriy del prototipo al piloto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1E588-0CF8-4A10-8F07-20BAA8C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5DC10-F17D-42FD-A52B-17D87A47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Ivan Antony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Mamani Guevara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3C5F1-9C02-4DE7-82DA-E41A45D6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0B83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0B83C"/>
                </a:solidFill>
                <a:latin typeface="Aptos"/>
                <a:ea typeface="Aptos"/>
                <a:cs typeface="Aptos"/>
              </a:rPr>
              <a:t>Líder · 26 años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1F8C6-5D01-4330-9E7A-EA14B25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Coordina el proyecto, la arquitectura de la solución y la relación con los actores del piloto.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7B614-86F6-48BD-9506-5FDB650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2A4B8-7ACD-4ED4-BC13-23657BB2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Josue Isaac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Coila Belizario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B51BB-D083-4782-A0C0-7ED6AF5D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B8C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B8CF"/>
                </a:solidFill>
                <a:latin typeface="Aptos"/>
                <a:ea typeface="Aptos"/>
                <a:cs typeface="Aptos"/>
              </a:rPr>
              <a:t>Investigador · 26 años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8F0C2-7163-4D13-A8A4-E2899B6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Organiza las fuentes, valida los datos territoriales y define los indicadores de movilidad.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7125A-EA09-4F5C-83F1-C82FF936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058A8-1C98-481E-911A-96BE8BA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908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Franklin Diosdado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Palomino Quispe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DAE55-DA7A-425D-AB4A-DD0084A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B675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B6759"/>
                </a:solidFill>
                <a:latin typeface="Aptos"/>
                <a:ea typeface="Aptos"/>
                <a:cs typeface="Aptos"/>
              </a:rPr>
              <a:t>Expositor · 24 años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C16F4-8910-4ECB-870F-E2189A0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2D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DE"/>
                </a:solidFill>
                <a:latin typeface="Aptos"/>
                <a:ea typeface="Aptos"/>
                <a:cs typeface="Aptos"/>
              </a:rPr>
              <a:t>Comunica la propuesta, documenta la experiencia de usuario y presenta los resultados del piloto.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A8DAE-2DB5-4311-B393-5E99324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5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D375F-DBEE-4479-B0BF-9F98986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Proponemos un piloto con la municipalidad, transportistas y pasajeros.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D0E0D-EFF6-42DE-9A91-576AFA17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10250"/>
            <a:ext cx="3219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8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95250" tIns="28575" rIns="9525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7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1728"/>
                </a:solidFill>
                <a:latin typeface="Aptos"/>
                <a:ea typeface="Aptos"/>
                <a:cs typeface="Aptos"/>
              </a:rPr>
              <a:t>Puriy · mejores decisiones para moverse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88361-5FBA-45D4-BE7E-ECEFD792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A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AC8"/>
                </a:solidFill>
                <a:latin typeface="Aptos"/>
                <a:ea typeface="Aptos"/>
                <a:cs typeface="Aptos"/>
              </a:rPr>
              <a:t>Los DNI se consignan únicamente en el Anexo 01 de inscripción</a:t>
            </a:r>
          </a:p>
        </p:txBody>
      </p:sp>
    </p:spTree>
    <p:extLst>
      <p:ext uri="{BB962C8B-B14F-4D97-AF65-F5344CB8AC3E}">
        <p14:creationId xmlns:p14="http://schemas.microsoft.com/office/powerpoint/2010/main" val="1057045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2026-09-22T04:30:15.7010000Z</dcterms:created>
  <dcterms:modified xsi:type="dcterms:W3CDTF">2026-09-22T04:30:15.7010000Z</dcterms:modified>
</coreProperties>
</file>