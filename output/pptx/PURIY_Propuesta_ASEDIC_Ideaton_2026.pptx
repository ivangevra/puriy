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04a59a68c64011" /><Relationship Type="http://schemas.openxmlformats.org/officeDocument/2006/relationships/extended-properties" Target="/docProps/app.xml" Id="R42215270c5b4415b" /><Relationship Type="http://schemas.openxmlformats.org/officeDocument/2006/relationships/officeDocument" Target="/ppt/presentation.xml" Id="R8640265c68cd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2f4252093e4e6c"/>
  </p:sldMasterIdLst>
  <p:notesMasterIdLst>
    <p:notesMasterId xmlns:r="http://schemas.openxmlformats.org/officeDocument/2006/relationships" r:id="R7b376963a3d0496f"/>
  </p:notesMasterIdLst>
  <p:sldIdLst>
    <p:sldId xmlns:r="http://schemas.openxmlformats.org/officeDocument/2006/relationships" id="256" r:id="R3512248075cc4939"/>
    <p:sldId xmlns:r="http://schemas.openxmlformats.org/officeDocument/2006/relationships" id="257" r:id="R0af3990d63a64c35"/>
    <p:sldId xmlns:r="http://schemas.openxmlformats.org/officeDocument/2006/relationships" id="258" r:id="R6ba45e6cae624282"/>
    <p:sldId xmlns:r="http://schemas.openxmlformats.org/officeDocument/2006/relationships" id="259" r:id="Ra26773ba490546e8"/>
    <p:sldId xmlns:r="http://schemas.openxmlformats.org/officeDocument/2006/relationships" id="260" r:id="R4f855921a52446ac"/>
    <p:sldId xmlns:r="http://schemas.openxmlformats.org/officeDocument/2006/relationships" id="261" r:id="R72bbbb9c752b45db"/>
    <p:sldId xmlns:r="http://schemas.openxmlformats.org/officeDocument/2006/relationships" id="262" r:id="Rc0ab0836f2c34a94"/>
    <p:sldId xmlns:r="http://schemas.openxmlformats.org/officeDocument/2006/relationships" id="263" r:id="R726e6f570ed44a31"/>
    <p:sldId xmlns:r="http://schemas.openxmlformats.org/officeDocument/2006/relationships" id="264" r:id="Rd24824ccd76f46f2"/>
    <p:sldId xmlns:r="http://schemas.openxmlformats.org/officeDocument/2006/relationships" id="265" r:id="Rdf894df082f44f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849075fe284c3b" /><Relationship Type="http://schemas.openxmlformats.org/officeDocument/2006/relationships/slideMaster" Target="/ppt/slideMasters/slideMaster1.xml" Id="R3c2f4252093e4e6c" /><Relationship Type="http://schemas.openxmlformats.org/officeDocument/2006/relationships/notesMaster" Target="/ppt/notesMasters/notesMaster1.xml" Id="R7b376963a3d0496f" /><Relationship Type="http://schemas.openxmlformats.org/officeDocument/2006/relationships/presProps" Target="/ppt/presProps.xml" Id="R3a4b5bda3a304437" /><Relationship Type="http://schemas.openxmlformats.org/officeDocument/2006/relationships/tableStyles" Target="/ppt/tableStyles.xml" Id="Rcf9ec67f2f584055" /><Relationship Type="http://schemas.openxmlformats.org/officeDocument/2006/relationships/slide" Target="/ppt/slides/slide1.xml" Id="R3512248075cc4939" /><Relationship Type="http://schemas.openxmlformats.org/officeDocument/2006/relationships/slide" Target="/ppt/slides/slide2.xml" Id="R0af3990d63a64c35" /><Relationship Type="http://schemas.openxmlformats.org/officeDocument/2006/relationships/slide" Target="/ppt/slides/slide3.xml" Id="R6ba45e6cae624282" /><Relationship Type="http://schemas.openxmlformats.org/officeDocument/2006/relationships/slide" Target="/ppt/slides/slide4.xml" Id="Ra26773ba490546e8" /><Relationship Type="http://schemas.openxmlformats.org/officeDocument/2006/relationships/slide" Target="/ppt/slides/slide5.xml" Id="R4f855921a52446ac" /><Relationship Type="http://schemas.openxmlformats.org/officeDocument/2006/relationships/slide" Target="/ppt/slides/slide6.xml" Id="R72bbbb9c752b45db" /><Relationship Type="http://schemas.openxmlformats.org/officeDocument/2006/relationships/slide" Target="/ppt/slides/slide7.xml" Id="Rc0ab0836f2c34a94" /><Relationship Type="http://schemas.openxmlformats.org/officeDocument/2006/relationships/slide" Target="/ppt/slides/slide8.xml" Id="R726e6f570ed44a31" /><Relationship Type="http://schemas.openxmlformats.org/officeDocument/2006/relationships/slide" Target="/ppt/slides/slide9.xml" Id="Rd24824ccd76f46f2" /><Relationship Type="http://schemas.openxmlformats.org/officeDocument/2006/relationships/slide" Target="/ppt/slides/slide10.xml" Id="Rdf894df082f44f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6b5198c16c43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24ba31a0a14913" /><Relationship Type="http://schemas.openxmlformats.org/officeDocument/2006/relationships/notesMaster" Target="/ppt/notesMasters/notesMaster1.xml" Id="Rc2504f832b5b43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aed0e72c74ce2" /><Relationship Type="http://schemas.openxmlformats.org/officeDocument/2006/relationships/notesMaster" Target="/ppt/notesMasters/notesMaster1.xml" Id="R69d86463f6de4f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53584917934d05" /><Relationship Type="http://schemas.openxmlformats.org/officeDocument/2006/relationships/notesMaster" Target="/ppt/notesMasters/notesMaster1.xml" Id="R93191879df084e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c6158bb12149b2" /><Relationship Type="http://schemas.openxmlformats.org/officeDocument/2006/relationships/notesMaster" Target="/ppt/notesMasters/notesMaster1.xml" Id="R14f6d09f458e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f5a884740a4860" /><Relationship Type="http://schemas.openxmlformats.org/officeDocument/2006/relationships/notesMaster" Target="/ppt/notesMasters/notesMaster1.xml" Id="R799e226c46164b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d3bedc75dc420e" /><Relationship Type="http://schemas.openxmlformats.org/officeDocument/2006/relationships/notesMaster" Target="/ppt/notesMasters/notesMaster1.xml" Id="Rd3203580a61a40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0acf63a7ee42c7" /><Relationship Type="http://schemas.openxmlformats.org/officeDocument/2006/relationships/notesMaster" Target="/ppt/notesMasters/notesMaster1.xml" Id="R9e12e008f029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4b11a1ae974613" /><Relationship Type="http://schemas.openxmlformats.org/officeDocument/2006/relationships/notesMaster" Target="/ppt/notesMasters/notesMaster1.xml" Id="Rdd09e759d5574d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01d5d5459145f3" /><Relationship Type="http://schemas.openxmlformats.org/officeDocument/2006/relationships/notesMaster" Target="/ppt/notesMasters/notesMaster1.xml" Id="Red02d4ba8eb044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7264312d094d07" /><Relationship Type="http://schemas.openxmlformats.org/officeDocument/2006/relationships/notesMaster" Target="/ppt/notesMasters/notesMaster1.xml" Id="R33ef21df3a8e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situación cotidiana: una persona sabe dónde quiere llegar, pero no siempre sabe qué micro tomar, cuánto esperará o qué ruta evitar por congestión. Puriy convierte datos dispersos en una orientación útil para el pasajero y en evidencia para quienes planifican la movilidad.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problema no consiste solo en falta de rutas. La dificultad está en cruzar población, oferta de transporte, horarios, destinos y condiciones reales de circulación. Los resultados señalados son resultados esperados y deben medirse durante un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cartografía INEI y Censo 2017 para el filtro Juliaca mostrado en el prototipo; PDU Juliaca 2026-2035 para líneas y flota. El PDU imprime un total de 1,963 vehículos. Las rutas y frecuencias operativas requieren validación de campo y con los operadores.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a Puriy como una plataforma común con vistas distintas. La ciudadanía recibe orientación. Los transportistas ven operación y regularidad. La municipalidad compara escenarios. Los destinos urbanos permiten medir si una ruta acerca realmente a la población a sus actividades.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el mapa. El usuario selecciona una ruta y revisa sus sentidos, frecuencia, horario y paraderos. En la vista de gestión, el operador puede comparar una ruta base con una propuesta y calcular cobertura, capacidad y unidades necesarias. La red completa requiere validar los recorridos oficiales y su operación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flujo separa lo disponible de la siguiente etapa. Hoy el prototipo puede cargar población, rutas, destinos y observaciones, y comparar escenarios. La integración GPS, los aforos y las alertas por tramo requieren acuerdos con operadores, dispositivos y una prueba de campo.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ilustración muestra una función futura. El sistema dividiría la ruta en tramos, por ejemplo cada 100 metros, y construiría una velocidad habitual por día y franja horaria. Una caída sostenida, como pasar de 50 a 10 km/h en este ejemplo, activaría una alerta. Puriy evaluaría una alternativa y un especialista decidiría si corresponde aplicarla. La plataforma no debe desviar rutas automáticamente sin validación técnica y operativa.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beneficio con un indicador. Pasajeros: espera y acceso. Transportistas: regularidad y cumplimiento. Municipalidad: cobertura, superposición y tiempos. Estudiantes y población vulnerable: acceso a destinos esenciales. La imagen es una representación conceptual, no un registro de un piloto ejecutado.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viabilidad se basa en una arquitectura web ya disponible y en una implementación gradual. Los gastos principales son alojamiento del frontend y backend, base de datos, dominio, seguridad, personal técnico, actualización de datos, trabajo de campo y GPS cuando se conecte la flota. El piloto empieza con un corredor para estimar costos reales antes de escalar.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una solicitud concreta: acceso a un corredor piloto, coordinación con operadores y datos de campo. Los DNI 73968859, 74173317 y 72851335 deben mantenerse en el Anexo 01 y no mostrarse durante la exposición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bcf5ba31b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cdaf2f3284970" /><Relationship Type="http://schemas.openxmlformats.org/officeDocument/2006/relationships/slideLayout" Target="/ppt/slideLayouts/slideLayout1.xml" Id="Re604dd176d4a47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04dd176d4a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d7d564eb047c7" /><Relationship Type="http://schemas.openxmlformats.org/officeDocument/2006/relationships/image" Target="/ppt/media/image.png" Id="Re3787270ccaf4258" /><Relationship Type="http://schemas.openxmlformats.org/officeDocument/2006/relationships/notesSlide" Target="/ppt/notesSlides/notesSlide1.xml" Id="Ra2101dc8e96b48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b6a71051c4ff4" /><Relationship Type="http://schemas.openxmlformats.org/officeDocument/2006/relationships/image" Target="/ppt/media/image2.png" Id="R5d2198b7da3c4110" /><Relationship Type="http://schemas.openxmlformats.org/officeDocument/2006/relationships/notesSlide" Target="/ppt/notesSlides/notesSlide2.xml" Id="R9cc92af744e148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331337b44427c" /><Relationship Type="http://schemas.openxmlformats.org/officeDocument/2006/relationships/image" Target="/ppt/media/image3.png" Id="Re04716df14b04220" /><Relationship Type="http://schemas.openxmlformats.org/officeDocument/2006/relationships/notesSlide" Target="/ppt/notesSlides/notesSlide3.xml" Id="R87975be119de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8c48aa2464c7c" /><Relationship Type="http://schemas.openxmlformats.org/officeDocument/2006/relationships/notesSlide" Target="/ppt/notesSlides/notesSlide4.xml" Id="R7283bc1e6758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17da06b694ed8" /><Relationship Type="http://schemas.openxmlformats.org/officeDocument/2006/relationships/image" Target="/ppt/media/image4.png" Id="R628d15975d844092" /><Relationship Type="http://schemas.openxmlformats.org/officeDocument/2006/relationships/notesSlide" Target="/ppt/notesSlides/notesSlide5.xml" Id="Ra01d2f2cce0848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c3603dc7c4174" /><Relationship Type="http://schemas.openxmlformats.org/officeDocument/2006/relationships/notesSlide" Target="/ppt/notesSlides/notesSlide6.xml" Id="Rda1871d3f3ba4d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9e91215eb4bca" /><Relationship Type="http://schemas.openxmlformats.org/officeDocument/2006/relationships/image" Target="/ppt/media/image5.png" Id="R184814ff24464dce" /><Relationship Type="http://schemas.openxmlformats.org/officeDocument/2006/relationships/image" Target="/ppt/media/image6.png" Id="R216ba1233d294226" /><Relationship Type="http://schemas.openxmlformats.org/officeDocument/2006/relationships/image" Target="/ppt/media/image7.png" Id="Rfa260802e1b74723" /><Relationship Type="http://schemas.openxmlformats.org/officeDocument/2006/relationships/notesSlide" Target="/ppt/notesSlides/notesSlide7.xml" Id="R0be4c66debc04d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e7b6dbc764c6a" /><Relationship Type="http://schemas.openxmlformats.org/officeDocument/2006/relationships/image" Target="/ppt/media/image8.png" Id="Rbb25f4f0c3ee4026" /><Relationship Type="http://schemas.openxmlformats.org/officeDocument/2006/relationships/notesSlide" Target="/ppt/notesSlides/notesSlide8.xml" Id="R18a58b9f145744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9772a772549df" /><Relationship Type="http://schemas.openxmlformats.org/officeDocument/2006/relationships/notesSlide" Target="/ppt/notesSlides/notesSlide9.xml" Id="R2214887dfef345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e5839e0ec4f9a" /><Relationship Type="http://schemas.openxmlformats.org/officeDocument/2006/relationships/notesSlide" Target="/ppt/notesSlides/notesSlide10.xml" Id="Rfafd0ac53e3d45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87270ccaf4258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85517-999D-4B02-A3F5-CAE3AAC4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28"/>
              </a:gs>
              <a:gs pos="100000">
                <a:srgbClr val="0B172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69FCE-845B-462B-B853-947431BA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8"/>
                </a:solidFill>
                <a:latin typeface="Aptos"/>
                <a:ea typeface="Aptos"/>
                <a:cs typeface="Aptos"/>
              </a:rPr>
              <a:t>DESAFÍO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5AFD6-E384-44EF-8E56-B0D9DC1C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Puriy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399EB-B194-474D-B25A-FD61C66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219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Plataforma Inteligente para la Optimización de Rutas de Transporte Urbano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DD6F2-5930-46B3-BCDB-CBF929D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B8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6E8A8-6029-4630-BA73-E4FDF6B5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Equipo ASEDIC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7402C-DCE1-41D7-92EE-EDFDC628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ED7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ED7E2"/>
                </a:solidFill>
                <a:latin typeface="Aptos"/>
                <a:ea typeface="Aptos"/>
                <a:cs typeface="Aptos"/>
              </a:rPr>
              <a:t>Juliaca ·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688E3-7886-42D4-8692-4A2A7064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Movilidad basada en datos para una ciudad que cambia cada día</a:t>
            </a:r>
          </a:p>
        </p:txBody>
      </p:sp>
    </p:spTree>
    <p:extLst>
      <p:ext uri="{BB962C8B-B14F-4D97-AF65-F5344CB8AC3E}">
        <p14:creationId xmlns:p14="http://schemas.microsoft.com/office/powerpoint/2010/main" val="67118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9CADD-817B-4424-81AD-5DBE717E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Una red compleja con información fragmentada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E1CFB-A7A1-432D-8D1A-5E719430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AE935-B357-4A8A-A72C-B2A4A522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61582-942C-4E0B-80A2-333280F3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7CD91-607F-4501-8D4E-412F87C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planificación urbana reúne datos de población, rutas, flota, destinos y circulación en fuentes separadas.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C06BF-2252-4139-88C6-40C7DBE9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Esta fragmentación dificulta detectar zonas desatendidas y ajustar recorridos o frecuencias a la demanda real.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198b7da3c4110"/>
          <a:srcRect xmlns:a="http://schemas.openxmlformats.org/drawingml/2006/main" l="0" t="5469" r="0" b="5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257300"/>
            <a:ext cx="5486400" cy="32575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52DBC-4458-4C4B-9BF5-32D95CCC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E9983-7270-4EFD-BD6E-B0D2A1C2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Puriy reúne la información y la convierte en dos servicios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5C0C2-ECD6-41DF-899B-0CAB006B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Para la población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2C049-07A9-4EA9-A820-6C5F785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Qué micro tomar, cuánto caminar y qué alternativa usar cuando cambia el tráfico.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C91AF-6B07-4B35-B7FB-4C77C29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Para la gestión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E5EDD-6AB9-4AA8-BC20-0744C9DD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Comparar rutas, frecuencias, cobertura, flota y escenarios antes de intervenir.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CC5EE-B05F-4DF2-9267-84A0C6E0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Resultados esperados del piloto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C32FA-3D26-47BA-9D04-54F901F8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7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E5547-A6CE-4037-B3F0-816F25B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Menor congestión y recorridos improductivos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B466D-7647-47E7-80DD-556C5FE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068EA-D908-4AAA-A9D6-111229BF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197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Información clara para pasajeros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3C5B2-8247-446D-8C84-BA3379E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8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32634-9DDD-4A30-A5F4-FD43D6F0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10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Mayor control de rutas y frecuencias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EC4ED-14F4-4CAC-B534-DC3794A8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8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CC782-FF95-468A-A369-CB2A212D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10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Evidencia para semáforos y gestión vial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7399D-6B97-4529-A351-EA3B620C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96860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CD44A-266A-455F-822E-9BEF3EAD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El diagnóstico ya tiene una base verificable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87DC-B9B1-4A54-B267-4A546ED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FAA61-7DD3-4391-8F2B-60333BA1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74859-9DF2-4D31-9D36-29E7E526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5,204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1CF66-7FE9-444E-9A05-76FA93C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manzanas en el filtro Juliaca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3FCBA-9B80-40B7-BDFB-AC47E171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1C2E7-DE2F-4F0C-97E8-78D042BA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194,694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F8083-E3C4-4826-AB85-8E4AF083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habitantes del Censo 2017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57680-901D-4F32-A0F0-5E2CD623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B8EA8-5E90-4CC6-A593-1885145F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AF8D5-64C0-4171-9D1D-8D034AB6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líneas urbanas documentadas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EFE9A-F3E4-426C-83F1-B3164E0E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DFEC9-7922-48D6-B472-58567E3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1,963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94DC2-8191-4C33-9223-733D9140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vehículos formales reportados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716df14b04220"/>
          <a:srcRect xmlns:a="http://schemas.openxmlformats.org/drawingml/2006/main" l="0" t="7062" r="0" b="7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86050"/>
            <a:ext cx="5238750" cy="3124200"/>
          </a:xfrm>
          <a:prstGeom xmlns:a="http://schemas.openxmlformats.org/drawingml/2006/main" prst="roundRect">
            <a:avLst>
              <a:gd name="adj" fmla="val 548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A9DD9-ECDA-4E37-9A99-DCFADD4A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Lo que ya integra Puriy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A968A-51F5-486B-B15C-52444B25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7525B-95C7-4CDB-AC81-C9E302A2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Población y densidad por manzana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256E4-0BC3-49DF-AFFA-3B9A6651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F96B9-AA7A-4483-9876-DB46F07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Rutas, sentidos, paraderos y frecuencias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B718F-B7D6-4F1F-84C0-B3E7E2B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7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15899-1B4F-4C31-B653-FC251BEA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Mercados, colegios, universidades, hospitales y centros comerciales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618ED-3CAD-4A06-808E-44240D4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Datos que mejorarían la precisión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024F7-6521-47DC-B164-5793572C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911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de flota · aforos por tramo · tiempos de viaje · incidentes viales · ocupación de unidades · obras y cierres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A242A-3A7B-47E4-A58C-8FE1FE96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Fuentes: INEI, Censo 2017; PDU Juliaca 2026-2035. Cifras sujetas al alcance y validación de cada fuente.</a:t>
            </a:r>
          </a:p>
        </p:txBody>
      </p:sp>
    </p:spTree>
    <p:extLst>
      <p:ext uri="{BB962C8B-B14F-4D97-AF65-F5344CB8AC3E}">
        <p14:creationId xmlns:p14="http://schemas.microsoft.com/office/powerpoint/2010/main" val="1617710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EEE74-D599-4C72-8D02-489333B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Una plataforma para decidir y para viajar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222E3-C80F-4A76-8BCD-34E4445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D4EBF-8724-4E25-91A1-F4D6E61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FB1E5-FBD0-4600-A411-A424B40E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33625"/>
            <a:ext cx="25717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4E9BB-3E13-42AF-9F3C-98881FBD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Puriy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62D32-A42B-4118-8D5D-AC1D470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0B83C"/>
                </a:solidFill>
                <a:latin typeface="Aptos"/>
                <a:ea typeface="Aptos"/>
                <a:cs typeface="Aptos"/>
              </a:rPr>
              <a:t>datos compartidos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1CA08-7D0C-4DE3-9513-B1066235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DC5E7-FF98-41D3-ABAB-89A99363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Municipalidad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35FA8-73EE-47ED-9588-C3CFC878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690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Control de movilidad, planificación, reorganización de rutas y evaluación de semáforos.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669F1-E365-4C8A-AA34-B36C6A8B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95500"/>
            <a:ext cx="723900" cy="70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8D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138C2-931E-4A13-8367-4192254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2FD91-9FFF-4395-83E3-8F855B0A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0970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Transportistas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3B717-8855-4807-90F7-BB6FB05E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6690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Seguimiento de flota, regularidad del servicio, horarios y recorridos con mayor congestión.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4F355-F2E9-4928-8103-6B5D5052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714375" cy="70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67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7BF4F-E632-4712-AA9E-D4BAB051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4796A-9F28-4A51-91D9-38B3004A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Pasajeros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B563B-6463-412C-ACE3-26C5D799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Micro adecuada, caminata estimada, tiempo de espera y alternativas cuando la circulación cambia.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72B75-717A-4DC4-8852-0D5ABFF7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5703"/>
            <a:ext cx="723900" cy="1446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B8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95AD7-1DA8-4D7D-8F81-CA1F41F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EB4C3-FA6E-412D-B232-CEF78B3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Planificadores y centros de actividad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73107-C027-43C6-868B-D59887D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3395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Cobertura de colegios, mercados, hospitales, universidades y otros destinos concurridos.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3BBAB-AC63-4091-A45A-B6AC662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15703"/>
            <a:ext cx="714375" cy="1446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5B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9978F-D843-42D7-8FF7-AFD6FA7F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055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misma base sirve para orientar el viaje y evaluar cambios de operación.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76920-AAF6-4134-9E97-A8A217D1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405014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FE21E-4BFB-4B7D-9B4B-D9A3F000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solución integra el viaje y la planificación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B4C1F-1076-492B-9095-E0530C35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75FFC-00DC-484D-9588-9499B49C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0C7FA-8DED-4DEF-9977-3BD1273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8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Puriy analiza información poblacional y territorial para evaluar rutas, paraderos, frecuencias y asignación de vehículos.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41334-94EC-43F8-9C5F-0761006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EXPERIENCIA DEL PASAJERO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629A8-D200-4196-8E42-9AABFAC9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FED8A-EEDF-4D12-AE6A-CCD92ECF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Busca origen y destino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535FE-9174-4E46-B23E-47F8855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1995F-3302-4F75-B422-94DC021E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 caminata, micro y recorrido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C9B2C-862F-4C95-8DFF-95E141E0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DE917-BCED-4236-A021-F9952D0A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Consulta frecuencia, horario y tráfico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3D91E-D0F0-4018-B739-5B4AA7D9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GESTIÓN DEL SERVICIO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2B035-17FF-4F48-AC29-5851587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71C50-00EE-4368-8710-FD1C97B4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Propone y compara rutas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4FC0D-4652-478E-B435-D2A0353A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9680-DFAB-406D-9CD7-9A661D71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Calcula cobertura, flota y capacidad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d15975d844092"/>
          <a:srcRect xmlns:a="http://schemas.openxmlformats.org/drawingml/2006/main" l="4254" t="0" r="4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257300"/>
            <a:ext cx="6248400" cy="4552950"/>
          </a:xfrm>
          <a:prstGeom xmlns:a="http://schemas.openxmlformats.org/drawingml/2006/main" prst="roundRect">
            <a:avLst>
              <a:gd name="adj" fmla="val 376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E0D7B-902F-4FFC-AB27-D75C729E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9626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Más de 40 líneas por incorporar y validar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0163E-D20A-4E90-AE5E-C86436B6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256468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0A19B-2F4F-4347-896F-7E8F1A53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Funcionamiento de Puriy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7500A-F196-4422-9605-942773AC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95617-69B0-4AB4-B7DE-10E76F8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D57FD-9031-4E46-94B4-209A4BF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Datos de 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C93EE-4702-496A-A932-70BB2BD0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Motor de análisis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E964E-E374-4A82-AD27-108F8D23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4C1B2-9E27-46DD-89C5-FD8B13DD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Población por manzana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7B36E-C2E4-4C04-B9B6-1FE57FA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Rutas y paraderos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BA2C0-D909-4CCB-A912-E640ADEE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Destinos y horarios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649CE-5A9E-4D8E-A0D6-A8F10232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Observaciones de campo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DDA4D-5093-4987-A0F5-0E51A51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9FA1E-ABDD-4207-8EE6-9A53A62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2762250" cy="2171700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D3826-B891-45CC-BF35-D9003275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Comparación de escenarios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46CA9-974D-414C-9276-1B895F61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Cobertura poblacional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Frecuencia y capacidad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Tiempo de ciclo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Costo operativo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65FB3-6837-451E-9F09-0D635BAB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53518-668E-447C-837E-3729D852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 para el pasajero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929ED-7B2B-4081-A5B7-8CE9588D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Alternativa de recorrido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332AB-079B-47CF-BBC6-7750EF48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Flota e intervalo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BE8A1-C624-4AF0-844C-17475ED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52825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Indicadores y reporte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903A0-98B9-4937-94F8-C6CAFE11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84EB4-2516-422E-9ED8-C13FEAD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Disponible en el prototipo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9E205-39C8-494A-BA70-186609DB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Mapa de rutas · densidad censal · destinos · escenarios · frecuencias · trabajo de campo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0F898-A407-4B06-AD99-41E98487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Siguiente etapa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4BDCA4-E9D5-4A04-AA2D-356D61E5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en tiempo real · velocidades históricas · alertas por tramo · aforos · validación con operadores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FAE94-18CF-4328-9C9E-9F43862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003114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94D89-A46B-4DC6-BDF5-02ACB5D0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Innovación: del GPS a una alternativa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D6420-E721-44B7-804B-FC45A906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2075F-D522-47A4-A746-B5A1C6B1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9CCC3-B45D-43CE-A940-D01BF34E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PROTOTIPO ACTUAL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814ff24464dce"/>
          <a:srcRect xmlns:a="http://schemas.openxmlformats.org/drawingml/2006/main" l="0" t="12970" r="0" b="12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2952750" cy="1714500"/>
          </a:xfrm>
          <a:prstGeom xmlns:a="http://schemas.openxmlformats.org/drawingml/2006/main" prst="roundRect">
            <a:avLst>
              <a:gd name="adj" fmla="val 7778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ba1233d294226"/>
          <a:srcRect xmlns:a="http://schemas.openxmlformats.org/drawingml/2006/main" l="0" t="38866" r="0" b="38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19250"/>
            <a:ext cx="2952750" cy="1714500"/>
          </a:xfrm>
          <a:prstGeom xmlns:a="http://schemas.openxmlformats.org/drawingml/2006/main" prst="roundRect">
            <a:avLst>
              <a:gd name="adj" fmla="val 77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76656-9F64-4CB3-9EF7-6B90E14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CONCEPTO DE DETECCIÓN POR TRAMOS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637EF-D2A5-4771-81DA-277D9D4A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9D4F9-1DB6-4AEC-B4C3-5743FD93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Dividir el recorrido en tramos cortos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BD563-89DC-455A-897D-0FE6BC3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EF45F-B156-453F-A455-A9B59586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Comparar velocidad habitual con GPS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CA5B7-E6EC-4EE0-AC0D-998B2E4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11435-F573-48E1-9689-0A169664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Detectar congestión y evaluar un desvío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A2335-D1B9-4A20-B4B6-57874A9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Ejemplo ilustrativo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C2255-B30A-46D0-8910-AFA3E4C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9A96B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C34C7-4FCA-4B37-8131-82937E7D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24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km/h habitual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77B1C-D230-432C-9B10-7595C8F0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8B1B0-4A36-4FAF-A6A9-DFEB91B1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720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km/h observada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F06F3-0A4D-4E20-9DC1-DC2D958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340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La alerta se valida con varios vehículos y periodos, no con una lectura aislada.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60802e1b74723"/>
          <a:srcRect xmlns:a="http://schemas.openxmlformats.org/drawingml/2006/main" l="23515" t="0" r="23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1257300"/>
            <a:ext cx="4572000" cy="485775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7BA0C-AB0D-491C-A23E-E3245E3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Capturas reales del prototipo · Ilustración conceptual de la integración GPS futura</a:t>
            </a:r>
          </a:p>
        </p:txBody>
      </p:sp>
    </p:spTree>
    <p:extLst>
      <p:ext uri="{BB962C8B-B14F-4D97-AF65-F5344CB8AC3E}">
        <p14:creationId xmlns:p14="http://schemas.microsoft.com/office/powerpoint/2010/main" val="1585460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890EA-485F-49FA-88F8-D015768A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Beneficios medibles para la ciudad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1B2A3-9658-478B-B8AC-DFF62D20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A5B4E-9B71-42D3-9236-75439395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5f4f0c3ee4026"/>
          <a:srcRect xmlns:a="http://schemas.openxmlformats.org/drawingml/2006/main" l="14086" t="0" r="140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162050"/>
            <a:ext cx="6248400" cy="4895850"/>
          </a:xfrm>
          <a:prstGeom xmlns:a="http://schemas.openxmlformats.org/drawingml/2006/main" prst="roundRect">
            <a:avLst>
              <a:gd name="adj" fmla="val 35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24277-A748-4FC4-ACF2-BFBA9696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Pasajeros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11BD8-F0A0-4857-B064-C17E917E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Menos incertidumbre al elegir una micro y mejores alternativas ante congestión o cambios de ruta.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168CB-4BED-4BB0-B1CB-13A06941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Transportistas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5E54-B11A-47B8-A457-802D5301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Mayor control de frecuencias, cumplimiento de recorridos y desempeño de la flota.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76AA5-5379-4A83-B944-010F162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Municipalidad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D18F2-1DD4-4643-8022-9DA4DC36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Cobertura, superposición, tiempos y demanda para sustentar cambios de rutas o semáforos.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96C3D-79FF-4EEB-8506-680C35BB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A96B"/>
                </a:solidFill>
                <a:latin typeface="Aptos"/>
                <a:ea typeface="Aptos"/>
                <a:cs typeface="Aptos"/>
              </a:rPr>
              <a:t>Estudiantes y población vulnerable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A3785-DBDA-4270-B8A6-D8A5F51B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Acceso más claro a colegios, mercados, hospitales y otros destinos esenciales.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1F6AE-E6E9-4C50-AE2B-5670ADA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Indicadores del piloto: cobertura, espera, tiempo de viaje, regularidad, capacidad y accesibilidad</a:t>
            </a:r>
          </a:p>
        </p:txBody>
      </p:sp>
    </p:spTree>
    <p:extLst>
      <p:ext uri="{BB962C8B-B14F-4D97-AF65-F5344CB8AC3E}">
        <p14:creationId xmlns:p14="http://schemas.microsoft.com/office/powerpoint/2010/main" val="879543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81DD0D-1B25-4FE2-A932-82C6153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Viabilidad técnica, operativa y económica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E5416-CB08-46E4-8BCC-298FED7C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BA70A-A061-4D34-91F8-1EDB8BF3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6485E-CB2A-4A59-BBC9-DBEC96C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3E716-529B-4A9C-9743-15AAA334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Servidor para frontend y backend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Base de datos y respaldos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Dominio y 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80B1A-8032-4DF2-B167-1402F84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8D83B-FFA9-4730-AD51-5F9AD485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Responsable técnico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Actualización y validación de datos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Soporte y mejoras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2906A-E745-4B8C-9EBA-F3FEBB0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48753-7033-422F-ACEE-9BD3E01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Capacitación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Trabajo de campo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y conectividad gradual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44CC7-BD8C-444F-A5FD-15AAE370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Economía del piloto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74115-904D-4234-AF79-9E480A2D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Datos abiertos reducen el inicio</a:t>
            </a:r>
          </a:p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Una ruta permite probar antes de escalar</a:t>
            </a:r>
          </a:p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El presupuesto crece con la flota conectada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3DA6C-394F-4386-8254-FCACBB55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F74D2-4A0D-476F-9C28-04F7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Piloto propuesto en un corredor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36A79-4109-442B-A4C2-61499D9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96FCE-2F6F-40F2-821C-232F64E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Validar 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7A711-4C6B-4CD3-AB76-9862A0D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878D7-7A51-490F-89EF-D0841C88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376A1-EF76-480F-B389-71323109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D1696-6C6D-49BC-BFC8-926AD04B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Medir en campo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9EC6F-7787-4E86-A493-05433D07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01A43-49FB-48BE-97DD-33809DD5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48B23-0895-4F00-B525-93543184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7D91B-BC93-4B6E-AB0B-5CD02F0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Comparar escenarios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6524F-D4DD-43D9-84CC-B315597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42161-1F04-49DD-ABFE-24E04106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E9979-135E-4D41-9FFC-7C80D130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4EDC0-4EC0-49B9-8927-D675F6F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Ajustar con actores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2E6E2-830B-4DB2-8707-AFA74E83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 sem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76B8C2-544B-45C7-8E8B-05B45023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C1F9B-E399-434B-98EC-392206A3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07950C-5AF3-43BD-8A57-8DB56DA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Probar y evaluar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F134A-B22E-4D57-A995-D0867D37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3–4 sem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A66E4-B1E0-4721-B7F0-900BE14C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implementación comienza pequeña, mide resultados y escala con evidencia.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D2FCBF-7F81-4131-9762-CAEE88DD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070286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725B5-4352-40DE-A5C1-E6F67D7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Equipo ASEDIC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1D5A4-ED5F-4806-8358-F7015855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042EE-C1FC-4169-90B0-2153AA1C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7FC27-804E-43B3-819B-290DDB2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Tres responsabilidades para llevar Puriy del prototipo al piloto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0F8AF-EF42-4666-9AD5-393A5C37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99866-C29A-4D07-BC77-8768F89F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Ivan Antony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Mamani Guevara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83D43-3ECD-4073-AA12-8C68E9B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Líder · 26 años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0F8D2-2F7B-43E2-8A0A-75C542EF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Coordina el proyecto, la arquitectura de la solución y la relación con los actores del piloto.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22B67-357D-4EE0-86E0-E8D0A12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E5187-B8C1-47A6-9CE7-697E8A6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Josue Isaac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Coila Belizario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60EB-AFAD-4DB6-8F02-1695803C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Investigador · 26 años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2D983-B0D2-499E-9A45-8ECC9A61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Organiza las fuentes, valida los datos territoriales y define los indicadores de movilidad.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990B9-E2C2-45EE-B913-B039525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1D4FE-3724-44F8-A8E3-577792AD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Franklin Diosdado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Palomino Quispe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26579-41B2-4B17-AE9B-82E88104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Expositor · 24 años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70410-41CC-43FE-A524-EE12D01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Comunica la propuesta, documenta la experiencia de usuario y presenta los resultados del piloto.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07A00-7ABB-406E-9767-6547562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42A58-4A61-4643-B72B-A1D2A07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Proponemos validar Puriy en un corredor urbano con la municipalidad, transportistas y pasajeros.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28254-16E0-439A-9A58-29D9A5A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10250"/>
            <a:ext cx="3219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8"/>
                </a:solidFill>
                <a:latin typeface="Aptos"/>
                <a:ea typeface="Aptos"/>
                <a:cs typeface="Aptos"/>
              </a:rPr>
              <a:t>Puriy · mejores decisiones para moverse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0853F-1B0E-44A6-BA7E-74746058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Los DNI se consignan únicamente en el Anexo 01 de inscripción</a:t>
            </a:r>
          </a:p>
        </p:txBody>
      </p:sp>
    </p:spTree>
    <p:extLst>
      <p:ext uri="{BB962C8B-B14F-4D97-AF65-F5344CB8AC3E}">
        <p14:creationId xmlns:p14="http://schemas.microsoft.com/office/powerpoint/2010/main" val="753702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2026-09-22T04:26:45.7510000Z</dcterms:created>
  <dcterms:modified xsi:type="dcterms:W3CDTF">2026-09-22T04:26:45.7510000Z</dcterms:modified>
</coreProperties>
</file>