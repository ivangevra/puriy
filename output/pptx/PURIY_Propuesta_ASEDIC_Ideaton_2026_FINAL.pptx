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13b2962e7745a6" /><Relationship Type="http://schemas.openxmlformats.org/officeDocument/2006/relationships/extended-properties" Target="/docProps/app.xml" Id="R1fbebb41290a4f67" /><Relationship Type="http://schemas.openxmlformats.org/officeDocument/2006/relationships/officeDocument" Target="/ppt/presentation.xml" Id="R5e690f8e1f0949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636da147bb4a0b"/>
  </p:sldMasterIdLst>
  <p:notesMasterIdLst>
    <p:notesMasterId xmlns:r="http://schemas.openxmlformats.org/officeDocument/2006/relationships" r:id="R34341e411e5b479d"/>
  </p:notesMasterIdLst>
  <p:sldIdLst>
    <p:sldId xmlns:r="http://schemas.openxmlformats.org/officeDocument/2006/relationships" id="256" r:id="R7a516b8b4b984c69"/>
    <p:sldId xmlns:r="http://schemas.openxmlformats.org/officeDocument/2006/relationships" id="257" r:id="Re9660f8688a74fad"/>
    <p:sldId xmlns:r="http://schemas.openxmlformats.org/officeDocument/2006/relationships" id="258" r:id="Ra2e653b2f8034be1"/>
    <p:sldId xmlns:r="http://schemas.openxmlformats.org/officeDocument/2006/relationships" id="259" r:id="Rea271ca323d94e05"/>
    <p:sldId xmlns:r="http://schemas.openxmlformats.org/officeDocument/2006/relationships" id="260" r:id="Re0f969b64bc742aa"/>
    <p:sldId xmlns:r="http://schemas.openxmlformats.org/officeDocument/2006/relationships" id="261" r:id="Rcb7a740420d7440e"/>
    <p:sldId xmlns:r="http://schemas.openxmlformats.org/officeDocument/2006/relationships" id="262" r:id="R5665ac4eae874619"/>
    <p:sldId xmlns:r="http://schemas.openxmlformats.org/officeDocument/2006/relationships" id="263" r:id="R0d9f4e1491fd409f"/>
    <p:sldId xmlns:r="http://schemas.openxmlformats.org/officeDocument/2006/relationships" id="264" r:id="Rf8b79ddad8d74d37"/>
    <p:sldId xmlns:r="http://schemas.openxmlformats.org/officeDocument/2006/relationships" id="265" r:id="R900584b02c2c40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5ce5cf3a014386" /><Relationship Type="http://schemas.openxmlformats.org/officeDocument/2006/relationships/slideMaster" Target="/ppt/slideMasters/slideMaster1.xml" Id="R05636da147bb4a0b" /><Relationship Type="http://schemas.openxmlformats.org/officeDocument/2006/relationships/notesMaster" Target="/ppt/notesMasters/notesMaster1.xml" Id="R34341e411e5b479d" /><Relationship Type="http://schemas.openxmlformats.org/officeDocument/2006/relationships/presProps" Target="/ppt/presProps.xml" Id="R45afa3a989344445" /><Relationship Type="http://schemas.openxmlformats.org/officeDocument/2006/relationships/tableStyles" Target="/ppt/tableStyles.xml" Id="R3f48bc8a3af44397" /><Relationship Type="http://schemas.openxmlformats.org/officeDocument/2006/relationships/slide" Target="/ppt/slides/slide1.xml" Id="R7a516b8b4b984c69" /><Relationship Type="http://schemas.openxmlformats.org/officeDocument/2006/relationships/slide" Target="/ppt/slides/slide2.xml" Id="Re9660f8688a74fad" /><Relationship Type="http://schemas.openxmlformats.org/officeDocument/2006/relationships/slide" Target="/ppt/slides/slide3.xml" Id="Ra2e653b2f8034be1" /><Relationship Type="http://schemas.openxmlformats.org/officeDocument/2006/relationships/slide" Target="/ppt/slides/slide4.xml" Id="Rea271ca323d94e05" /><Relationship Type="http://schemas.openxmlformats.org/officeDocument/2006/relationships/slide" Target="/ppt/slides/slide5.xml" Id="Re0f969b64bc742aa" /><Relationship Type="http://schemas.openxmlformats.org/officeDocument/2006/relationships/slide" Target="/ppt/slides/slide6.xml" Id="Rcb7a740420d7440e" /><Relationship Type="http://schemas.openxmlformats.org/officeDocument/2006/relationships/slide" Target="/ppt/slides/slide7.xml" Id="R5665ac4eae874619" /><Relationship Type="http://schemas.openxmlformats.org/officeDocument/2006/relationships/slide" Target="/ppt/slides/slide8.xml" Id="R0d9f4e1491fd409f" /><Relationship Type="http://schemas.openxmlformats.org/officeDocument/2006/relationships/slide" Target="/ppt/slides/slide9.xml" Id="Rf8b79ddad8d74d37" /><Relationship Type="http://schemas.openxmlformats.org/officeDocument/2006/relationships/slide" Target="/ppt/slides/slide10.xml" Id="R900584b02c2c40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0fe7aebae740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f3ee6797c74c39" /><Relationship Type="http://schemas.openxmlformats.org/officeDocument/2006/relationships/notesMaster" Target="/ppt/notesMasters/notesMaster1.xml" Id="Rd48a55b3517b4a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0b134d971e4c75" /><Relationship Type="http://schemas.openxmlformats.org/officeDocument/2006/relationships/notesMaster" Target="/ppt/notesMasters/notesMaster1.xml" Id="Rddc9f022a1ba49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46ebb2f19f46c8" /><Relationship Type="http://schemas.openxmlformats.org/officeDocument/2006/relationships/notesMaster" Target="/ppt/notesMasters/notesMaster1.xml" Id="R610e1912ecd24d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fe52eac6414991" /><Relationship Type="http://schemas.openxmlformats.org/officeDocument/2006/relationships/notesMaster" Target="/ppt/notesMasters/notesMaster1.xml" Id="Rf53a8783d52342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020ee72554447b" /><Relationship Type="http://schemas.openxmlformats.org/officeDocument/2006/relationships/notesMaster" Target="/ppt/notesMasters/notesMaster1.xml" Id="R6a91c2a2dc7746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9caa6ee5ca4669" /><Relationship Type="http://schemas.openxmlformats.org/officeDocument/2006/relationships/notesMaster" Target="/ppt/notesMasters/notesMaster1.xml" Id="Ra7066248881742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9114118334063" /><Relationship Type="http://schemas.openxmlformats.org/officeDocument/2006/relationships/notesMaster" Target="/ppt/notesMasters/notesMaster1.xml" Id="Rd1b5df0c53b44b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ed491a2b714867" /><Relationship Type="http://schemas.openxmlformats.org/officeDocument/2006/relationships/notesMaster" Target="/ppt/notesMasters/notesMaster1.xml" Id="R944e25bb513043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3b29b3420e452b" /><Relationship Type="http://schemas.openxmlformats.org/officeDocument/2006/relationships/notesMaster" Target="/ppt/notesMasters/notesMaster1.xml" Id="R1ff9008c347444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f94fc804154121" /><Relationship Type="http://schemas.openxmlformats.org/officeDocument/2006/relationships/notesMaster" Target="/ppt/notesMasters/notesMaster1.xml" Id="R71cace2f5c9a49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una situación cotidiana: una persona sabe dónde quiere llegar, pero no siempre sabe qué micro tomar, cuánto esperará o qué ruta evitar por congestión. Puriy convierte datos dispersos en una orientación útil para el pasajero y en evidencia para quienes planifican la movilidad.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problema no consiste solo en falta de rutas. La dificultad está en cruzar población, oferta de transporte, horarios, destinos y condiciones reales de circulación. Los resultados señalados son resultados esperados y deben medirse durante un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cartografía INEI y Censo 2017 para el filtro Juliaca mostrado en el prototipo; PDU Juliaca 2026-2035 para líneas y flota. El PDU imprime un total de 1,963 vehículos. Las rutas y frecuencias operativas requieren validación de campo y con los operadores.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a Puriy como una plataforma común con vistas distintas. La ciudadanía recibe orientación. Los transportistas ven operación y regularidad. La municipalidad compara escenarios. Los destinos urbanos permiten medir si una ruta acerca realmente a la población a sus actividades.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el mapa. El usuario selecciona una ruta y revisa sus sentidos, frecuencia, horario y paraderos. En la vista de gestión, el operador puede comparar una ruta base con una propuesta y calcular cobertura, capacidad y unidades necesarias. La red completa requiere validar los recorridos oficiales y su operación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flujo separa lo disponible de la siguiente etapa. Hoy el prototipo puede cargar población, rutas, destinos y observaciones, y comparar escenarios. La integración GPS, los aforos y las alertas por tramo requieren acuerdos con operadores, dispositivos y una prueba de campo.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ilustración muestra una función futura. El sistema dividiría la ruta en tramos, por ejemplo cada 100 metros, y construiría una velocidad habitual por día y franja horaria. Una caída sostenida, como pasar de 50 a 10 km/h en este ejemplo, activaría una alerta. Puriy evaluaría una alternativa y un especialista decidiría si corresponde aplicarla. La plataforma no debe desviar rutas automáticamente sin validación técnica y operativa.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beneficio con un indicador. Pasajeros: espera y acceso. Transportistas: regularidad y cumplimiento. Municipalidad: cobertura, superposición y tiempos. Estudiantes y población vulnerable: acceso a destinos esenciales. La imagen es una representación conceptual, no un registro de un piloto ejecutado.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viabilidad se basa en una arquitectura web ya disponible y en una implementación gradual. Los gastos principales son alojamiento del frontend y backend, base de datos, dominio, seguridad, personal técnico, actualización de datos, trabajo de campo y GPS cuando se conecte la flota. El piloto empieza con un corredor para estimar costos reales antes de escalar.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una solicitud concreta: acceso a un corredor piloto, coordinación con operadores y datos de campo. Los DNI 73968859, 74173317 y 72851335 deben mantenerse en el Anexo 01 y no mostrarse durante la exposición pública.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ac20f36f34c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30d28fd33845cd" /><Relationship Type="http://schemas.openxmlformats.org/officeDocument/2006/relationships/slideLayout" Target="/ppt/slideLayouts/slideLayout1.xml" Id="Rd8fe17dd3f5046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fe17dd3f5046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421f5dd5a4cb3" /><Relationship Type="http://schemas.openxmlformats.org/officeDocument/2006/relationships/image" Target="/ppt/media/image.png" Id="Reb068753382c403f" /><Relationship Type="http://schemas.openxmlformats.org/officeDocument/2006/relationships/notesSlide" Target="/ppt/notesSlides/notesSlide1.xml" Id="R3a34214b59b844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ba12ce179404e" /><Relationship Type="http://schemas.openxmlformats.org/officeDocument/2006/relationships/image" Target="/ppt/media/image2.png" Id="R311068b79afc44a8" /><Relationship Type="http://schemas.openxmlformats.org/officeDocument/2006/relationships/notesSlide" Target="/ppt/notesSlides/notesSlide2.xml" Id="R8b09246188f045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5cf72971044ae" /><Relationship Type="http://schemas.openxmlformats.org/officeDocument/2006/relationships/image" Target="/ppt/media/image3.png" Id="Rb3fa6307b51d48a7" /><Relationship Type="http://schemas.openxmlformats.org/officeDocument/2006/relationships/notesSlide" Target="/ppt/notesSlides/notesSlide3.xml" Id="Ra6f011a2913f4b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602404f0742fd" /><Relationship Type="http://schemas.openxmlformats.org/officeDocument/2006/relationships/notesSlide" Target="/ppt/notesSlides/notesSlide4.xml" Id="Ra8ae7807933b43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9ff66d5ae465c" /><Relationship Type="http://schemas.openxmlformats.org/officeDocument/2006/relationships/image" Target="/ppt/media/image4.png" Id="R8e21ff186dc742ee" /><Relationship Type="http://schemas.openxmlformats.org/officeDocument/2006/relationships/notesSlide" Target="/ppt/notesSlides/notesSlide5.xml" Id="R48405436b3274c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e8cc21daf4d4d" /><Relationship Type="http://schemas.openxmlformats.org/officeDocument/2006/relationships/notesSlide" Target="/ppt/notesSlides/notesSlide6.xml" Id="R3f2dc53fec034c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c4a0289db4cd9" /><Relationship Type="http://schemas.openxmlformats.org/officeDocument/2006/relationships/image" Target="/ppt/media/image5.png" Id="R058a814202fc4980" /><Relationship Type="http://schemas.openxmlformats.org/officeDocument/2006/relationships/image" Target="/ppt/media/image6.png" Id="R46143a2300394db2" /><Relationship Type="http://schemas.openxmlformats.org/officeDocument/2006/relationships/image" Target="/ppt/media/image7.png" Id="Rcf47f090b52b47e7" /><Relationship Type="http://schemas.openxmlformats.org/officeDocument/2006/relationships/notesSlide" Target="/ppt/notesSlides/notesSlide7.xml" Id="Rabb216cf7b114e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1102888c04d2c" /><Relationship Type="http://schemas.openxmlformats.org/officeDocument/2006/relationships/image" Target="/ppt/media/image8.png" Id="R810a8594b9a145e3" /><Relationship Type="http://schemas.openxmlformats.org/officeDocument/2006/relationships/notesSlide" Target="/ppt/notesSlides/notesSlide8.xml" Id="Rc377ffdcc61745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b2231669e443e" /><Relationship Type="http://schemas.openxmlformats.org/officeDocument/2006/relationships/notesSlide" Target="/ppt/notesSlides/notesSlide9.xml" Id="Rcd30140617554a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1463263f645bc" /><Relationship Type="http://schemas.openxmlformats.org/officeDocument/2006/relationships/notesSlide" Target="/ppt/notesSlides/notesSlide10.xml" Id="R2c014261c49d45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68753382c403f"/>
          <a:srcRect xmlns:a="http://schemas.openxmlformats.org/drawingml/2006/main" l="22685" t="0" r="226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260C3-4872-4CBA-B0AA-6735A283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728"/>
              </a:gs>
              <a:gs pos="100000">
                <a:srgbClr val="0B172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A2006-8EBD-4CFB-B538-6E29033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28575" rIns="952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28"/>
                </a:solidFill>
                <a:latin typeface="Aptos"/>
                <a:ea typeface="Aptos"/>
                <a:cs typeface="Aptos"/>
              </a:rPr>
              <a:t>DESAFÍO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5D903-5237-49D2-B60A-2214AB16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52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Puriy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6784E-B10E-44E2-B0D1-D84282A3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2197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Plataforma Inteligente para la Optimización de Rutas de Transporte Urbano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F7ED2-66EF-437A-90CB-CB43EBE6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B8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DB369-FA03-4776-AC75-D362EE3D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Equipo ASEDIC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32BBF-A24C-44C1-BDB8-1F32F76A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ED7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ED7E2"/>
                </a:solidFill>
                <a:latin typeface="Aptos"/>
                <a:ea typeface="Aptos"/>
                <a:cs typeface="Aptos"/>
              </a:rPr>
              <a:t>Juliaca ·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A736F-DCA2-4B9A-98CD-D982C36D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A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AC8"/>
                </a:solidFill>
                <a:latin typeface="Aptos"/>
                <a:ea typeface="Aptos"/>
                <a:cs typeface="Aptos"/>
              </a:rPr>
              <a:t>Movilidad basada en datos para una ciudad que cambia cada día</a:t>
            </a:r>
          </a:p>
        </p:txBody>
      </p:sp>
    </p:spTree>
    <p:extLst>
      <p:ext uri="{BB962C8B-B14F-4D97-AF65-F5344CB8AC3E}">
        <p14:creationId xmlns:p14="http://schemas.microsoft.com/office/powerpoint/2010/main" val="1358297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A23CB-5668-40B1-B962-DF3C2EFC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Una red compleja con información fragmentada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475D6-C587-478E-9009-D4E3E6A9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9CE71-C5AB-4E1C-8ACB-653B6854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8AB64-7B88-4832-8EA5-29724641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0B176-61BC-4508-83FB-FBD77FF7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planificación urbana reúne datos de población, rutas, flota, destinos y circulación en fuentes separadas.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22733-ED2C-463F-8DA2-900F96C9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Esta fragmentación dificulta detectar zonas desatendidas y ajustar recorridos o frecuencias a la demanda real.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068b79afc44a8"/>
          <a:srcRect xmlns:a="http://schemas.openxmlformats.org/drawingml/2006/main" l="0" t="5469" r="0" b="5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257300"/>
            <a:ext cx="5486400" cy="32575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3A829-84E1-4AB7-A34B-D04734D4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DA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0FFB8-0DA3-407E-A4A4-7ABCA385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Puriy reúne la información y la convierte en dos servicios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F7910-C21E-4B58-80E1-5302E71F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Para la población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4BBF4-D479-4590-BE0C-0502A8A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Qué micro tomar, cuánto caminar y qué alternativa usar cuando cambia el tráfico.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6DD22-9C5E-4DED-8161-890B1DA0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29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Para la gestión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B2A1B-82F7-4C6B-8D06-0B4CEB6B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Comparar rutas, frecuencias, cobertura, flota y escenarios antes de intervenir.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AD63C-F57F-41EB-BE0C-00A7BFC8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Resultados esperados del piloto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08B8D-6E35-4145-B744-F7AEC1E5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7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D3C10-9233-4F3A-8640-0D659F78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Menor congestión y recorridos improductivos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F32E0-4D8C-4880-A49F-7DE253B8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488FC-A331-4923-8366-58A53EC4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197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Información clara para pasajeros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0E8EE-4D70-43B2-9598-747E66DC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8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D3BD2-3596-47B6-B872-0BF40E31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102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Mayor control de rutas y frecuencias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2ED49-167A-4C95-806F-3E184281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8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BC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84E218-9194-43FC-BE7E-8C60980A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102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Evidencia para semáforos y gestión vial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FEA00-EB6C-488F-B9EA-82CA5541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20578771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3644F-60A2-478F-A72E-30BC0C54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El diagnóstico ya tiene una base verificable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E3C2D-2D26-4378-95E7-AAAE8CD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7F3B2-B8B4-4C97-8142-9C388977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11B43-776A-4156-96E1-6798922F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5,204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61306-C486-4CDA-8260-0EF332AC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manzanas en el filtro Juliaca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BC593-E342-414D-868E-A6CF0FD0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144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CD952-5F53-4D17-9588-31F1D7A0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194,694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404CA-94E8-484E-84C1-CEF2F995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habitantes del Censo 2017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16B7A-4D87-4FE7-B7FE-7C000F08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3144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6A6AA-90DB-4035-A212-A0EE3B36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CF621-ED39-4395-8996-83A33F45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líneas urbanas documentadas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B29AD-DE04-43CD-973A-AAB67093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144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D834F-661A-45EA-845F-C33F0951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1,963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A80FB-E280-412B-A8BD-E7DBD3C1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vehículos formales reportados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a6307b51d48a7"/>
          <a:srcRect xmlns:a="http://schemas.openxmlformats.org/drawingml/2006/main" l="0" t="7062" r="0" b="7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686050"/>
            <a:ext cx="5238750" cy="3124200"/>
          </a:xfrm>
          <a:prstGeom xmlns:a="http://schemas.openxmlformats.org/drawingml/2006/main" prst="roundRect">
            <a:avLst>
              <a:gd name="adj" fmla="val 548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8B2A4-0688-466D-BF90-53EEEED6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Lo que ya integra Puriy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5A66A-CC50-47A0-893C-9B22B507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49A6E-6A71-41D9-AA58-0D29C78F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Población y densidad por manzana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3CCBD-0B49-4D24-A3A7-15305EF1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C6414-A575-473A-8142-0FA6ED43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Rutas, sentidos, paraderos y frecuencias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677E7-780E-4314-ADF3-8B62B546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7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850B3-FDCA-4523-855E-74B8BE89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Mercados, colegios, universidades, hospitales y centros comerciales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9B78A-C4F5-4559-9F0A-C948D8E2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Datos que mejorarían la precisión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E7385-D735-4C5D-B246-C372441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911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GPS de flota · aforos por tramo · tiempos de viaje · incidentes viales · ocupación de unidades · obras y cierres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E4155-A348-4247-AD68-896588C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Fuentes: INEI, Censo 2017; PDU Juliaca 2026-2035. Cifras sujetas al alcance y validación de cada fuente.</a:t>
            </a:r>
          </a:p>
        </p:txBody>
      </p:sp>
    </p:spTree>
    <p:extLst>
      <p:ext uri="{BB962C8B-B14F-4D97-AF65-F5344CB8AC3E}">
        <p14:creationId xmlns:p14="http://schemas.microsoft.com/office/powerpoint/2010/main" val="4320907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66721-7FC7-4346-BA75-6511F7F0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Una plataforma para decidir y para viajar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3DAA2-114D-4B2F-A1D9-92D816CE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2CAD8-FF55-4FF1-AB2C-8F7C0A2C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4A9CC-C35B-4986-8709-DCED9BFB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33625"/>
            <a:ext cx="25717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5F5F3-5DEA-4EA6-A66E-C3F8D06D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67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Puriy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F338B-E54F-4586-87D3-D1BF451D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19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0B83C"/>
                </a:solidFill>
                <a:latin typeface="Aptos"/>
                <a:ea typeface="Aptos"/>
                <a:cs typeface="Aptos"/>
              </a:rPr>
              <a:t>datos compartidos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92B7B-59F0-401A-B5B8-FB15CD8D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76CB9-5DE5-4143-B5C6-CA8155BE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Municipalidad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7ADEC-BC2E-4D4F-8633-7FE43243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6900"/>
            <a:ext cx="2790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Control de movilidad, planificación, reorganización de rutas y evaluación de semáforos.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B7240-9F60-43B4-9F83-1B389517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95500"/>
            <a:ext cx="723900" cy="700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8D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08803-9AC4-4965-B85D-94BDC6EF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91870-B67B-4C21-B6C2-74CDF301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0970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Transportistas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B565C-E7F5-4611-ACE4-4B6F1585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66900"/>
            <a:ext cx="2790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Seguimiento de flota, regularidad del servicio, horarios y recorridos con mayor congestión.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03F72-10D0-4D0D-A9E6-81EC7AF3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714375" cy="700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B67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BC946-8660-4DD1-82D0-92C8BFDD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69226-7BEC-44AF-B221-EFDB9258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Pasajeros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DEBD8-4F2D-4552-BD6C-C1B1E55C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33950"/>
            <a:ext cx="2790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Micro adecuada, caminata estimada, tiempo de espera y alternativas cuando la circulación cambia.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F4040-DD58-4C7A-B30D-E73D22FF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15703"/>
            <a:ext cx="723900" cy="14468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B8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FFD61-339A-461D-8731-60ADC34E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986DC-D5CC-44E0-A33C-7E7E29C1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7675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Planificadores y centros de actividad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3E36E-C00D-4117-8E57-7DAD8D3D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24450"/>
            <a:ext cx="2790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Cobertura de colegios, mercados, hospitales, universidades y otros destinos concurridos.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C4A96-7593-464D-B18F-273DE053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15703"/>
            <a:ext cx="714375" cy="14468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5B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EA342-D5FF-4F6E-8C90-D9B5707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055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misma base sirve para orientar el viaje y evaluar cambios de operación.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2BB9D-2D9C-471F-9E31-62E37F6C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10164205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AB276-0574-45EF-9926-DD344923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solución integra el viaje y la planificación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53062-2873-454E-A6B1-2A932B05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E75AC-C64D-4630-AF65-300654F5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17EA8-4AC3-4B28-93C1-E352623B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184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Puriy analiza información poblacional y territorial para evaluar rutas, paraderos, frecuencias y asignación de vehículos.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A6E4B-E963-4A06-A8B8-B983DE1F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EXPERIENCIA DEL PASAJERO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D4577-E638-4CD3-A5CF-E7352182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3AAA7-6970-472C-91C2-32A7AE0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Busca origen y destino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C1E7C-4B92-4599-897F-7CB49B1E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C976E-DEE0-4BE0-B89C-BC672EC5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Compara caminata, micro y recorrido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A8292-0754-4809-A894-D79CF6D2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6159A-4B4E-42E5-8E16-D66CCEF6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Consulta frecuencia, horario y tráfico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EB2BE-394F-4335-9118-276DA91D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GESTIÓN DEL SERVICIO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D3514-F0A6-4707-899F-01FEE0F7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BC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5F54E-F7D6-4BD3-B55A-BBA2608F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Propone y compara rutas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7678C-AB53-402C-B873-7CB74F65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BC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5BF86-5D10-4F5F-B885-518DF186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Calcula cobertura, flota y capacidad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1ff186dc742ee"/>
          <a:srcRect xmlns:a="http://schemas.openxmlformats.org/drawingml/2006/main" l="4254" t="0" r="4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257300"/>
            <a:ext cx="6248400" cy="4552950"/>
          </a:xfrm>
          <a:prstGeom xmlns:a="http://schemas.openxmlformats.org/drawingml/2006/main" prst="roundRect">
            <a:avLst>
              <a:gd name="adj" fmla="val 3766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C7291-4F05-4621-8F56-D15415F9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96265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28575" rIns="952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Más de 40 líneas por incorporar y validar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8988F-6728-430B-98C9-E33B99D1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290559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9D05F3-DA08-4CAB-B74B-34698BC7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Funcionamiento de Puriy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E6D82-CB60-441D-A203-C254C50A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67BDD-DBF9-4B1A-B628-379363BB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0057B-8793-41D8-A5F2-6F4E0C5B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Datos de 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FCB51-092E-47EA-B2E4-4D4D9B78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Motor de análisis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63B04-E0C3-4DC9-89E6-981700FC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F82B4-D73C-4F07-86B6-44A68B0A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Población por manzana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A07E5-54BB-4482-9A58-DC4FB5D0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Rutas y paraderos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E5FAA-54B6-4579-84F0-555837D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Destinos y horarios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7D191-03A0-4013-B0D0-5A16588D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Observaciones de campo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A49D8-88E3-4038-AE20-431908DC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B47D5-C25D-4F24-BE54-8DDD5D42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2762250" cy="2171700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D6FFD-35DB-4565-B8B7-6B67A31F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Comparación de escenarios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E1805-F59B-40B7-8879-C7102AE9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Cobertura poblacional</a:t>
            </a:r>
          </a:p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Frecuencia y capacidad</a:t>
            </a:r>
          </a:p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Tiempo de ciclo</a:t>
            </a:r>
          </a:p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Costo operativo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B22CF-1394-4EF0-8C77-9D93CF7A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EB3F7-981F-4F48-81E6-E6601B48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Ruta para el pasajero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242B7-5529-45CB-9057-92884370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Alternativa de recorrido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48AA8-B699-40CF-A070-0702E12C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Flota e intervalo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F90E3-CFC2-414B-AD82-3237A12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52825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Indicadores y reporte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42D92-4AB9-4707-A829-24AD10A4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D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B8C12-3240-42BB-970A-E5989E92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Disponible en el prototipo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C7E82-B679-44C1-80FD-C81416B2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Mapa de rutas · densidad censal · destinos · escenarios · frecuencias · trabajo de campo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EA9EC-8098-44BA-A695-CE42AB7E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Siguiente etapa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89C67-498C-4457-ADED-AAFB0872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GPS en tiempo real · velocidades históricas · alertas por tramo · aforos · validación con operadores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83043-B4B7-4419-B3C3-EAABBF38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570696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CCFFE-4FF3-4CCD-8684-03275ECB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Innovación: del GPS a una alternativa de ruta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94B24-ED24-44E1-BDBF-E76006EB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EC2AF-1F51-4DEB-94D4-6B997211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34EDD-E1E7-4CAA-AF18-76C9C65A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PROTOTIPO ACTUAL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a814202fc4980"/>
          <a:srcRect xmlns:a="http://schemas.openxmlformats.org/drawingml/2006/main" l="0" t="12970" r="0" b="129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2952750" cy="1714500"/>
          </a:xfrm>
          <a:prstGeom xmlns:a="http://schemas.openxmlformats.org/drawingml/2006/main" prst="roundRect">
            <a:avLst>
              <a:gd name="adj" fmla="val 7778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43a2300394db2"/>
          <a:srcRect xmlns:a="http://schemas.openxmlformats.org/drawingml/2006/main" l="0" t="38866" r="0" b="38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19250"/>
            <a:ext cx="2952750" cy="1714500"/>
          </a:xfrm>
          <a:prstGeom xmlns:a="http://schemas.openxmlformats.org/drawingml/2006/main" prst="roundRect">
            <a:avLst>
              <a:gd name="adj" fmla="val 77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AB4DF-D0FF-437B-9654-34482A3C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CONCEPTO DE DETECCIÓN POR TRAMOS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78FF2-E969-47DE-AF54-15D5339B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FC47D-65CB-4F4A-B3E3-6FFB0037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Dividir el recorrido en tramos cortos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8EDAF-8861-40D7-95B1-62CA9D7E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72F85-EB6E-45D9-9F2F-CC671555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Comparar velocidad habitual con GPS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0BCB5-77FC-4ACE-B355-0EF694E0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518B3-49FC-4CD2-974A-849EA7D5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Detectar congestión y evaluar un desvío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C569C-0B53-4E9E-85AC-A40E73F3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Ejemplo ilustrativo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6BA7B-C8ED-43F7-97A7-03355668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2435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39A96B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C13F0-FFDD-4547-A575-B973B535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24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km/h habitual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0C526-53CC-47F6-A934-1BB59962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71916-E959-479E-AF95-AFA173A5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720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km/h observada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228CB-7CB6-432A-8CF0-781DF99E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340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La alerta se valida con varios vehículos y periodos, no con una lectura aislada.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7f090b52b47e7"/>
          <a:srcRect xmlns:a="http://schemas.openxmlformats.org/drawingml/2006/main" l="23515" t="0" r="23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0400" y="1257300"/>
            <a:ext cx="4572000" cy="485775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BA4AA-3520-4C17-ADD5-4FDC402E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Capturas reales del prototipo · Ilustración conceptual de la integración GPS futura</a:t>
            </a:r>
          </a:p>
        </p:txBody>
      </p:sp>
    </p:spTree>
    <p:extLst>
      <p:ext uri="{BB962C8B-B14F-4D97-AF65-F5344CB8AC3E}">
        <p14:creationId xmlns:p14="http://schemas.microsoft.com/office/powerpoint/2010/main" val="7784504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717FB-DA4B-4E22-8260-5E8EF128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Beneficios medibles para la ciudad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E7F2C-DC8C-4638-A8DA-E7DA1843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94D23-6F6F-46DE-9D9A-F87159B1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55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a8594b9a145e3"/>
          <a:stretch xmlns:a="http://schemas.openxmlformats.org/drawingml/2006/main"/>
        </p:blipFill>
        <p:spPr>
          <a:xfrm xmlns:a="http://schemas.openxmlformats.org/drawingml/2006/main">
            <a:off x="5334000" y="1737378"/>
            <a:ext cx="6248400" cy="3516594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CAF36-ADCD-4E5F-8D83-B0A3F955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7215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DDE7"/>
                </a:solidFill>
                <a:latin typeface="Aptos"/>
                <a:ea typeface="Aptos"/>
                <a:cs typeface="Aptos"/>
              </a:rPr>
              <a:t>El piloto medirá cobertura, espera, tiempo de viaje, regularidad y accesibilidad.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2F9B7-AE3A-434E-A68C-8344A23B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Pasajeros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847C6-AAB2-4FA4-8055-459DCA40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Menos incertidumbre al elegir una micro y mejores alternativas ante congestión o cambios de ruta.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E84AF-154B-46FA-8EEF-128961BC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B8C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B8CF"/>
                </a:solidFill>
                <a:latin typeface="Aptos"/>
                <a:ea typeface="Aptos"/>
                <a:cs typeface="Aptos"/>
              </a:rPr>
              <a:t>Transportistas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1A458-8918-41C8-A919-6620BC3B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Mayor control de frecuencias, cumplimiento de recorridos y desempeño de la flota.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868A9-C58A-4A1F-82F9-5E3E4034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Municipalidad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00C88-00CD-4984-8514-5064A70D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Cobertura, superposición, tiempos y demanda para sustentar cambios de rutas o semáforos.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515E1-FD82-485F-ADBC-BDD73FA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9A96B"/>
                </a:solidFill>
                <a:latin typeface="Aptos"/>
                <a:ea typeface="Aptos"/>
                <a:cs typeface="Aptos"/>
              </a:rPr>
              <a:t>Estudiantes y población vulnerable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81F47-A7E3-4154-BEA1-267201F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Acceso más claro a colegios, mercados, hospitales y otros destinos esenciales.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4F075-E78E-41B7-99BF-FADBAEA3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A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AC8"/>
                </a:solidFill>
                <a:latin typeface="Aptos"/>
                <a:ea typeface="Aptos"/>
                <a:cs typeface="Aptos"/>
              </a:rPr>
              <a:t>Indicadores del piloto: cobertura, espera, tiempo de viaje, regularidad, capacidad y accesibilidad</a:t>
            </a:r>
          </a:p>
        </p:txBody>
      </p:sp>
    </p:spTree>
    <p:extLst>
      <p:ext uri="{BB962C8B-B14F-4D97-AF65-F5344CB8AC3E}">
        <p14:creationId xmlns:p14="http://schemas.microsoft.com/office/powerpoint/2010/main" val="1849677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C6EF12-6889-4D37-8E2F-09D9838B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Viabilidad técnica, operativa y económica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2AEF9-937D-4DC7-8EB5-A5C13B37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B6ABB-34D7-449C-8574-C7E4DDA5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A0BB1-3B53-4B58-B75B-DDFCDE2C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Infraestructura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7E952-BCCC-4BD5-998E-BBB5B127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Servidor para frontend y backend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Base de datos y respaldos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Dominio y 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48066-3842-4A51-9A5F-76B25202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46349-C4BA-4198-A7C4-7FFAB18E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Responsable técnico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Actualización y validación de datos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Soporte y mejoras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60339-53B5-4695-A41A-E6322B15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Implementación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B8462-0966-47BF-88F2-4EC61E38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Capacitación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Trabajo de campo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GPS y conectividad gradual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F3577-B8D7-459E-92D6-F38CA60E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52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Economía del piloto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7CBE2-B0CB-44A8-9917-EA824205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09750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7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Datos abiertos reducen el inicio</a:t>
            </a:r>
          </a:p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Una ruta permite probar antes de escalar</a:t>
            </a:r>
          </a:p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El presupuesto crece con la flota conectada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2EEB2-A859-4047-B3F9-BA687D96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D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6F6A6-0558-4D5B-A766-3760A034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Piloto propuesto en un corredor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682F4-5973-417D-8EB0-6BC941B4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7FEB2-E492-4CDF-8939-95CA8C8B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Validar datos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30343-D152-4085-9C7C-AEC6192B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 sem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E0BF0-01D9-423E-BC5C-EC888C71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5FC7A-7D1D-4606-BCC0-B9BF9F89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E035F-45A5-4EC7-B42F-AB700F89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Medir en campo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C9196-8714-43F5-AF4B-106DA96D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 sem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808C8-2B5A-478B-AA6D-908F3288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140AA-8B51-45B1-9D5E-315B57BC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635E1-4516-4A2C-AE36-1F479EC8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Comparar escenarios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3E808-06E1-4360-92E7-53C65C5A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 sem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6FE6E-EB2D-4108-A32F-70ADD1DA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288A3-F9AE-43FB-AC68-24C97784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B22252-DBD2-4C93-8166-4B939690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Ajustar con actores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6916DE-A48D-4F99-8025-11C70FB3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 sem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4F4B5-087A-4AAD-AE9B-886FAAFB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624C5-5B9B-49F9-9CF2-50DDD70B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FB7E67-48A2-47EA-843E-0D1BCCF2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Probar y evaluar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7FF976-5501-483A-B3F5-3C04CAB5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3–4 sem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31AA0-DC10-47A8-8596-A8100593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implementación comienza pequeña, mide resultados y escala con evidencia.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E0A445-7EFF-414B-9C92-F628F270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1420137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E6C0B-E253-4D96-99D2-1476AB0C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Equipo ASEDIC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2C48C-33D6-40A7-9ECB-3B7184B2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2A041-6E1E-4A8E-BD9B-2D785BE2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5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BEBFD-DEC4-4513-B6FD-29E246C9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Tres responsabilidades para llevar Puriy del prototipo al piloto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4B2CE-6D8E-415D-8F88-46DBBBCA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3E3BD-2F43-4415-8BEC-65A39144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Ivan Antony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Mamani Guevara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4BBCF-71BC-4DAE-A670-227AD780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Líder · 26 años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3B154-5226-45B1-A9DF-5D97691F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2D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DE"/>
                </a:solidFill>
                <a:latin typeface="Aptos"/>
                <a:ea typeface="Aptos"/>
                <a:cs typeface="Aptos"/>
              </a:rPr>
              <a:t>Coordina el proyecto, la arquitectura de la solución y la relación con los actores del piloto.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D8173-D645-4156-BF7F-042AA253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B8C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2B8C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EA974-5A27-4BD1-BCEC-9692B95F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908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Josue Isaac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Coila Belizario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B8221-06FD-4F32-BCF0-88B6DD2E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43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B8C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B8CF"/>
                </a:solidFill>
                <a:latin typeface="Aptos"/>
                <a:ea typeface="Aptos"/>
                <a:cs typeface="Aptos"/>
              </a:rPr>
              <a:t>Investigador · 26 años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1D5C9-F1CD-449E-96EE-42C62166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57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2D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DE"/>
                </a:solidFill>
                <a:latin typeface="Aptos"/>
                <a:ea typeface="Aptos"/>
                <a:cs typeface="Aptos"/>
              </a:rPr>
              <a:t>Organiza las fuentes, valida los datos territoriales y define los indicadores de movilidad.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D365F-D16B-40BD-82B3-5B6A5C02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F5345-7CA2-49E8-8A31-EFD11306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Franklin Diosdado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Palomino Quispe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C53DD-AE72-41D9-979B-F2A3D91F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3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Expositor · 24 años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E5791-7634-433D-AE4D-A742437E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57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2D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DE"/>
                </a:solidFill>
                <a:latin typeface="Aptos"/>
                <a:ea typeface="Aptos"/>
                <a:cs typeface="Aptos"/>
              </a:rPr>
              <a:t>Comunica la propuesta, documenta la experiencia de usuario y presenta los resultados del piloto.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52DC5-F8C9-481A-BDC4-C1DBAD2C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5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5E3AB-ED4E-4BC3-B88F-E461F075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Proponemos un piloto con la municipalidad, transportistas y pasajeros.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09DE0-BB96-4732-9094-12FA855F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10250"/>
            <a:ext cx="3219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28575" rIns="952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28"/>
                </a:solidFill>
                <a:latin typeface="Aptos"/>
                <a:ea typeface="Aptos"/>
                <a:cs typeface="Aptos"/>
              </a:rPr>
              <a:t>Puriy · mejores decisiones para moverse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1D0F4-1B18-4C96-8593-6608245F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A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AC8"/>
                </a:solidFill>
                <a:latin typeface="Aptos"/>
                <a:ea typeface="Aptos"/>
                <a:cs typeface="Aptos"/>
              </a:rPr>
              <a:t>Los DNI se consignan únicamente en el Anexo 01 de inscripción</a:t>
            </a:r>
          </a:p>
        </p:txBody>
      </p:sp>
    </p:spTree>
    <p:extLst>
      <p:ext uri="{BB962C8B-B14F-4D97-AF65-F5344CB8AC3E}">
        <p14:creationId xmlns:p14="http://schemas.microsoft.com/office/powerpoint/2010/main" val="133682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2026-09-22T04:29:05.4120000Z</dcterms:created>
  <dcterms:modified xsi:type="dcterms:W3CDTF">2026-09-22T04:29:05.4120000Z</dcterms:modified>
</coreProperties>
</file>