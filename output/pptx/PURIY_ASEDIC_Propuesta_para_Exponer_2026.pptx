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eeb4e7c8ef4681" /><Relationship Type="http://schemas.openxmlformats.org/officeDocument/2006/relationships/extended-properties" Target="/docProps/app.xml" Id="R8af04166f88c44ba" /><Relationship Type="http://schemas.openxmlformats.org/officeDocument/2006/relationships/officeDocument" Target="/ppt/presentation.xml" Id="Rf37e804c5048439b" /></Relationships>
</file>

<file path=ppt/presentation.xml><?xml version="1.0" encoding="utf-8"?>
<p:presentation xmlns:p="http://schemas.openxmlformats.org/presentationml/2006/main">
  <p:sldMasterIdLst>
    <p:sldMasterId xmlns:r="http://schemas.openxmlformats.org/officeDocument/2006/relationships" id="2147483648" r:id="Rb5ff62c03fdf40e1"/>
  </p:sldMasterIdLst>
  <p:notesMasterIdLst>
    <p:notesMasterId xmlns:r="http://schemas.openxmlformats.org/officeDocument/2006/relationships" r:id="R5c9a81593c8c41f6"/>
  </p:notesMasterIdLst>
  <p:sldIdLst>
    <p:sldId xmlns:r="http://schemas.openxmlformats.org/officeDocument/2006/relationships" id="256" r:id="R1420a02718ff445f"/>
    <p:sldId xmlns:r="http://schemas.openxmlformats.org/officeDocument/2006/relationships" id="257" r:id="R3bb7873c45f44f25"/>
    <p:sldId xmlns:r="http://schemas.openxmlformats.org/officeDocument/2006/relationships" id="258" r:id="R2318d12f293643df"/>
    <p:sldId xmlns:r="http://schemas.openxmlformats.org/officeDocument/2006/relationships" id="259" r:id="R3bfecf399b5a4d9a"/>
    <p:sldId xmlns:r="http://schemas.openxmlformats.org/officeDocument/2006/relationships" id="260" r:id="Rbaefa4687cce4ab8"/>
    <p:sldId xmlns:r="http://schemas.openxmlformats.org/officeDocument/2006/relationships" id="261" r:id="R05c71734d303445c"/>
    <p:sldId xmlns:r="http://schemas.openxmlformats.org/officeDocument/2006/relationships" id="262" r:id="Rdd3b4d2c7221481e"/>
    <p:sldId xmlns:r="http://schemas.openxmlformats.org/officeDocument/2006/relationships" id="263" r:id="R548e7a6830204fc5"/>
    <p:sldId xmlns:r="http://schemas.openxmlformats.org/officeDocument/2006/relationships" id="264" r:id="R1a1476bc4b714f5a"/>
    <p:sldId xmlns:r="http://schemas.openxmlformats.org/officeDocument/2006/relationships" id="265" r:id="R1ffa362f64d9434a"/>
    <p:sldId xmlns:r="http://schemas.openxmlformats.org/officeDocument/2006/relationships" id="266" r:id="R45f855884af34bd6"/>
    <p:sldId xmlns:r="http://schemas.openxmlformats.org/officeDocument/2006/relationships" id="267" r:id="R749213775e0841cc"/>
    <p:sldId xmlns:r="http://schemas.openxmlformats.org/officeDocument/2006/relationships" id="268" r:id="R921b7c82082b4cd5"/>
    <p:sldId xmlns:r="http://schemas.openxmlformats.org/officeDocument/2006/relationships" id="269" r:id="R1bdab6c7f14a4cd2"/>
    <p:sldId xmlns:r="http://schemas.openxmlformats.org/officeDocument/2006/relationships" id="270" r:id="R421a2aeb335b4b7a"/>
    <p:sldId xmlns:r="http://schemas.openxmlformats.org/officeDocument/2006/relationships" id="271" r:id="R021ab7b879f24893"/>
    <p:sldId xmlns:r="http://schemas.openxmlformats.org/officeDocument/2006/relationships" id="272" r:id="Ra4b48250387d4f9d"/>
    <p:sldId xmlns:r="http://schemas.openxmlformats.org/officeDocument/2006/relationships" id="273" r:id="R5ce650baf36d4d3b"/>
    <p:sldId xmlns:r="http://schemas.openxmlformats.org/officeDocument/2006/relationships" id="274" r:id="Rde7ac21f869c44f5"/>
    <p:sldId xmlns:r="http://schemas.openxmlformats.org/officeDocument/2006/relationships" id="275" r:id="Rf3444f467b214c48"/>
    <p:sldId xmlns:r="http://schemas.openxmlformats.org/officeDocument/2006/relationships" id="276" r:id="R164577a35cff4e0b"/>
    <p:sldId xmlns:r="http://schemas.openxmlformats.org/officeDocument/2006/relationships" id="277" r:id="R31c79583b3a24511"/>
    <p:sldId xmlns:r="http://schemas.openxmlformats.org/officeDocument/2006/relationships" id="278" r:id="R5fe68532ed794e18"/>
    <p:sldId xmlns:r="http://schemas.openxmlformats.org/officeDocument/2006/relationships" id="279" r:id="R66ed7d4e02454f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c56c75abe04676" /><Relationship Type="http://schemas.openxmlformats.org/officeDocument/2006/relationships/slideMaster" Target="/ppt/slideMasters/slideMaster1.xml" Id="Rb5ff62c03fdf40e1" /><Relationship Type="http://schemas.openxmlformats.org/officeDocument/2006/relationships/notesMaster" Target="/ppt/notesMasters/notesMaster1.xml" Id="R5c9a81593c8c41f6" /><Relationship Type="http://schemas.openxmlformats.org/officeDocument/2006/relationships/presProps" Target="/ppt/presProps.xml" Id="Ra5a5d90a9e954133" /><Relationship Type="http://schemas.openxmlformats.org/officeDocument/2006/relationships/tableStyles" Target="/ppt/tableStyles.xml" Id="R9c7b3753f5cc4fc7" /><Relationship Type="http://schemas.openxmlformats.org/officeDocument/2006/relationships/slide" Target="/ppt/slides/slide1.xml" Id="R1420a02718ff445f" /><Relationship Type="http://schemas.openxmlformats.org/officeDocument/2006/relationships/slide" Target="/ppt/slides/slide2.xml" Id="R3bb7873c45f44f25" /><Relationship Type="http://schemas.openxmlformats.org/officeDocument/2006/relationships/slide" Target="/ppt/slides/slide3.xml" Id="R2318d12f293643df" /><Relationship Type="http://schemas.openxmlformats.org/officeDocument/2006/relationships/slide" Target="/ppt/slides/slide4.xml" Id="R3bfecf399b5a4d9a" /><Relationship Type="http://schemas.openxmlformats.org/officeDocument/2006/relationships/slide" Target="/ppt/slides/slide5.xml" Id="Rbaefa4687cce4ab8" /><Relationship Type="http://schemas.openxmlformats.org/officeDocument/2006/relationships/slide" Target="/ppt/slides/slide6.xml" Id="R05c71734d303445c" /><Relationship Type="http://schemas.openxmlformats.org/officeDocument/2006/relationships/slide" Target="/ppt/slides/slide7.xml" Id="Rdd3b4d2c7221481e" /><Relationship Type="http://schemas.openxmlformats.org/officeDocument/2006/relationships/slide" Target="/ppt/slides/slide8.xml" Id="R548e7a6830204fc5" /><Relationship Type="http://schemas.openxmlformats.org/officeDocument/2006/relationships/slide" Target="/ppt/slides/slide9.xml" Id="R1a1476bc4b714f5a" /><Relationship Type="http://schemas.openxmlformats.org/officeDocument/2006/relationships/slide" Target="/ppt/slides/slide10.xml" Id="R1ffa362f64d9434a" /><Relationship Type="http://schemas.openxmlformats.org/officeDocument/2006/relationships/slide" Target="/ppt/slides/slide11.xml" Id="R45f855884af34bd6" /><Relationship Type="http://schemas.openxmlformats.org/officeDocument/2006/relationships/slide" Target="/ppt/slides/slide12.xml" Id="R749213775e0841cc" /><Relationship Type="http://schemas.openxmlformats.org/officeDocument/2006/relationships/slide" Target="/ppt/slides/slide13.xml" Id="R921b7c82082b4cd5" /><Relationship Type="http://schemas.openxmlformats.org/officeDocument/2006/relationships/slide" Target="/ppt/slides/slide14.xml" Id="R1bdab6c7f14a4cd2" /><Relationship Type="http://schemas.openxmlformats.org/officeDocument/2006/relationships/slide" Target="/ppt/slides/slide15.xml" Id="R421a2aeb335b4b7a" /><Relationship Type="http://schemas.openxmlformats.org/officeDocument/2006/relationships/slide" Target="/ppt/slides/slide16.xml" Id="R021ab7b879f24893" /><Relationship Type="http://schemas.openxmlformats.org/officeDocument/2006/relationships/slide" Target="/ppt/slides/slide17.xml" Id="Ra4b48250387d4f9d" /><Relationship Type="http://schemas.openxmlformats.org/officeDocument/2006/relationships/slide" Target="/ppt/slides/slide18.xml" Id="R5ce650baf36d4d3b" /><Relationship Type="http://schemas.openxmlformats.org/officeDocument/2006/relationships/slide" Target="/ppt/slides/slide19.xml" Id="Rde7ac21f869c44f5" /><Relationship Type="http://schemas.openxmlformats.org/officeDocument/2006/relationships/slide" Target="/ppt/slides/slide20.xml" Id="Rf3444f467b214c48" /><Relationship Type="http://schemas.openxmlformats.org/officeDocument/2006/relationships/slide" Target="/ppt/slides/slide21.xml" Id="R164577a35cff4e0b" /><Relationship Type="http://schemas.openxmlformats.org/officeDocument/2006/relationships/slide" Target="/ppt/slides/slide22.xml" Id="R31c79583b3a24511" /><Relationship Type="http://schemas.openxmlformats.org/officeDocument/2006/relationships/slide" Target="/ppt/slides/slide23.xml" Id="R5fe68532ed794e18" /><Relationship Type="http://schemas.openxmlformats.org/officeDocument/2006/relationships/slide" Target="/ppt/slides/slide24.xml" Id="R66ed7d4e02454f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3808d5623544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ff165852ac4a32" /><Relationship Type="http://schemas.openxmlformats.org/officeDocument/2006/relationships/notesMaster" Target="/ppt/notesMasters/notesMaster1.xml" Id="R54abc75893a749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0a2e4d11584f07" /><Relationship Type="http://schemas.openxmlformats.org/officeDocument/2006/relationships/notesMaster" Target="/ppt/notesMasters/notesMaster1.xml" Id="R4755d18c659247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36320e68e044bb" /><Relationship Type="http://schemas.openxmlformats.org/officeDocument/2006/relationships/notesMaster" Target="/ppt/notesMasters/notesMaster1.xml" Id="Rb5417d779e0144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a87176e8244e94" /><Relationship Type="http://schemas.openxmlformats.org/officeDocument/2006/relationships/notesMaster" Target="/ppt/notesMasters/notesMaster1.xml" Id="Raa63b4e792204d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4c645e2b59464d" /><Relationship Type="http://schemas.openxmlformats.org/officeDocument/2006/relationships/notesMaster" Target="/ppt/notesMasters/notesMaster1.xml" Id="Rf538ede54e7342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a2d7f73e3a84add" /><Relationship Type="http://schemas.openxmlformats.org/officeDocument/2006/relationships/notesMaster" Target="/ppt/notesMasters/notesMaster1.xml" Id="Rab46e406eada46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5e34e977504a67" /><Relationship Type="http://schemas.openxmlformats.org/officeDocument/2006/relationships/notesMaster" Target="/ppt/notesMasters/notesMaster1.xml" Id="Rbcdcded2548b42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694bc2f1ea5468f" /><Relationship Type="http://schemas.openxmlformats.org/officeDocument/2006/relationships/notesMaster" Target="/ppt/notesMasters/notesMaster1.xml" Id="R06dfc03888fd44c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166364f9dd45b4" /><Relationship Type="http://schemas.openxmlformats.org/officeDocument/2006/relationships/notesMaster" Target="/ppt/notesMasters/notesMaster1.xml" Id="R85c389d65f024f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a565cedf9754d84" /><Relationship Type="http://schemas.openxmlformats.org/officeDocument/2006/relationships/notesMaster" Target="/ppt/notesMasters/notesMaster1.xml" Id="R42717678d1f14f4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a349670b2bf4a07" /><Relationship Type="http://schemas.openxmlformats.org/officeDocument/2006/relationships/notesMaster" Target="/ppt/notesMasters/notesMaster1.xml" Id="R333aaccf41b5486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49dc96554244122" /><Relationship Type="http://schemas.openxmlformats.org/officeDocument/2006/relationships/notesMaster" Target="/ppt/notesMasters/notesMaster1.xml" Id="R3031f0124b944e3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946aa60bcd6467d" /><Relationship Type="http://schemas.openxmlformats.org/officeDocument/2006/relationships/notesMaster" Target="/ppt/notesMasters/notesMaster1.xml" Id="R475f4b7c1d544df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971ce74e2624e0d" /><Relationship Type="http://schemas.openxmlformats.org/officeDocument/2006/relationships/notesMaster" Target="/ppt/notesMasters/notesMaster1.xml" Id="Rd232041eae17427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53259e983ae474e" /><Relationship Type="http://schemas.openxmlformats.org/officeDocument/2006/relationships/notesMaster" Target="/ppt/notesMasters/notesMaster1.xml" Id="R9412a89fe6864a6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2744103d3b349de" /><Relationship Type="http://schemas.openxmlformats.org/officeDocument/2006/relationships/notesMaster" Target="/ppt/notesMasters/notesMaster1.xml" Id="R9a5fded20dd2478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8673fba3f5a4378" /><Relationship Type="http://schemas.openxmlformats.org/officeDocument/2006/relationships/notesMaster" Target="/ppt/notesMasters/notesMaster1.xml" Id="Ra952cbced1ff4a6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6f856a2d8c04dde" /><Relationship Type="http://schemas.openxmlformats.org/officeDocument/2006/relationships/notesMaster" Target="/ppt/notesMasters/notesMaster1.xml" Id="R90e49945c50b451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476790a14ea49c1" /><Relationship Type="http://schemas.openxmlformats.org/officeDocument/2006/relationships/notesMaster" Target="/ppt/notesMasters/notesMaster1.xml" Id="R0da06eff229a4d8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4aeb54cf0bd4518" /><Relationship Type="http://schemas.openxmlformats.org/officeDocument/2006/relationships/notesMaster" Target="/ppt/notesMasters/notesMaster1.xml" Id="R897a5aad47fd482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10ac844a3f647ea" /><Relationship Type="http://schemas.openxmlformats.org/officeDocument/2006/relationships/notesMaster" Target="/ppt/notesMasters/notesMaster1.xml" Id="Rea1468ecdba946e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c04507a314b4ef7" /><Relationship Type="http://schemas.openxmlformats.org/officeDocument/2006/relationships/notesMaster" Target="/ppt/notesMasters/notesMaster1.xml" Id="R90ff02cc46fe4ba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0aa3d13478342fc" /><Relationship Type="http://schemas.openxmlformats.org/officeDocument/2006/relationships/notesMaster" Target="/ppt/notesMasters/notesMaster1.xml" Id="Rfc52c3f9ed49466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13521ef26fa4bc4" /><Relationship Type="http://schemas.openxmlformats.org/officeDocument/2006/relationships/notesMaster" Target="/ppt/notesMasters/notesMaster1.xml" Id="Rc7a7b99fb50e49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“Puriy tiene dos usuarios. Ayuda a una persona a elegir un recorrido y ayuda a quienes planifican a comprobar si un cambio de ruta o frecuencia mejora el servicio”.</a:t>
            </a:r>
          </a:p>
          <a:p xmlns:a="http://schemas.openxmlformats.org/drawingml/2006/main">
            <a:r>
              <a:t/>
            </a:r>
          </a:p>
          <a:p xmlns:a="http://schemas.openxmlformats.org/drawingml/2006/main">
            <a:r>
              <a:t>GUÍA: esta versión explica el proyecto con calma. Para el pitch de cinco minutos de las bases se recomienda 1, 3, 5, 10, 11, 15, 17, 19, 20 y 22.</a:t>
            </a:r>
          </a:p>
          <a:p xmlns:a="http://schemas.openxmlformats.org/drawingml/2006/main">
            <a:r>
              <a:t/>
            </a:r>
          </a:p>
          <a:p xmlns:a="http://schemas.openxmlformats.org/drawingml/2006/main">
            <a:r>
              <a:t>REFERENCIA [1]: C:/Users/ivang/Downloads/BASES_IDEATÓN POR EL TRANSPORTE URBANO_ JULIACA (1).pdf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cuenta este caso como una situación posible, no como una encuesta real. Pide al público imaginar que tiene dos opciones de micro y ninguna ficha confiable de recorrido o espera.</a:t>
            </a:r>
          </a:p>
          <a:p xmlns:a="http://schemas.openxmlformats.org/drawingml/2006/main">
            <a:r>
              <a:t/>
            </a:r>
          </a:p>
          <a:p xmlns:a="http://schemas.openxmlformats.org/drawingml/2006/main">
            <a:r>
              <a:t>IDEA CLAVE: el problema del usuario y el de la municipalidad están conectados. Sin datos revisados, cuesta orientar a la persona y también mejorar el servicio.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“La escala del problema es grande: las notas oficiales hablan de más de 800 mil viajes diarios en el ámbito Juliaca, San Miguel y Caracoto. La Municipalidad indica que 62,3 % de los viajes se hacen en transporte público convencional”.</a:t>
            </a:r>
          </a:p>
          <a:p xmlns:a="http://schemas.openxmlformats.org/drawingml/2006/main">
            <a:r>
              <a:t/>
            </a:r>
          </a:p>
          <a:p xmlns:a="http://schemas.openxmlformats.org/drawingml/2006/main">
            <a:r>
              <a:t>SI PREGUNTAN: son cifras de contexto metropolitano, no viajes asignados a cada manzana. El MTC expresa el 62,3 % con otra formulación; para cálculos técnicos hay que pedir el denominador del estudio.</a:t>
            </a:r>
          </a:p>
          <a:p xmlns:a="http://schemas.openxmlformats.org/drawingml/2006/main">
            <a:r>
              <a:t/>
            </a:r>
          </a:p>
          <a:p xmlns:a="http://schemas.openxmlformats.org/drawingml/2006/main">
            <a:r>
              <a:t>REFERENCIA [4]: https://www.gob.pe/institucion/mtc/noticias/1410015-promovilidad-culmina-diagnostico-de-movilidad-de-juliaca-como-parte-de-la-formulacion-del-pmus | https://www.gob.pe/institucion/munisanroman/noticias/1410103-culminamos-el-diagnostico-del-plan-de-movilidad-urbana-sostenible-pmus-en-juliaca-que-registra-mas-de-800-mil-viajes-diarios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recorre las cuatro filas como si fueran piezas de un mismo viaje. Si solo conocemos la vivienda, no sabemos a qué mercado o colegio van las personas. Si solo conocemos el recorrido, no sabemos si la frecuencia sirve en hora punta.</a:t>
            </a:r>
          </a:p>
          <a:p xmlns:a="http://schemas.openxmlformats.org/drawingml/2006/main">
            <a:r>
              <a:t/>
            </a:r>
          </a:p>
          <a:p xmlns:a="http://schemas.openxmlformats.org/drawingml/2006/main">
            <a:r>
              <a:t>EJEMPLO: una línea puede pasar cerca de una manzana densa, pero si llega al mercado cuando ya cerró, la conexión no resuelve ese viaje.</a:t>
            </a:r>
          </a:p>
          <a:p xmlns:a="http://schemas.openxmlformats.org/drawingml/2006/main">
            <a:r>
              <a:t/>
            </a:r>
          </a:p>
          <a:p xmlns:a="http://schemas.openxmlformats.org/drawingml/2006/main">
            <a:r>
              <a:t>REFERENCIAS: [2] censo, [3] PDU, [4] PMUS, [5] prototipo Puriy.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no prometas que un algoritmo conoce “la ruta perfecta”. Explica que el proyecto compara opciones reales y muestra sus consecuencias.</a:t>
            </a:r>
          </a:p>
          <a:p xmlns:a="http://schemas.openxmlformats.org/drawingml/2006/main">
            <a:r>
              <a:t/>
            </a:r>
          </a:p>
          <a:p xmlns:a="http://schemas.openxmlformats.org/drawingml/2006/main">
            <a:r>
              <a:t>EJEMPLO: si un desvío acerca la línea a un colegio, hay que comprobar cuánto alarga el ciclo y si la misma flota puede mantener el intervalo.</a:t>
            </a:r>
          </a:p>
          <a:p xmlns:a="http://schemas.openxmlformats.org/drawingml/2006/main">
            <a:r>
              <a:t/>
            </a:r>
          </a:p>
          <a:p xmlns:a="http://schemas.openxmlformats.org/drawingml/2006/main">
            <a:r>
              <a:t>REFERENCIA [5]: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“Cada fuente responde una pregunta distinta”. El Censo dice dónde se registra población residencial. El PDU describe la oferta y lugares de interés. El PMUS da contexto de viajes del área metropolitana.</a:t>
            </a:r>
          </a:p>
          <a:p xmlns:a="http://schemas.openxmlformats.org/drawingml/2006/main">
            <a:r>
              <a:t/>
            </a:r>
          </a:p>
          <a:p xmlns:a="http://schemas.openxmlformats.org/drawingml/2006/main">
            <a:r>
              <a:t>SI PREGUNTAN: la población censal no es la demanda de la micro; el PDU es un documento de consulta pública y sus rutas requieren verificación; las notas PMUS no entregan la matriz origen-destino.</a:t>
            </a:r>
          </a:p>
          <a:p xmlns:a="http://schemas.openxmlformats.org/drawingml/2006/main">
            <a:r>
              <a:t/>
            </a:r>
          </a:p>
          <a:p xmlns:a="http://schemas.openxmlformats.org/drawingml/2006/main">
            <a:r>
              <a:t>REFERENCIAS: [2] E:/PROYECTO JULIACA/web/public/data/manzanas-puntos.geojson; [3] E:/TEST MCP/juliaca-censos/PDU_Juliaca_2026-2035_Diagnostico.pdf; [4] https://www.gob.pe/institucion/mtc/noticias/1410015-promovilidad-culmina-diagnostico-de-movilidad-de-juliaca-como-parte-de-la-formulacion-del-pmus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señala el mapa. “Estos colores ayudan a ver dónde se concentra población registrada. Después debemos contrastarlo con paradas y destinos”. No leas todos los números.</a:t>
            </a:r>
          </a:p>
          <a:p xmlns:a="http://schemas.openxmlformats.org/drawingml/2006/main">
            <a:r>
              <a:t/>
            </a:r>
          </a:p>
          <a:p xmlns:a="http://schemas.openxmlformats.org/drawingml/2006/main">
            <a:r>
              <a:t>SI PREGUNTAN: 5.204 corresponde al filtro Juliaca de la aplicación. Son datos asociados al Censo 2017 y la geometría actual. Las manzanas sin población asociada son datos desconocidos, no cero habitantes.</a:t>
            </a:r>
          </a:p>
          <a:p xmlns:a="http://schemas.openxmlformats.org/drawingml/2006/main">
            <a:r>
              <a:t/>
            </a:r>
          </a:p>
          <a:p xmlns:a="http://schemas.openxmlformats.org/drawingml/2006/main">
            <a:r>
              <a:t>REFERENCIA [2]: cartografía WFS geoespacial.inei.gob.pe y Censo 2017 REDATAM, procesados en E:/PROYECTO JULIACA/web/public/data/manzanas-puntos.geojson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“El PDU nos dice que hay 40 líneas registradas, pero el nombre de una línea no nos dice exactamente por dónde pasa hoy ni cada cuánto”. La plataforma usa el inventario como catálogo inicial.</a:t>
            </a:r>
          </a:p>
          <a:p xmlns:a="http://schemas.openxmlformats.org/drawingml/2006/main">
            <a:r>
              <a:t/>
            </a:r>
          </a:p>
          <a:p xmlns:a="http://schemas.openxmlformats.org/drawingml/2006/main">
            <a:r>
              <a:t>SI PREGUNTAN POR LA FLOTA: la tabla 95 imprime 1.963 unidades; al sumar las filas se obtiene 1.969. La diferencia de seis no se corrige inventando un dato. Tampoco es la flota que circula a la vez.</a:t>
            </a:r>
          </a:p>
          <a:p xmlns:a="http://schemas.openxmlformats.org/drawingml/2006/main">
            <a:r>
              <a:t/>
            </a:r>
          </a:p>
          <a:p xmlns:a="http://schemas.openxmlformats.org/drawingml/2006/main">
            <a:r>
              <a:t>REFERENCIA [3]: E:/TEST MCP/juliaca-censos/PDU_Juliaca_2026-2035_Diagnostico.pdf, pp. 177–179; auditoría técnica E:/PROYECTO JULIACA/docs/AUDITORIA_PDU_MOVILIDAD.md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cuenta un caso simple. “Una micro puede bordear un mercado y aun así dejar a la persona lejos de la entrada. Además, llegar después del cierre no es una buena conexión”.</a:t>
            </a:r>
          </a:p>
          <a:p xmlns:a="http://schemas.openxmlformats.org/drawingml/2006/main">
            <a:r>
              <a:t/>
            </a:r>
          </a:p>
          <a:p xmlns:a="http://schemas.openxmlformats.org/drawingml/2006/main">
            <a:r>
              <a:t>SI PREGUNTAN: el PDU lista atractores comerciales y servicios, pero no cuántas personas visitan cada entrada por hora. La matrícula escolar que aparece en el PDU es agregada; no sirve para ordenar colegios individuales.</a:t>
            </a:r>
          </a:p>
          <a:p xmlns:a="http://schemas.openxmlformats.org/drawingml/2006/main">
            <a:r>
              <a:t/>
            </a:r>
          </a:p>
          <a:p xmlns:a="http://schemas.openxmlformats.org/drawingml/2006/main">
            <a:r>
              <a:t>REFERENCIA [3]: E:/TEST MCP/juliaca-censos/PDU_Juliaca_2026-2035_Diagnostico.pdf, pp. 133 y 184–185.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explica el ciclo en voz alta con verbos, sin leer todas las líneas. Los tres primeros pasos describen el trabajo técnico disponible en el laboratorio; el cuarto es la validación necesaria antes de cambiar el servicio.</a:t>
            </a:r>
          </a:p>
          <a:p xmlns:a="http://schemas.openxmlformats.org/drawingml/2006/main">
            <a:r>
              <a:t/>
            </a:r>
          </a:p>
          <a:p xmlns:a="http://schemas.openxmlformats.org/drawingml/2006/main">
            <a:r>
              <a:t>EJEMPLO: “Si modificamos una ruta para acercarla a una zona residencial, Puriy muestra quién gana acceso y si harán falta más micros. Luego se comprueba en la calle”.</a:t>
            </a:r>
          </a:p>
          <a:p xmlns:a="http://schemas.openxmlformats.org/drawingml/2006/main">
            <a:r>
              <a:t/>
            </a:r>
          </a:p>
          <a:p xmlns:a="http://schemas.openxmlformats.org/drawingml/2006/main">
            <a:r>
              <a:t>REFERENCIA [5]: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señala la pantalla y cuenta lo que hace una persona: marca desde dónde sale, a dónde va y cuándo desea viajar. Después espera una opción que pueda entender, no solo una línea pintada.</a:t>
            </a:r>
          </a:p>
          <a:p xmlns:a="http://schemas.openxmlformats.org/drawingml/2006/main">
            <a:r>
              <a:t/>
            </a:r>
          </a:p>
          <a:p xmlns:a="http://schemas.openxmlformats.org/drawingml/2006/main">
            <a:r>
              <a:t>SI PREGUNTAN: la recomendación pública depende de rutas y abordajes verificados. La captura muestra la interfaz, no una validación de tiempos reales en todas las líneas.</a:t>
            </a:r>
          </a:p>
          <a:p xmlns:a="http://schemas.openxmlformats.org/drawingml/2006/main">
            <a:r>
              <a:t/>
            </a:r>
          </a:p>
          <a:p xmlns:a="http://schemas.openxmlformats.org/drawingml/2006/main">
            <a:r>
              <a:t>REFERENCIA [5]: proyecto local Puriy y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“La tecnología para dibujar y consultar una ruta existe. Pero queremos que el pasajero confíe en lo que ve: primero debemos confirmar el recorrido y los puntos de abordaje”.</a:t>
            </a:r>
          </a:p>
          <a:p xmlns:a="http://schemas.openxmlformats.org/drawingml/2006/main">
            <a:r>
              <a:t/>
            </a:r>
          </a:p>
          <a:p xmlns:a="http://schemas.openxmlformats.org/drawingml/2006/main">
            <a:r>
              <a:t>SI PREGUNTAN POR LAS 40 LÍNEAS: son entradas documentadas en el PDU, no 40 rutas reales ya cargadas al mapa. La ficha N40 PRUEBA tiene 0 abordajes verificados.</a:t>
            </a:r>
          </a:p>
          <a:p xmlns:a="http://schemas.openxmlformats.org/drawingml/2006/main">
            <a:r>
              <a:t/>
            </a:r>
          </a:p>
          <a:p xmlns:a="http://schemas.openxmlformats.org/drawingml/2006/main">
            <a:r>
              <a:t>REFERENCIAS: [3] E:/TEST MCP/juliaca-censos/PDU_Juliaca_2026-2035_Diagnostico.pdf, tabla 95; [5]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suma los cuatro tiempos con la mano o con el puntero. No leas cada cifra como una lista: pregunta primero cuál parece mejor y luego enseña el total.</a:t>
            </a:r>
          </a:p>
          <a:p xmlns:a="http://schemas.openxmlformats.org/drawingml/2006/main">
            <a:r>
              <a:t/>
            </a:r>
          </a:p>
          <a:p xmlns:a="http://schemas.openxmlformats.org/drawingml/2006/main">
            <a:r>
              <a:t>SI PREGUNTAN: la espera igual a medio intervalo es una aproximación cuando el servicio es regular. Para recomendar de verdad se necesitan intervalos y tiempos observados.</a:t>
            </a:r>
          </a:p>
          <a:p xmlns:a="http://schemas.openxmlformats.org/drawingml/2006/main">
            <a:r>
              <a:t/>
            </a:r>
          </a:p>
          <a:p xmlns:a="http://schemas.openxmlformats.org/drawingml/2006/main">
            <a:r>
              <a:t>REFERENCIA METODOLÓGICA [5]: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“El municipio podría probar un cambio antes de llevarlo a la calle. La comparación obliga a mirar a los pasajeros que mejoran y a los que quedarían peor”.</a:t>
            </a:r>
          </a:p>
          <a:p xmlns:a="http://schemas.openxmlformats.org/drawingml/2006/main">
            <a:r>
              <a:t/>
            </a:r>
          </a:p>
          <a:p xmlns:a="http://schemas.openxmlformats.org/drawingml/2006/main">
            <a:r>
              <a:t>EJEMPLO: una variante llega a un colegio, pero añade minutos al ciclo. Puriy muestra si la misma flota mantiene el intervalo o si la propuesta debe corregirse.</a:t>
            </a:r>
          </a:p>
          <a:p xmlns:a="http://schemas.openxmlformats.org/drawingml/2006/main">
            <a:r>
              <a:t/>
            </a:r>
          </a:p>
          <a:p xmlns:a="http://schemas.openxmlformats.org/drawingml/2006/main">
            <a:r>
              <a:t>LÍMITE: el laboratorio compara una ruta base con una alternativa. No optimiza a la vez toda la red ni simula tráfico dinámico. REFERENCIA [5]: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“Un micro vuelve al punto de partida después de 62 minutos. Si quiero que salga uno cada 8 minutos, debo tener ocho unidades listas para sostener el servicio”. Usa esta frase, no la fórmula completa.</a:t>
            </a:r>
          </a:p>
          <a:p xmlns:a="http://schemas.openxmlformats.org/drawingml/2006/main">
            <a:r>
              <a:t/>
            </a:r>
          </a:p>
          <a:p xmlns:a="http://schemas.openxmlformats.org/drawingml/2006/main">
            <a:r>
              <a:t>SI PREGUNTAN: son cifras hipotéticas. El PDU no publica intervalos por línea; se deben medir flota activa, reserva, capacidad y ciclo real. Si faltan unidades, Puriy calcula un intervalo mayor.</a:t>
            </a:r>
          </a:p>
          <a:p xmlns:a="http://schemas.openxmlformats.org/drawingml/2006/main">
            <a:r>
              <a:t/>
            </a:r>
          </a:p>
          <a:p xmlns:a="http://schemas.openxmlformats.org/drawingml/2006/main">
            <a:r>
              <a:t>REFERENCIA [5]: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“El censo nos ayuda a preguntar a cuántos vecinos queda cerca un abordaje. El número 120 de esta lámina es inventado para mostrar el cálculo, no una manzana real”.</a:t>
            </a:r>
          </a:p>
          <a:p xmlns:a="http://schemas.openxmlformats.org/drawingml/2006/main">
            <a:r>
              <a:t/>
            </a:r>
          </a:p>
          <a:p xmlns:a="http://schemas.openxmlformats.org/drawingml/2006/main">
            <a:r>
              <a:t>SI PREGUNTAN: 400 m es un parámetro que se debe probar con otros umbrales. Una línea recta del centro de la manzana a la parada no demuestra un camino caminable; se necesitan conexiones peatonales verificadas. Cobertura potencial no es número de pasajeros.</a:t>
            </a:r>
          </a:p>
          <a:p xmlns:a="http://schemas.openxmlformats.org/drawingml/2006/main">
            <a:r>
              <a:t/>
            </a:r>
          </a:p>
          <a:p xmlns:a="http://schemas.openxmlformats.org/drawingml/2006/main">
            <a:r>
              <a:t>REFERENCIAS: [2] E:/PROYECTO JULIACA/web/public/data/manzanas-puntos.geojson; [5]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“No compararíamos lunes en hora punta con domingo de madrugada. Primero aprendemos la velocidad normal de ese tramo para un día y hora parecidos; luego vemos si varios micros están mucho más lentos”.</a:t>
            </a:r>
          </a:p>
          <a:p xmlns:a="http://schemas.openxmlformats.org/drawingml/2006/main">
            <a:r>
              <a:t/>
            </a:r>
          </a:p>
          <a:p xmlns:a="http://schemas.openxmlformats.org/drawingml/2006/main">
            <a:r>
              <a:t>SI PREGUNTAN: 25 y 10 km/h son un ejemplo inventado. Los 100 m por tramo son una propuesta a calibrar. Una caída de velocidad no prueba por sí sola congestión: podría ser una parada, obra o feria. Aún no hay un histórico GPS de operadores validado en Puriy.</a:t>
            </a:r>
          </a:p>
          <a:p xmlns:a="http://schemas.openxmlformats.org/drawingml/2006/main">
            <a:r>
              <a:t/>
            </a:r>
          </a:p>
          <a:p xmlns:a="http://schemas.openxmlformats.org/drawingml/2006/main">
            <a:r>
              <a:t>REFERENCIA METODOLÓGICA [5]: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cuenta el caso de feria como supuesto, sin decir que una calle específica está cerrada hoy. “El domingo se puede necesitar otro plan de servicio; la plataforma permite comparar ese escenario”.</a:t>
            </a:r>
          </a:p>
          <a:p xmlns:a="http://schemas.openxmlformats.org/drawingml/2006/main">
            <a:r>
              <a:t/>
            </a:r>
          </a:p>
          <a:p xmlns:a="http://schemas.openxmlformats.org/drawingml/2006/main">
            <a:r>
              <a:t>SI PREGUNTAN: el PDU documenta ocupación temporal de vías por día, pero hay que verificar tramos y horarios vigentes. Puriy no optimiza semáforos todavía; requiere aforos, fases y decisión municipal.</a:t>
            </a:r>
          </a:p>
          <a:p xmlns:a="http://schemas.openxmlformats.org/drawingml/2006/main">
            <a:r>
              <a:t/>
            </a:r>
          </a:p>
          <a:p xmlns:a="http://schemas.openxmlformats.org/drawingml/2006/main">
            <a:r>
              <a:t>REFERENCIAS: [3] E:/TEST MCP/juliaca-censos/PDU_Juliaca_2026-2035_Diagnostico.pdf, pp. 192–195; [5]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habla en tres voces. “Si soy pasajero, necesito claridad. Si opero una línea, necesito saber cuántas unidades requiere. Si planifico, necesito ver quién mejora y quién empeora”.</a:t>
            </a:r>
          </a:p>
          <a:p xmlns:a="http://schemas.openxmlformats.org/drawingml/2006/main">
            <a:r>
              <a:t/>
            </a:r>
          </a:p>
          <a:p xmlns:a="http://schemas.openxmlformats.org/drawingml/2006/main">
            <a:r>
              <a:t>SI PREGUNTAN POR IMPACTO: por ahora son beneficios esperados. No se ha demostrado una reducción atribuible de congestión, espera o emisiones. Se medirá en el piloto.</a:t>
            </a:r>
          </a:p>
          <a:p xmlns:a="http://schemas.openxmlformats.org/drawingml/2006/main">
            <a:r>
              <a:t/>
            </a:r>
          </a:p>
          <a:p xmlns:a="http://schemas.openxmlformats.org/drawingml/2006/main">
            <a:r>
              <a:t>REFERENCIA [5]: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“No diríamos que Puriy redujo el tráfico por ver una línea verde en un mapa. Medimos antes y después en días y horas comparables, y preguntamos quién ganó y quién perdió”.</a:t>
            </a:r>
          </a:p>
          <a:p xmlns:a="http://schemas.openxmlformats.org/drawingml/2006/main">
            <a:r>
              <a:t/>
            </a:r>
          </a:p>
          <a:p xmlns:a="http://schemas.openxmlformats.org/drawingml/2006/main">
            <a:r>
              <a:t>SI PREGUNTAN: un corredor de control ayudaría a separar el efecto del piloto de cambios de clima, temporada u obras. El tiempo completo incluye caminata y espera, además del tiempo dentro del vehículo.</a:t>
            </a:r>
          </a:p>
          <a:p xmlns:a="http://schemas.openxmlformats.org/drawingml/2006/main">
            <a:r>
              <a:t/>
            </a:r>
          </a:p>
          <a:p xmlns:a="http://schemas.openxmlformats.org/drawingml/2006/main">
            <a:r>
              <a:t>REFERENCIA METODOLÓGICA [5]: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“Primero queremos una línea bien comprobada. Con ese aprendizaje se podrán incorporar otras, sin publicar rutas que no hayan sido revisadas”.</a:t>
            </a:r>
          </a:p>
          <a:p xmlns:a="http://schemas.openxmlformats.org/drawingml/2006/main">
            <a:r>
              <a:t/>
            </a:r>
          </a:p>
          <a:p xmlns:a="http://schemas.openxmlformats.org/drawingml/2006/main">
            <a:r>
              <a:t>SI PREGUNTAN POR COSTO: aún debe cotizarse según vehículos, corredor y acuerdos. Los rubros son servidor, base de datos, dominio, copias, personal técnico, trabajo de campo y GPS/conectividad si faltan.</a:t>
            </a:r>
          </a:p>
          <a:p xmlns:a="http://schemas.openxmlformats.org/drawingml/2006/main">
            <a:r>
              <a:t/>
            </a:r>
          </a:p>
          <a:p xmlns:a="http://schemas.openxmlformats.org/drawingml/2006/main">
            <a:r>
              <a:t>REFERENCIA [5]: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cierra con una petición concreta, no con una promesa genérica. “Pedimos trabajar en un corredor piloto con datos del operador y acompañamiento municipal para probar si la propuesta funciona”.</a:t>
            </a:r>
          </a:p>
          <a:p xmlns:a="http://schemas.openxmlformats.org/drawingml/2006/main">
            <a:r>
              <a:t/>
            </a:r>
          </a:p>
          <a:p xmlns:a="http://schemas.openxmlformats.org/drawingml/2006/main">
            <a:r>
              <a:t>REPARTO SUGERIDO: Franklin abre y cierra; Ivan explica el prototipo y el método; Josue responde sobre fuentes, límites y medición. Los DNI se mantienen en el formulario, no en las diapositivas.</a:t>
            </a:r>
          </a:p>
          <a:p xmlns:a="http://schemas.openxmlformats.org/drawingml/2006/main">
            <a:r>
              <a:t/>
            </a:r>
          </a:p>
          <a:p xmlns:a="http://schemas.openxmlformats.org/drawingml/2006/main">
            <a:r>
              <a:t>REFERENCIA [1]: C:/Users/ivang/Downloads/BASES_IDEATÓN POR EL TRANSPORTE URBANO_ JULIACA (1).pdf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REFERENCIAS COMPLETAS:</a:t>
            </a:r>
          </a:p>
          <a:p xmlns:a="http://schemas.openxmlformats.org/drawingml/2006/main">
            <a:r>
              <a:t/>
            </a:r>
          </a:p>
          <a:p xmlns:a="http://schemas.openxmlformats.org/drawingml/2006/main">
            <a:r>
              <a:t>[1] C:/Users/ivang/Downloads/BASES_IDEATÓN POR EL TRANSPORTE URBANO_ JULIACA (1).pdf</a:t>
            </a:r>
          </a:p>
          <a:p xmlns:a="http://schemas.openxmlformats.org/drawingml/2006/main">
            <a:r>
              <a:t/>
            </a:r>
          </a:p>
          <a:p xmlns:a="http://schemas.openxmlformats.org/drawingml/2006/main">
            <a:r>
              <a:t>[2] INEI, WFS geoespacial.inei.gob.pe y Censo 2017 REDATAM. Archivo derivado: E:/PROYECTO JULIACA/web/public/data/manzanas-puntos.geojson</a:t>
            </a:r>
          </a:p>
          <a:p xmlns:a="http://schemas.openxmlformats.org/drawingml/2006/main">
            <a:r>
              <a:t/>
            </a:r>
          </a:p>
          <a:p xmlns:a="http://schemas.openxmlformats.org/drawingml/2006/main">
            <a:r>
              <a:t>[3] Diagnóstico PDU: E:/TEST MCP/juliaca-censos/PDU_Juliaca_2026-2035_Diagnostico.pdf; consulta pública: https://munisanroman.gob.pe/web/pdu-plan-de-desarrollo-urbano-juliaca/page/2/; auditoría de cifras: E:/PROYECTO JULIACA/docs/AUDITORIA_PDU_MOVILIDAD.md</a:t>
            </a:r>
          </a:p>
          <a:p xmlns:a="http://schemas.openxmlformats.org/drawingml/2006/main">
            <a:r>
              <a:t/>
            </a:r>
          </a:p>
          <a:p xmlns:a="http://schemas.openxmlformats.org/drawingml/2006/main">
            <a:r>
              <a:t>[4] MTC: https://www.gob.pe/institucion/mtc/noticias/1410015-promovilidad-culmina-diagnostico-de-movilidad-de-juliaca-como-parte-de-la-formulacion-del-pmus; Municipalidad: https://www.gob.pe/institucion/munisanroman/noticias/1410103-culminamos-el-diagnostico-del-plan-de-movilidad-urbana-sostenible-pmus-en-juliaca-que-registra-mas-de-800-mil-viajes-diarios</a:t>
            </a:r>
          </a:p>
          <a:p xmlns:a="http://schemas.openxmlformats.org/drawingml/2006/main">
            <a:r>
              <a:t/>
            </a:r>
          </a:p>
          <a:p xmlns:a="http://schemas.openxmlformats.org/drawingml/2006/main">
            <a:r>
              <a:t>[5] E:/PROYECTO JULIACA/docs/LABORATORIO_MOVILIDAD.md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EXPLICAR: esta lámina se usa en la ronda de preguntas, no en la exposición de cinco minutos. Las respuestas son breves y transparentes; después el expositor puede ampliar con la diapositiva correspondiente.</a:t>
            </a:r>
          </a:p>
          <a:p xmlns:a="http://schemas.openxmlformats.org/drawingml/2006/main">
            <a:r>
              <a:t/>
            </a:r>
          </a:p>
          <a:p xmlns:a="http://schemas.openxmlformats.org/drawingml/2006/main">
            <a:r>
              <a:t>FUENTES PARA RESPONDER: [2] censo, [3] PDU, [5] laboratorio.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60feb44f0a42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2db4d5e82c4683" /><Relationship Type="http://schemas.openxmlformats.org/officeDocument/2006/relationships/slideLayout" Target="/ppt/slideLayouts/slideLayout1.xml" Id="R17c96b05ecc94d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c96b05ecc94d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52a0cb7ceac40b9" /><Relationship Type="http://schemas.openxmlformats.org/officeDocument/2006/relationships/image" Target="/ppt/media/image.png" Id="Re13b3f7d7a8842a7" /><Relationship Type="http://schemas.openxmlformats.org/officeDocument/2006/relationships/image" Target="/ppt/media/image2.png" Id="Rdf00c2a855ad434b" /><Relationship Type="http://schemas.openxmlformats.org/officeDocument/2006/relationships/notesSlide" Target="/ppt/notesSlides/notesSlide1.xml" Id="R8c5424354dd841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aa6f514610a4e85" /><Relationship Type="http://schemas.openxmlformats.org/officeDocument/2006/relationships/notesSlide" Target="/ppt/notesSlides/notesSlide2.xml" Id="R2a7e28de648049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69302699f6405c" /><Relationship Type="http://schemas.openxmlformats.org/officeDocument/2006/relationships/notesSlide" Target="/ppt/notesSlides/notesSlide3.xml" Id="R27ee960b11ad451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6dbbafa4bef46fa" /><Relationship Type="http://schemas.openxmlformats.org/officeDocument/2006/relationships/notesSlide" Target="/ppt/notesSlides/notesSlide4.xml" Id="R8aebe41d50914c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da36a87ce7a48a7" /><Relationship Type="http://schemas.openxmlformats.org/officeDocument/2006/relationships/notesSlide" Target="/ppt/notesSlides/notesSlide5.xml" Id="R00077596f0d645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2b8ab80c7da47e6" /><Relationship Type="http://schemas.openxmlformats.org/officeDocument/2006/relationships/notesSlide" Target="/ppt/notesSlides/notesSlide6.xml" Id="R8fb68d6a2e6944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6994b04182e44fa" /><Relationship Type="http://schemas.openxmlformats.org/officeDocument/2006/relationships/image" Target="/ppt/media/image3.png" Id="R3d751edcdf3b4596" /><Relationship Type="http://schemas.openxmlformats.org/officeDocument/2006/relationships/notesSlide" Target="/ppt/notesSlides/notesSlide7.xml" Id="R97fff474efd54c3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399522c10d34aa4" /><Relationship Type="http://schemas.openxmlformats.org/officeDocument/2006/relationships/notesSlide" Target="/ppt/notesSlides/notesSlide8.xml" Id="R26e779f72ffc44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c38ae79bb04470b" /><Relationship Type="http://schemas.openxmlformats.org/officeDocument/2006/relationships/notesSlide" Target="/ppt/notesSlides/notesSlide9.xml" Id="R8f2e4f39a54347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48bee2c7ddb4cfb" /><Relationship Type="http://schemas.openxmlformats.org/officeDocument/2006/relationships/notesSlide" Target="/ppt/notesSlides/notesSlide10.xml" Id="Rb0e8b567edd445a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2272a95a9284e37" /><Relationship Type="http://schemas.openxmlformats.org/officeDocument/2006/relationships/image" Target="/ppt/media/image4.png" Id="R190a158388c34552" /><Relationship Type="http://schemas.openxmlformats.org/officeDocument/2006/relationships/notesSlide" Target="/ppt/notesSlides/notesSlide11.xml" Id="R090e6b6a9b654b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2a381e93610438b" /><Relationship Type="http://schemas.openxmlformats.org/officeDocument/2006/relationships/image" Target="/ppt/media/image5.png" Id="Raf4b9f6342b54bc6" /><Relationship Type="http://schemas.openxmlformats.org/officeDocument/2006/relationships/notesSlide" Target="/ppt/notesSlides/notesSlide12.xml" Id="Rd1c1fcdccd5d45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d4b9abaa8bc4361" /><Relationship Type="http://schemas.openxmlformats.org/officeDocument/2006/relationships/notesSlide" Target="/ppt/notesSlides/notesSlide13.xml" Id="R24a423ca443e4a6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a005424f92641ac" /><Relationship Type="http://schemas.openxmlformats.org/officeDocument/2006/relationships/notesSlide" Target="/ppt/notesSlides/notesSlide14.xml" Id="Re8ed1dff823b4c6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d6cb069367542c2" /><Relationship Type="http://schemas.openxmlformats.org/officeDocument/2006/relationships/notesSlide" Target="/ppt/notesSlides/notesSlide15.xml" Id="R74d71a6c7d8049f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491e0ac105d450a" /><Relationship Type="http://schemas.openxmlformats.org/officeDocument/2006/relationships/notesSlide" Target="/ppt/notesSlides/notesSlide16.xml" Id="R1b5497b19f3342e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4208394b4c14e19" /><Relationship Type="http://schemas.openxmlformats.org/officeDocument/2006/relationships/notesSlide" Target="/ppt/notesSlides/notesSlide17.xml" Id="Rc21c16e65711400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1b21baf57144f9c" /><Relationship Type="http://schemas.openxmlformats.org/officeDocument/2006/relationships/notesSlide" Target="/ppt/notesSlides/notesSlide18.xml" Id="R519744cb3d31473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aa129e4fc994d5b" /><Relationship Type="http://schemas.openxmlformats.org/officeDocument/2006/relationships/notesSlide" Target="/ppt/notesSlides/notesSlide19.xml" Id="R3bf47b8943f24a8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2706bb641d74e05" /><Relationship Type="http://schemas.openxmlformats.org/officeDocument/2006/relationships/notesSlide" Target="/ppt/notesSlides/notesSlide20.xml" Id="Re2ac2d24f0e8455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33d22401a3f4a42" /><Relationship Type="http://schemas.openxmlformats.org/officeDocument/2006/relationships/notesSlide" Target="/ppt/notesSlides/notesSlide21.xml" Id="Ra79aaec108b5444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deb5c4b5f1648f7" /><Relationship Type="http://schemas.openxmlformats.org/officeDocument/2006/relationships/notesSlide" Target="/ppt/notesSlides/notesSlide22.xml" Id="Rda8e1f4786aa46a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dd3cccba2fb4b2f" /><Relationship Type="http://schemas.openxmlformats.org/officeDocument/2006/relationships/notesSlide" Target="/ppt/notesSlides/notesSlide23.xml" Id="R4fb81d2ded4f44c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72d10f24ada4563" /><Relationship Type="http://schemas.openxmlformats.org/officeDocument/2006/relationships/notesSlide" Target="/ppt/notesSlides/notesSlide24.xml" Id="Rb342ee16c8e04d1c" /></Relationships>
</file>

<file path=ppt/slides/slide1.xml><?xml version="1.0" encoding="utf-8"?>
<p:sld xmlns:p="http://schemas.openxmlformats.org/presentationml/2006/main">
  <p:cSld>
    <p:bg>
      <p:bgPr>
        <a:solidFill xmlns:a="http://schemas.openxmlformats.org/drawingml/2006/main">
          <a:srgbClr val="17202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BA15C82-82CE-4E9D-87A2-4EC5C697D08C}"/>
              </a:ext>
            </a:extLst>
          </p:cNvPr>
          <p:cNvSpPr>
            <a:spLocks xmlns:a="http://schemas.openxmlformats.org/drawingml/2006/main" noGrp="1"/>
          </p:cNvSpPr>
          <p:nvPr/>
        </p:nvSpPr>
        <p:spPr>
          <a:xfrm xmlns:a="http://schemas.openxmlformats.org/drawingml/2006/main">
            <a:off x="0" y="0"/>
            <a:ext cx="7553325" cy="6858000"/>
          </a:xfrm>
          <a:prstGeom xmlns:a="http://schemas.openxmlformats.org/drawingml/2006/main" prst="rect">
            <a:avLst/>
          </a:prstGeom>
          <a:solidFill xmlns:a="http://schemas.openxmlformats.org/drawingml/2006/main">
            <a:srgbClr val="17202B"/>
          </a:solidFill>
          <a:ln xmlns:a="http://schemas.openxmlformats.org/drawingml/2006/main" w="0">
            <a:no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13b3f7d7a8842a7"/>
          <a:srcRect xmlns:a="http://schemas.openxmlformats.org/drawingml/2006/main" l="28863" t="0" r="28863" b="0"/>
          <a:stretch xmlns:a="http://schemas.openxmlformats.org/drawingml/2006/main">
            <a:fillRect l="0" t="0" r="0" b="0"/>
          </a:stretch>
        </p:blipFill>
        <p:spPr>
          <a:xfrm xmlns:a="http://schemas.openxmlformats.org/drawingml/2006/main">
            <a:off x="7553325" y="0"/>
            <a:ext cx="4638675"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3D27F48-34F5-49BB-A241-45154A3F8A31}"/>
              </a:ext>
            </a:extLst>
          </p:cNvPr>
          <p:cNvSpPr>
            <a:spLocks xmlns:a="http://schemas.openxmlformats.org/drawingml/2006/main" noGrp="1"/>
          </p:cNvSpPr>
          <p:nvPr/>
        </p:nvSpPr>
        <p:spPr>
          <a:xfrm xmlns:a="http://schemas.openxmlformats.org/drawingml/2006/main">
            <a:off x="7296150" y="0"/>
            <a:ext cx="514350" cy="6858000"/>
          </a:xfrm>
          <a:prstGeom xmlns:a="http://schemas.openxmlformats.org/drawingml/2006/main" prst="rect">
            <a:avLst/>
          </a:prstGeom>
          <a:solidFill xmlns:a="http://schemas.openxmlformats.org/drawingml/2006/main">
            <a:srgbClr val="17202B"/>
          </a:solidFill>
          <a:ln xmlns:a="http://schemas.openxmlformats.org/drawingml/2006/main" w="0">
            <a:no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f00c2a855ad434b"/>
          <a:stretch xmlns:a="http://schemas.openxmlformats.org/drawingml/2006/main"/>
        </p:blipFill>
        <p:spPr>
          <a:xfrm xmlns:a="http://schemas.openxmlformats.org/drawingml/2006/main">
            <a:off x="581025" y="495300"/>
            <a:ext cx="704850" cy="7048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5D33A0F-8988-4C44-9412-EF5B01E4D476}"/>
              </a:ext>
            </a:extLst>
          </p:cNvPr>
          <p:cNvSpPr>
            <a:spLocks xmlns:a="http://schemas.openxmlformats.org/drawingml/2006/main" noGrp="1"/>
          </p:cNvSpPr>
          <p:nvPr/>
        </p:nvSpPr>
        <p:spPr>
          <a:xfrm xmlns:a="http://schemas.openxmlformats.org/drawingml/2006/main">
            <a:off x="571500" y="1581150"/>
            <a:ext cx="619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350" b="1">
                <a:solidFill>
                  <a:srgbClr val="FFFFFF"/>
                </a:solidFill>
                <a:latin typeface="Aptos"/>
                <a:ea typeface="Aptos"/>
                <a:cs typeface="Aptos"/>
              </a:defRPr>
            </a:pPr>
            <a:r>
              <a:rPr sz="4350" b="1">
                <a:solidFill>
                  <a:srgbClr val="FFFFFF"/>
                </a:solidFill>
                <a:latin typeface="Aptos"/>
                <a:ea typeface="Aptos"/>
                <a:cs typeface="Aptos"/>
              </a:rPr>
              <a:t>PURIY</a:t>
            </a:r>
          </a:p>
        </p:txBody>
      </p:sp>
      <p:sp>
        <p:nvSpPr>
          <p:cNvPr id="6" name="">
            <a:extLst xmlns:a="http://schemas.openxmlformats.org/drawingml/2006/main">
              <a:ext uri="{FF2B5EF4-FFF2-40B4-BE49-F238E27FC236}">
                <a16:creationId xmlns:a16="http://schemas.microsoft.com/office/drawing/2014/main" id="{2EC9852B-C693-4A5A-95E9-3B1EA7FDAB66}"/>
              </a:ext>
            </a:extLst>
          </p:cNvPr>
          <p:cNvSpPr>
            <a:spLocks xmlns:a="http://schemas.openxmlformats.org/drawingml/2006/main" noGrp="1"/>
          </p:cNvSpPr>
          <p:nvPr/>
        </p:nvSpPr>
        <p:spPr>
          <a:xfrm xmlns:a="http://schemas.openxmlformats.org/drawingml/2006/main">
            <a:off x="571500" y="2543175"/>
            <a:ext cx="623887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FFFFFF"/>
                </a:solidFill>
                <a:latin typeface="Aptos"/>
                <a:ea typeface="Aptos"/>
                <a:cs typeface="Aptos"/>
              </a:defRPr>
            </a:pPr>
            <a:r>
              <a:rPr sz="2400" b="1">
                <a:solidFill>
                  <a:srgbClr val="FFFFFF"/>
                </a:solidFill>
                <a:latin typeface="Aptos"/>
                <a:ea typeface="Aptos"/>
                <a:cs typeface="Aptos"/>
              </a:rPr>
              <a:t>Plataforma Inteligente para la Optimización de Rutas de Transporte Urbano</a:t>
            </a:r>
          </a:p>
        </p:txBody>
      </p:sp>
      <p:sp>
        <p:nvSpPr>
          <p:cNvPr id="7" name="">
            <a:extLst xmlns:a="http://schemas.openxmlformats.org/drawingml/2006/main">
              <a:ext uri="{FF2B5EF4-FFF2-40B4-BE49-F238E27FC236}">
                <a16:creationId xmlns:a16="http://schemas.microsoft.com/office/drawing/2014/main" id="{AA88EBE9-9B43-4DBD-AAB2-6F5479573AA3}"/>
              </a:ext>
            </a:extLst>
          </p:cNvPr>
          <p:cNvSpPr>
            <a:spLocks xmlns:a="http://schemas.openxmlformats.org/drawingml/2006/main" noGrp="1"/>
          </p:cNvSpPr>
          <p:nvPr/>
        </p:nvSpPr>
        <p:spPr>
          <a:xfrm xmlns:a="http://schemas.openxmlformats.org/drawingml/2006/main">
            <a:off x="571500" y="4267200"/>
            <a:ext cx="1733550" cy="0"/>
          </a:xfrm>
          <a:prstGeom xmlns:a="http://schemas.openxmlformats.org/drawingml/2006/main" prst="line">
            <a:avLst/>
          </a:prstGeom>
          <a:noFill xmlns:a="http://schemas.openxmlformats.org/drawingml/2006/main"/>
          <a:ln xmlns:a="http://schemas.openxmlformats.org/drawingml/2006/main" w="57150">
            <a:solidFill>
              <a:srgbClr val="84ABF4"/>
            </a:solidFill>
            <a:prstDash val="solid"/>
          </a:ln>
        </p:spPr>
      </p:sp>
      <p:sp>
        <p:nvSpPr>
          <p:cNvPr id="8" name="">
            <a:extLst xmlns:a="http://schemas.openxmlformats.org/drawingml/2006/main">
              <a:ext uri="{FF2B5EF4-FFF2-40B4-BE49-F238E27FC236}">
                <a16:creationId xmlns:a16="http://schemas.microsoft.com/office/drawing/2014/main" id="{291E5CF7-8FC0-4630-B703-47D8EBF0F9DC}"/>
              </a:ext>
            </a:extLst>
          </p:cNvPr>
          <p:cNvSpPr>
            <a:spLocks xmlns:a="http://schemas.openxmlformats.org/drawingml/2006/main" noGrp="1"/>
          </p:cNvSpPr>
          <p:nvPr/>
        </p:nvSpPr>
        <p:spPr>
          <a:xfrm xmlns:a="http://schemas.openxmlformats.org/drawingml/2006/main">
            <a:off x="571500" y="4524375"/>
            <a:ext cx="61626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D4DEEB"/>
                </a:solidFill>
                <a:latin typeface="Aptos"/>
                <a:ea typeface="Aptos"/>
                <a:cs typeface="Aptos"/>
              </a:defRPr>
            </a:pPr>
            <a:r>
              <a:rPr sz="1650" b="0">
                <a:solidFill>
                  <a:srgbClr val="D4DEEB"/>
                </a:solidFill>
                <a:latin typeface="Aptos"/>
                <a:ea typeface="Aptos"/>
                <a:cs typeface="Aptos"/>
              </a:rPr>
              <a:t>Propuesta para mejorar cómo se planifican y se usan las rutas de Juliaca</a:t>
            </a:r>
          </a:p>
        </p:txBody>
      </p:sp>
      <p:sp>
        <p:nvSpPr>
          <p:cNvPr id="9" name="">
            <a:extLst xmlns:a="http://schemas.openxmlformats.org/drawingml/2006/main">
              <a:ext uri="{FF2B5EF4-FFF2-40B4-BE49-F238E27FC236}">
                <a16:creationId xmlns:a16="http://schemas.microsoft.com/office/drawing/2014/main" id="{391A4BB2-FCED-41E8-9224-A5E98BBCC6FE}"/>
              </a:ext>
            </a:extLst>
          </p:cNvPr>
          <p:cNvSpPr>
            <a:spLocks xmlns:a="http://schemas.openxmlformats.org/drawingml/2006/main" noGrp="1"/>
          </p:cNvSpPr>
          <p:nvPr/>
        </p:nvSpPr>
        <p:spPr>
          <a:xfrm xmlns:a="http://schemas.openxmlformats.org/drawingml/2006/main">
            <a:off x="571500" y="5867400"/>
            <a:ext cx="624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B9CDF5"/>
                </a:solidFill>
                <a:latin typeface="Aptos"/>
                <a:ea typeface="Aptos"/>
                <a:cs typeface="Aptos"/>
              </a:defRPr>
            </a:pPr>
            <a:r>
              <a:rPr sz="1350" b="1">
                <a:solidFill>
                  <a:srgbClr val="B9CDF5"/>
                </a:solidFill>
                <a:latin typeface="Aptos"/>
                <a:ea typeface="Aptos"/>
                <a:cs typeface="Aptos"/>
              </a:rPr>
              <a:t>Desafío 2 · Equipo ASEDIC · Juliaca</a:t>
            </a:r>
          </a:p>
        </p:txBody>
      </p:sp>
    </p:spTree>
    <p:extLst>
      <p:ext uri="{BB962C8B-B14F-4D97-AF65-F5344CB8AC3E}">
        <p14:creationId xmlns:p14="http://schemas.microsoft.com/office/powerpoint/2010/main" val="3812256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5FA7A44-6FD4-493E-A955-8386B4368BE9}"/>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Una pregunta cotidiana en Juliaca</a:t>
            </a:r>
          </a:p>
        </p:txBody>
      </p:sp>
      <p:sp>
        <p:nvSpPr>
          <p:cNvPr id="2" name="">
            <a:extLst xmlns:a="http://schemas.openxmlformats.org/drawingml/2006/main">
              <a:ext uri="{FF2B5EF4-FFF2-40B4-BE49-F238E27FC236}">
                <a16:creationId xmlns:a16="http://schemas.microsoft.com/office/drawing/2014/main" id="{A2794D70-A3CD-42C7-9C17-EA46368B8996}"/>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6797719D-4774-4A8F-8E94-6C1B783DA41B}"/>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C6E93AE0-9AF8-418B-8FE3-A865F96BE964}"/>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
            <a:extLst xmlns:a="http://schemas.openxmlformats.org/drawingml/2006/main">
              <a:ext uri="{FF2B5EF4-FFF2-40B4-BE49-F238E27FC236}">
                <a16:creationId xmlns:a16="http://schemas.microsoft.com/office/drawing/2014/main" id="{0C4B942D-ADF3-4308-97F7-BF7A00EFFF36}"/>
              </a:ext>
            </a:extLst>
          </p:cNvPr>
          <p:cNvSpPr>
            <a:spLocks xmlns:a="http://schemas.openxmlformats.org/drawingml/2006/main" noGrp="1"/>
          </p:cNvSpPr>
          <p:nvPr/>
        </p:nvSpPr>
        <p:spPr>
          <a:xfrm xmlns:a="http://schemas.openxmlformats.org/drawingml/2006/main">
            <a:off x="571500" y="12858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75CBA"/>
                </a:solidFill>
                <a:latin typeface="Aptos"/>
                <a:ea typeface="Aptos"/>
                <a:cs typeface="Aptos"/>
              </a:defRPr>
            </a:pPr>
            <a:r>
              <a:rPr sz="1125" b="1">
                <a:solidFill>
                  <a:srgbClr val="275CBA"/>
                </a:solidFill>
                <a:latin typeface="Aptos"/>
                <a:ea typeface="Aptos"/>
                <a:cs typeface="Aptos"/>
              </a:rPr>
              <a:t>CASO PARA ENTENDER EL PROBLEMA</a:t>
            </a:r>
          </a:p>
        </p:txBody>
      </p:sp>
      <p:sp>
        <p:nvSpPr>
          <p:cNvPr id="6" name="">
            <a:extLst xmlns:a="http://schemas.openxmlformats.org/drawingml/2006/main">
              <a:ext uri="{FF2B5EF4-FFF2-40B4-BE49-F238E27FC236}">
                <a16:creationId xmlns:a16="http://schemas.microsoft.com/office/drawing/2014/main" id="{99EC0285-8F8F-4152-821C-F50150C7A4F6}"/>
              </a:ext>
            </a:extLst>
          </p:cNvPr>
          <p:cNvSpPr>
            <a:spLocks xmlns:a="http://schemas.openxmlformats.org/drawingml/2006/main" noGrp="1"/>
          </p:cNvSpPr>
          <p:nvPr/>
        </p:nvSpPr>
        <p:spPr>
          <a:xfrm xmlns:a="http://schemas.openxmlformats.org/drawingml/2006/main">
            <a:off x="571500" y="1647825"/>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Una persona sale de casa y necesita llegar a clases.</a:t>
            </a:r>
          </a:p>
        </p:txBody>
      </p:sp>
      <p:sp>
        <p:nvSpPr>
          <p:cNvPr id="7" name="">
            <a:extLst xmlns:a="http://schemas.openxmlformats.org/drawingml/2006/main">
              <a:ext uri="{FF2B5EF4-FFF2-40B4-BE49-F238E27FC236}">
                <a16:creationId xmlns:a16="http://schemas.microsoft.com/office/drawing/2014/main" id="{0061B6C3-90B0-476D-85AD-CF65E5D0E2BE}"/>
              </a:ext>
            </a:extLst>
          </p:cNvPr>
          <p:cNvSpPr>
            <a:spLocks xmlns:a="http://schemas.openxmlformats.org/drawingml/2006/main" noGrp="1"/>
          </p:cNvSpPr>
          <p:nvPr/>
        </p:nvSpPr>
        <p:spPr>
          <a:xfrm xmlns:a="http://schemas.openxmlformats.org/drawingml/2006/main">
            <a:off x="571500" y="2600325"/>
            <a:ext cx="10506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a:solidFill>
                  <a:srgbClr val="5B6572"/>
                </a:solidFill>
                <a:latin typeface="Aptos"/>
                <a:ea typeface="Aptos"/>
                <a:cs typeface="Aptos"/>
              </a:defRPr>
            </a:pPr>
            <a:r>
              <a:rPr sz="2025" b="0">
                <a:solidFill>
                  <a:srgbClr val="5B6572"/>
                </a:solidFill>
                <a:latin typeface="Aptos"/>
                <a:ea typeface="Aptos"/>
                <a:cs typeface="Aptos"/>
              </a:rPr>
              <a:t>Encuentra dos micros posibles, pero no sabe dónde abordar, cuánto esperará ni cuál la deja más cerca.</a:t>
            </a:r>
          </a:p>
        </p:txBody>
      </p:sp>
      <p:sp>
        <p:nvSpPr>
          <p:cNvPr id="8" name="">
            <a:extLst xmlns:a="http://schemas.openxmlformats.org/drawingml/2006/main">
              <a:ext uri="{FF2B5EF4-FFF2-40B4-BE49-F238E27FC236}">
                <a16:creationId xmlns:a16="http://schemas.microsoft.com/office/drawing/2014/main" id="{EF8E66A2-58D1-41E4-B1D4-4C84C0DFE004}"/>
              </a:ext>
            </a:extLst>
          </p:cNvPr>
          <p:cNvSpPr>
            <a:spLocks xmlns:a="http://schemas.openxmlformats.org/drawingml/2006/main" noGrp="1"/>
          </p:cNvSpPr>
          <p:nvPr/>
        </p:nvSpPr>
        <p:spPr>
          <a:xfrm xmlns:a="http://schemas.openxmlformats.org/drawingml/2006/main">
            <a:off x="571500" y="4029075"/>
            <a:ext cx="1101090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9" name="">
            <a:extLst xmlns:a="http://schemas.openxmlformats.org/drawingml/2006/main">
              <a:ext uri="{FF2B5EF4-FFF2-40B4-BE49-F238E27FC236}">
                <a16:creationId xmlns:a16="http://schemas.microsoft.com/office/drawing/2014/main" id="{17368D93-962D-4F51-9D79-2ADB906D908F}"/>
              </a:ext>
            </a:extLst>
          </p:cNvPr>
          <p:cNvSpPr>
            <a:spLocks xmlns:a="http://schemas.openxmlformats.org/drawingml/2006/main" noGrp="1"/>
          </p:cNvSpPr>
          <p:nvPr/>
        </p:nvSpPr>
        <p:spPr>
          <a:xfrm xmlns:a="http://schemas.openxmlformats.org/drawingml/2006/main">
            <a:off x="571500" y="4410075"/>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Para el pasajero</a:t>
            </a:r>
          </a:p>
        </p:txBody>
      </p:sp>
      <p:sp>
        <p:nvSpPr>
          <p:cNvPr id="10" name="">
            <a:extLst xmlns:a="http://schemas.openxmlformats.org/drawingml/2006/main">
              <a:ext uri="{FF2B5EF4-FFF2-40B4-BE49-F238E27FC236}">
                <a16:creationId xmlns:a16="http://schemas.microsoft.com/office/drawing/2014/main" id="{092C0AB2-5AE5-4B57-AE4D-9615EEE23D85}"/>
              </a:ext>
            </a:extLst>
          </p:cNvPr>
          <p:cNvSpPr>
            <a:spLocks xmlns:a="http://schemas.openxmlformats.org/drawingml/2006/main" noGrp="1"/>
          </p:cNvSpPr>
          <p:nvPr/>
        </p:nvSpPr>
        <p:spPr>
          <a:xfrm xmlns:a="http://schemas.openxmlformats.org/drawingml/2006/main">
            <a:off x="571500" y="4838700"/>
            <a:ext cx="46958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0252C"/>
                </a:solidFill>
                <a:latin typeface="Aptos"/>
                <a:ea typeface="Aptos"/>
                <a:cs typeface="Aptos"/>
              </a:defRPr>
            </a:pPr>
            <a:r>
              <a:rPr sz="1650" b="0">
                <a:solidFill>
                  <a:srgbClr val="20252C"/>
                </a:solidFill>
                <a:latin typeface="Aptos"/>
                <a:ea typeface="Aptos"/>
                <a:cs typeface="Aptos"/>
              </a:rPr>
              <a:t>elegir un viaje completo y comprensible</a:t>
            </a:r>
          </a:p>
        </p:txBody>
      </p:sp>
      <p:sp>
        <p:nvSpPr>
          <p:cNvPr id="11" name="">
            <a:extLst xmlns:a="http://schemas.openxmlformats.org/drawingml/2006/main">
              <a:ext uri="{FF2B5EF4-FFF2-40B4-BE49-F238E27FC236}">
                <a16:creationId xmlns:a16="http://schemas.microsoft.com/office/drawing/2014/main" id="{6BF42CF5-8679-4B01-A09F-199251424407}"/>
              </a:ext>
            </a:extLst>
          </p:cNvPr>
          <p:cNvSpPr>
            <a:spLocks xmlns:a="http://schemas.openxmlformats.org/drawingml/2006/main" noGrp="1"/>
          </p:cNvSpPr>
          <p:nvPr/>
        </p:nvSpPr>
        <p:spPr>
          <a:xfrm xmlns:a="http://schemas.openxmlformats.org/drawingml/2006/main">
            <a:off x="6334125" y="4410075"/>
            <a:ext cx="3486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Para la ciudad</a:t>
            </a:r>
          </a:p>
        </p:txBody>
      </p:sp>
      <p:sp>
        <p:nvSpPr>
          <p:cNvPr id="12" name="">
            <a:extLst xmlns:a="http://schemas.openxmlformats.org/drawingml/2006/main">
              <a:ext uri="{FF2B5EF4-FFF2-40B4-BE49-F238E27FC236}">
                <a16:creationId xmlns:a16="http://schemas.microsoft.com/office/drawing/2014/main" id="{CF187B9A-26DC-4B9F-A98A-0D3EB2C17823}"/>
              </a:ext>
            </a:extLst>
          </p:cNvPr>
          <p:cNvSpPr>
            <a:spLocks xmlns:a="http://schemas.openxmlformats.org/drawingml/2006/main" noGrp="1"/>
          </p:cNvSpPr>
          <p:nvPr/>
        </p:nvSpPr>
        <p:spPr>
          <a:xfrm xmlns:a="http://schemas.openxmlformats.org/drawingml/2006/main">
            <a:off x="6334125" y="4838700"/>
            <a:ext cx="48196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0252C"/>
                </a:solidFill>
                <a:latin typeface="Aptos"/>
                <a:ea typeface="Aptos"/>
                <a:cs typeface="Aptos"/>
              </a:defRPr>
            </a:pPr>
            <a:r>
              <a:rPr sz="1650" b="0">
                <a:solidFill>
                  <a:srgbClr val="20252C"/>
                </a:solidFill>
                <a:latin typeface="Aptos"/>
                <a:ea typeface="Aptos"/>
                <a:cs typeface="Aptos"/>
              </a:rPr>
              <a:t>saber si las rutas y frecuencias atienden a las zonas que más lo necesitan</a:t>
            </a:r>
          </a:p>
        </p:txBody>
      </p:sp>
    </p:spTree>
    <p:extLst>
      <p:ext uri="{BB962C8B-B14F-4D97-AF65-F5344CB8AC3E}">
        <p14:creationId xmlns:p14="http://schemas.microsoft.com/office/powerpoint/2010/main" val="14606195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D1AAF18-11C3-49D0-8412-52EBD2A769D5}"/>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Por qué importa mejorar el transporte</a:t>
            </a:r>
          </a:p>
        </p:txBody>
      </p:sp>
      <p:sp>
        <p:nvSpPr>
          <p:cNvPr id="2" name="">
            <a:extLst xmlns:a="http://schemas.openxmlformats.org/drawingml/2006/main">
              <a:ext uri="{FF2B5EF4-FFF2-40B4-BE49-F238E27FC236}">
                <a16:creationId xmlns:a16="http://schemas.microsoft.com/office/drawing/2014/main" id="{0C538AB3-6619-437C-A011-3E68F8E0821C}"/>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F08725BA-E6DF-4B9C-A3B2-614364E6C197}"/>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0E77571E-2A16-4C17-A8D0-18A064148493}"/>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
            <a:extLst xmlns:a="http://schemas.openxmlformats.org/drawingml/2006/main">
              <a:ext uri="{FF2B5EF4-FFF2-40B4-BE49-F238E27FC236}">
                <a16:creationId xmlns:a16="http://schemas.microsoft.com/office/drawing/2014/main" id="{17EE1E24-30A5-4E36-8D4D-A09F459BCBD0}"/>
              </a:ext>
            </a:extLst>
          </p:cNvPr>
          <p:cNvSpPr>
            <a:spLocks xmlns:a="http://schemas.openxmlformats.org/drawingml/2006/main" noGrp="1"/>
          </p:cNvSpPr>
          <p:nvPr/>
        </p:nvSpPr>
        <p:spPr>
          <a:xfrm xmlns:a="http://schemas.openxmlformats.org/drawingml/2006/main">
            <a:off x="571500" y="1476375"/>
            <a:ext cx="619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825" b="1">
                <a:solidFill>
                  <a:srgbClr val="275CBA"/>
                </a:solidFill>
                <a:latin typeface="Aptos"/>
                <a:ea typeface="Aptos"/>
                <a:cs typeface="Aptos"/>
              </a:defRPr>
            </a:pPr>
            <a:r>
              <a:rPr sz="3825" b="1">
                <a:solidFill>
                  <a:srgbClr val="275CBA"/>
                </a:solidFill>
                <a:latin typeface="Aptos"/>
                <a:ea typeface="Aptos"/>
                <a:cs typeface="Aptos"/>
              </a:rPr>
              <a:t>Más de 800 mil</a:t>
            </a:r>
          </a:p>
        </p:txBody>
      </p:sp>
      <p:sp>
        <p:nvSpPr>
          <p:cNvPr id="6" name="">
            <a:extLst xmlns:a="http://schemas.openxmlformats.org/drawingml/2006/main">
              <a:ext uri="{FF2B5EF4-FFF2-40B4-BE49-F238E27FC236}">
                <a16:creationId xmlns:a16="http://schemas.microsoft.com/office/drawing/2014/main" id="{FA9EDA23-1EF9-4C12-8E81-FDBC41DB1F43}"/>
              </a:ext>
            </a:extLst>
          </p:cNvPr>
          <p:cNvSpPr>
            <a:spLocks xmlns:a="http://schemas.openxmlformats.org/drawingml/2006/main" noGrp="1"/>
          </p:cNvSpPr>
          <p:nvPr/>
        </p:nvSpPr>
        <p:spPr>
          <a:xfrm xmlns:a="http://schemas.openxmlformats.org/drawingml/2006/main">
            <a:off x="571500" y="2124075"/>
            <a:ext cx="5981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20252C"/>
                </a:solidFill>
                <a:latin typeface="Aptos"/>
                <a:ea typeface="Aptos"/>
                <a:cs typeface="Aptos"/>
              </a:defRPr>
            </a:pPr>
            <a:r>
              <a:rPr sz="1725" b="1">
                <a:solidFill>
                  <a:srgbClr val="20252C"/>
                </a:solidFill>
                <a:latin typeface="Aptos"/>
                <a:ea typeface="Aptos"/>
                <a:cs typeface="Aptos"/>
              </a:rPr>
              <a:t>viajes diarios en el ámbito estudiado por el PMUS</a:t>
            </a:r>
          </a:p>
        </p:txBody>
      </p:sp>
      <p:sp>
        <p:nvSpPr>
          <p:cNvPr id="7" name="">
            <a:extLst xmlns:a="http://schemas.openxmlformats.org/drawingml/2006/main">
              <a:ext uri="{FF2B5EF4-FFF2-40B4-BE49-F238E27FC236}">
                <a16:creationId xmlns:a16="http://schemas.microsoft.com/office/drawing/2014/main" id="{1369A977-A53C-4646-AFD2-3F7509177326}"/>
              </a:ext>
            </a:extLst>
          </p:cNvPr>
          <p:cNvSpPr>
            <a:spLocks xmlns:a="http://schemas.openxmlformats.org/drawingml/2006/main" noGrp="1"/>
          </p:cNvSpPr>
          <p:nvPr/>
        </p:nvSpPr>
        <p:spPr>
          <a:xfrm xmlns:a="http://schemas.openxmlformats.org/drawingml/2006/main">
            <a:off x="6581775" y="1457325"/>
            <a:ext cx="19050" cy="1924050"/>
          </a:xfrm>
          <a:prstGeom xmlns:a="http://schemas.openxmlformats.org/drawingml/2006/main" prst="rect">
            <a:avLst/>
          </a:prstGeom>
          <a:solidFill xmlns:a="http://schemas.openxmlformats.org/drawingml/2006/main">
            <a:srgbClr val="DDE3E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8D4368A-1C31-43A5-ACB1-97C63C71E03A}"/>
              </a:ext>
            </a:extLst>
          </p:cNvPr>
          <p:cNvSpPr>
            <a:spLocks xmlns:a="http://schemas.openxmlformats.org/drawingml/2006/main" noGrp="1"/>
          </p:cNvSpPr>
          <p:nvPr/>
        </p:nvSpPr>
        <p:spPr>
          <a:xfrm xmlns:a="http://schemas.openxmlformats.org/drawingml/2006/main">
            <a:off x="6972300" y="1476375"/>
            <a:ext cx="4133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825" b="1">
                <a:solidFill>
                  <a:srgbClr val="275CBA"/>
                </a:solidFill>
                <a:latin typeface="Aptos"/>
                <a:ea typeface="Aptos"/>
                <a:cs typeface="Aptos"/>
              </a:defRPr>
            </a:pPr>
            <a:r>
              <a:rPr sz="3825" b="1">
                <a:solidFill>
                  <a:srgbClr val="275CBA"/>
                </a:solidFill>
                <a:latin typeface="Aptos"/>
                <a:ea typeface="Aptos"/>
                <a:cs typeface="Aptos"/>
              </a:rPr>
              <a:t>62,3 %</a:t>
            </a:r>
          </a:p>
        </p:txBody>
      </p:sp>
      <p:sp>
        <p:nvSpPr>
          <p:cNvPr id="9" name="">
            <a:extLst xmlns:a="http://schemas.openxmlformats.org/drawingml/2006/main">
              <a:ext uri="{FF2B5EF4-FFF2-40B4-BE49-F238E27FC236}">
                <a16:creationId xmlns:a16="http://schemas.microsoft.com/office/drawing/2014/main" id="{6DB12CFC-2248-40E1-9CD2-2D643D3383AF}"/>
              </a:ext>
            </a:extLst>
          </p:cNvPr>
          <p:cNvSpPr>
            <a:spLocks xmlns:a="http://schemas.openxmlformats.org/drawingml/2006/main" noGrp="1"/>
          </p:cNvSpPr>
          <p:nvPr/>
        </p:nvSpPr>
        <p:spPr>
          <a:xfrm xmlns:a="http://schemas.openxmlformats.org/drawingml/2006/main">
            <a:off x="6972300" y="2124075"/>
            <a:ext cx="42576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20252C"/>
                </a:solidFill>
                <a:latin typeface="Aptos"/>
                <a:ea typeface="Aptos"/>
                <a:cs typeface="Aptos"/>
              </a:defRPr>
            </a:pPr>
            <a:r>
              <a:rPr sz="1650" b="1">
                <a:solidFill>
                  <a:srgbClr val="20252C"/>
                </a:solidFill>
                <a:latin typeface="Aptos"/>
                <a:ea typeface="Aptos"/>
                <a:cs typeface="Aptos"/>
              </a:rPr>
              <a:t>de los viajes en transporte público convencional, según la nota municipal</a:t>
            </a:r>
          </a:p>
        </p:txBody>
      </p:sp>
      <p:sp>
        <p:nvSpPr>
          <p:cNvPr id="10" name="">
            <a:extLst xmlns:a="http://schemas.openxmlformats.org/drawingml/2006/main">
              <a:ext uri="{FF2B5EF4-FFF2-40B4-BE49-F238E27FC236}">
                <a16:creationId xmlns:a16="http://schemas.microsoft.com/office/drawing/2014/main" id="{5AE0B0EE-E4E7-4BE9-93AD-AF7E77D2EC2E}"/>
              </a:ext>
            </a:extLst>
          </p:cNvPr>
          <p:cNvSpPr>
            <a:spLocks xmlns:a="http://schemas.openxmlformats.org/drawingml/2006/main" noGrp="1"/>
          </p:cNvSpPr>
          <p:nvPr/>
        </p:nvSpPr>
        <p:spPr>
          <a:xfrm xmlns:a="http://schemas.openxmlformats.org/drawingml/2006/main">
            <a:off x="571500" y="3762375"/>
            <a:ext cx="1101090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11" name="">
            <a:extLst xmlns:a="http://schemas.openxmlformats.org/drawingml/2006/main">
              <a:ext uri="{FF2B5EF4-FFF2-40B4-BE49-F238E27FC236}">
                <a16:creationId xmlns:a16="http://schemas.microsoft.com/office/drawing/2014/main" id="{D4A5CB3E-9021-4E4A-8328-BBB748D8E53E}"/>
              </a:ext>
            </a:extLst>
          </p:cNvPr>
          <p:cNvSpPr>
            <a:spLocks xmlns:a="http://schemas.openxmlformats.org/drawingml/2006/main" noGrp="1"/>
          </p:cNvSpPr>
          <p:nvPr/>
        </p:nvSpPr>
        <p:spPr>
          <a:xfrm xmlns:a="http://schemas.openxmlformats.org/drawingml/2006/main">
            <a:off x="571500" y="4181475"/>
            <a:ext cx="107918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20252C"/>
                </a:solidFill>
                <a:latin typeface="Aptos"/>
                <a:ea typeface="Aptos"/>
                <a:cs typeface="Aptos"/>
              </a:defRPr>
            </a:pPr>
            <a:r>
              <a:rPr sz="1875" b="0">
                <a:solidFill>
                  <a:srgbClr val="20252C"/>
                </a:solidFill>
                <a:latin typeface="Aptos"/>
                <a:ea typeface="Aptos"/>
                <a:cs typeface="Aptos"/>
              </a:rPr>
              <a:t>El movimiento aumenta alrededor de las 07:00. Por eso una ruta debe evaluarse también por día y hora, no solo por su trazo en el mapa.</a:t>
            </a:r>
          </a:p>
        </p:txBody>
      </p:sp>
      <p:sp>
        <p:nvSpPr>
          <p:cNvPr id="12" name="">
            <a:extLst xmlns:a="http://schemas.openxmlformats.org/drawingml/2006/main">
              <a:ext uri="{FF2B5EF4-FFF2-40B4-BE49-F238E27FC236}">
                <a16:creationId xmlns:a16="http://schemas.microsoft.com/office/drawing/2014/main" id="{4CBDF271-935A-421B-9075-11429B2AEFDE}"/>
              </a:ext>
            </a:extLst>
          </p:cNvPr>
          <p:cNvSpPr>
            <a:spLocks xmlns:a="http://schemas.openxmlformats.org/drawingml/2006/main" noGrp="1"/>
          </p:cNvSpPr>
          <p:nvPr/>
        </p:nvSpPr>
        <p:spPr>
          <a:xfrm xmlns:a="http://schemas.openxmlformats.org/drawingml/2006/main">
            <a:off x="571500" y="6210300"/>
            <a:ext cx="11001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5B6572"/>
                </a:solidFill>
                <a:latin typeface="Aptos"/>
                <a:ea typeface="Aptos"/>
                <a:cs typeface="Aptos"/>
              </a:defRPr>
            </a:pPr>
            <a:r>
              <a:rPr sz="975" b="0">
                <a:solidFill>
                  <a:srgbClr val="5B6572"/>
                </a:solidFill>
                <a:latin typeface="Aptos"/>
                <a:ea typeface="Aptos"/>
                <a:cs typeface="Aptos"/>
              </a:rPr>
              <a:t>Referencia [4]: notas oficiales del MTC y de la Municipalidad sobre el diagnóstico PMUS.</a:t>
            </a:r>
          </a:p>
        </p:txBody>
      </p:sp>
    </p:spTree>
    <p:extLst>
      <p:ext uri="{BB962C8B-B14F-4D97-AF65-F5344CB8AC3E}">
        <p14:creationId xmlns:p14="http://schemas.microsoft.com/office/powerpoint/2010/main" val="12637655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9B6329D-1041-446D-8B69-2BC73BAC23AA}"/>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Los datos necesarios están separados</a:t>
            </a:r>
          </a:p>
        </p:txBody>
      </p:sp>
      <p:sp>
        <p:nvSpPr>
          <p:cNvPr id="2" name="">
            <a:extLst xmlns:a="http://schemas.openxmlformats.org/drawingml/2006/main">
              <a:ext uri="{FF2B5EF4-FFF2-40B4-BE49-F238E27FC236}">
                <a16:creationId xmlns:a16="http://schemas.microsoft.com/office/drawing/2014/main" id="{01B52271-B52F-4A63-8AD8-A535A88154DF}"/>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FF795BFD-C389-4867-AAB8-EBC57E3E491F}"/>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CE1EE5FD-DAB3-4F04-8EB9-DEC184251774}"/>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
            <a:extLst xmlns:a="http://schemas.openxmlformats.org/drawingml/2006/main">
              <a:ext uri="{FF2B5EF4-FFF2-40B4-BE49-F238E27FC236}">
                <a16:creationId xmlns:a16="http://schemas.microsoft.com/office/drawing/2014/main" id="{D6260369-F13C-468D-99B6-E2229EC0F68A}"/>
              </a:ext>
            </a:extLst>
          </p:cNvPr>
          <p:cNvSpPr>
            <a:spLocks xmlns:a="http://schemas.openxmlformats.org/drawingml/2006/main" noGrp="1"/>
          </p:cNvSpPr>
          <p:nvPr/>
        </p:nvSpPr>
        <p:spPr>
          <a:xfrm xmlns:a="http://schemas.openxmlformats.org/drawingml/2006/main">
            <a:off x="571500" y="1409700"/>
            <a:ext cx="31527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75CBA"/>
                </a:solidFill>
                <a:latin typeface="Aptos"/>
                <a:ea typeface="Aptos"/>
                <a:cs typeface="Aptos"/>
              </a:defRPr>
            </a:pPr>
            <a:r>
              <a:rPr sz="1800" b="1">
                <a:solidFill>
                  <a:srgbClr val="275CBA"/>
                </a:solidFill>
                <a:latin typeface="Aptos"/>
                <a:ea typeface="Aptos"/>
                <a:cs typeface="Aptos"/>
              </a:rPr>
              <a:t>Dónde viven</a:t>
            </a:r>
          </a:p>
        </p:txBody>
      </p:sp>
      <p:sp>
        <p:nvSpPr>
          <p:cNvPr id="6" name="">
            <a:extLst xmlns:a="http://schemas.openxmlformats.org/drawingml/2006/main">
              <a:ext uri="{FF2B5EF4-FFF2-40B4-BE49-F238E27FC236}">
                <a16:creationId xmlns:a16="http://schemas.microsoft.com/office/drawing/2014/main" id="{EE2C4193-7BBC-4FE1-B5E6-37ED692F44FB}"/>
              </a:ext>
            </a:extLst>
          </p:cNvPr>
          <p:cNvSpPr>
            <a:spLocks xmlns:a="http://schemas.openxmlformats.org/drawingml/2006/main" noGrp="1"/>
          </p:cNvSpPr>
          <p:nvPr/>
        </p:nvSpPr>
        <p:spPr>
          <a:xfrm xmlns:a="http://schemas.openxmlformats.org/drawingml/2006/main">
            <a:off x="3952875" y="1409700"/>
            <a:ext cx="701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20252C"/>
                </a:solidFill>
                <a:latin typeface="Aptos"/>
                <a:ea typeface="Aptos"/>
                <a:cs typeface="Aptos"/>
              </a:defRPr>
            </a:pPr>
            <a:r>
              <a:rPr sz="1800" b="0">
                <a:solidFill>
                  <a:srgbClr val="20252C"/>
                </a:solidFill>
                <a:latin typeface="Aptos"/>
                <a:ea typeface="Aptos"/>
                <a:cs typeface="Aptos"/>
              </a:rPr>
              <a:t>Censo por manzana</a:t>
            </a:r>
          </a:p>
        </p:txBody>
      </p:sp>
      <p:sp>
        <p:nvSpPr>
          <p:cNvPr id="7" name="">
            <a:extLst xmlns:a="http://schemas.openxmlformats.org/drawingml/2006/main">
              <a:ext uri="{FF2B5EF4-FFF2-40B4-BE49-F238E27FC236}">
                <a16:creationId xmlns:a16="http://schemas.microsoft.com/office/drawing/2014/main" id="{2B1749F0-1FC4-40C5-B093-2DF459A27DD1}"/>
              </a:ext>
            </a:extLst>
          </p:cNvPr>
          <p:cNvSpPr>
            <a:spLocks xmlns:a="http://schemas.openxmlformats.org/drawingml/2006/main" noGrp="1"/>
          </p:cNvSpPr>
          <p:nvPr/>
        </p:nvSpPr>
        <p:spPr>
          <a:xfrm xmlns:a="http://schemas.openxmlformats.org/drawingml/2006/main">
            <a:off x="571500" y="2143125"/>
            <a:ext cx="11010900" cy="0"/>
          </a:xfrm>
          <a:prstGeom xmlns:a="http://schemas.openxmlformats.org/drawingml/2006/main" prst="line">
            <a:avLst/>
          </a:prstGeom>
          <a:noFill xmlns:a="http://schemas.openxmlformats.org/drawingml/2006/main"/>
          <a:ln xmlns:a="http://schemas.openxmlformats.org/drawingml/2006/main" w="9525">
            <a:solidFill>
              <a:srgbClr val="DDE3EA"/>
            </a:solidFill>
            <a:prstDash val="solid"/>
          </a:ln>
        </p:spPr>
      </p:sp>
      <p:sp>
        <p:nvSpPr>
          <p:cNvPr id="8" name="">
            <a:extLst xmlns:a="http://schemas.openxmlformats.org/drawingml/2006/main">
              <a:ext uri="{FF2B5EF4-FFF2-40B4-BE49-F238E27FC236}">
                <a16:creationId xmlns:a16="http://schemas.microsoft.com/office/drawing/2014/main" id="{5C08263A-9CD0-4297-B168-74C7D3C1B728}"/>
              </a:ext>
            </a:extLst>
          </p:cNvPr>
          <p:cNvSpPr>
            <a:spLocks xmlns:a="http://schemas.openxmlformats.org/drawingml/2006/main" noGrp="1"/>
          </p:cNvSpPr>
          <p:nvPr/>
        </p:nvSpPr>
        <p:spPr>
          <a:xfrm xmlns:a="http://schemas.openxmlformats.org/drawingml/2006/main">
            <a:off x="571500" y="2505075"/>
            <a:ext cx="31527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75CBA"/>
                </a:solidFill>
                <a:latin typeface="Aptos"/>
                <a:ea typeface="Aptos"/>
                <a:cs typeface="Aptos"/>
              </a:defRPr>
            </a:pPr>
            <a:r>
              <a:rPr sz="1800" b="1">
                <a:solidFill>
                  <a:srgbClr val="275CBA"/>
                </a:solidFill>
                <a:latin typeface="Aptos"/>
                <a:ea typeface="Aptos"/>
                <a:cs typeface="Aptos"/>
              </a:rPr>
              <a:t>Dónde viajan</a:t>
            </a:r>
          </a:p>
        </p:txBody>
      </p:sp>
      <p:sp>
        <p:nvSpPr>
          <p:cNvPr id="9" name="">
            <a:extLst xmlns:a="http://schemas.openxmlformats.org/drawingml/2006/main">
              <a:ext uri="{FF2B5EF4-FFF2-40B4-BE49-F238E27FC236}">
                <a16:creationId xmlns:a16="http://schemas.microsoft.com/office/drawing/2014/main" id="{599A40D1-8802-4C35-AFC0-8631A4A7679D}"/>
              </a:ext>
            </a:extLst>
          </p:cNvPr>
          <p:cNvSpPr>
            <a:spLocks xmlns:a="http://schemas.openxmlformats.org/drawingml/2006/main" noGrp="1"/>
          </p:cNvSpPr>
          <p:nvPr/>
        </p:nvSpPr>
        <p:spPr>
          <a:xfrm xmlns:a="http://schemas.openxmlformats.org/drawingml/2006/main">
            <a:off x="3952875" y="2505075"/>
            <a:ext cx="701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20252C"/>
                </a:solidFill>
                <a:latin typeface="Aptos"/>
                <a:ea typeface="Aptos"/>
                <a:cs typeface="Aptos"/>
              </a:defRPr>
            </a:pPr>
            <a:r>
              <a:rPr sz="1800" b="0">
                <a:solidFill>
                  <a:srgbClr val="20252C"/>
                </a:solidFill>
                <a:latin typeface="Aptos"/>
                <a:ea typeface="Aptos"/>
                <a:cs typeface="Aptos"/>
              </a:rPr>
              <a:t>Mercados, colegios, salud y empleo</a:t>
            </a:r>
          </a:p>
        </p:txBody>
      </p:sp>
      <p:sp>
        <p:nvSpPr>
          <p:cNvPr id="10" name="">
            <a:extLst xmlns:a="http://schemas.openxmlformats.org/drawingml/2006/main">
              <a:ext uri="{FF2B5EF4-FFF2-40B4-BE49-F238E27FC236}">
                <a16:creationId xmlns:a16="http://schemas.microsoft.com/office/drawing/2014/main" id="{7B587ED8-229B-464B-AD82-D18AD1238948}"/>
              </a:ext>
            </a:extLst>
          </p:cNvPr>
          <p:cNvSpPr>
            <a:spLocks xmlns:a="http://schemas.openxmlformats.org/drawingml/2006/main" noGrp="1"/>
          </p:cNvSpPr>
          <p:nvPr/>
        </p:nvSpPr>
        <p:spPr>
          <a:xfrm xmlns:a="http://schemas.openxmlformats.org/drawingml/2006/main">
            <a:off x="571500" y="3238500"/>
            <a:ext cx="11010900" cy="0"/>
          </a:xfrm>
          <a:prstGeom xmlns:a="http://schemas.openxmlformats.org/drawingml/2006/main" prst="line">
            <a:avLst/>
          </a:prstGeom>
          <a:noFill xmlns:a="http://schemas.openxmlformats.org/drawingml/2006/main"/>
          <a:ln xmlns:a="http://schemas.openxmlformats.org/drawingml/2006/main" w="9525">
            <a:solidFill>
              <a:srgbClr val="DDE3EA"/>
            </a:solidFill>
            <a:prstDash val="solid"/>
          </a:ln>
        </p:spPr>
      </p:sp>
      <p:sp>
        <p:nvSpPr>
          <p:cNvPr id="11" name="">
            <a:extLst xmlns:a="http://schemas.openxmlformats.org/drawingml/2006/main">
              <a:ext uri="{FF2B5EF4-FFF2-40B4-BE49-F238E27FC236}">
                <a16:creationId xmlns:a16="http://schemas.microsoft.com/office/drawing/2014/main" id="{E1A14663-9E61-45DD-A81F-2265FBDE205E}"/>
              </a:ext>
            </a:extLst>
          </p:cNvPr>
          <p:cNvSpPr>
            <a:spLocks xmlns:a="http://schemas.openxmlformats.org/drawingml/2006/main" noGrp="1"/>
          </p:cNvSpPr>
          <p:nvPr/>
        </p:nvSpPr>
        <p:spPr>
          <a:xfrm xmlns:a="http://schemas.openxmlformats.org/drawingml/2006/main">
            <a:off x="571500" y="3600450"/>
            <a:ext cx="31527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75CBA"/>
                </a:solidFill>
                <a:latin typeface="Aptos"/>
                <a:ea typeface="Aptos"/>
                <a:cs typeface="Aptos"/>
              </a:defRPr>
            </a:pPr>
            <a:r>
              <a:rPr sz="1800" b="1">
                <a:solidFill>
                  <a:srgbClr val="275CBA"/>
                </a:solidFill>
                <a:latin typeface="Aptos"/>
                <a:ea typeface="Aptos"/>
                <a:cs typeface="Aptos"/>
              </a:rPr>
              <a:t>Cómo se mueven</a:t>
            </a:r>
          </a:p>
        </p:txBody>
      </p:sp>
      <p:sp>
        <p:nvSpPr>
          <p:cNvPr id="12" name="">
            <a:extLst xmlns:a="http://schemas.openxmlformats.org/drawingml/2006/main">
              <a:ext uri="{FF2B5EF4-FFF2-40B4-BE49-F238E27FC236}">
                <a16:creationId xmlns:a16="http://schemas.microsoft.com/office/drawing/2014/main" id="{EEE1D793-CC3A-41A6-8D60-01E9804B7696}"/>
              </a:ext>
            </a:extLst>
          </p:cNvPr>
          <p:cNvSpPr>
            <a:spLocks xmlns:a="http://schemas.openxmlformats.org/drawingml/2006/main" noGrp="1"/>
          </p:cNvSpPr>
          <p:nvPr/>
        </p:nvSpPr>
        <p:spPr>
          <a:xfrm xmlns:a="http://schemas.openxmlformats.org/drawingml/2006/main">
            <a:off x="3952875" y="3600450"/>
            <a:ext cx="701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20252C"/>
                </a:solidFill>
                <a:latin typeface="Aptos"/>
                <a:ea typeface="Aptos"/>
                <a:cs typeface="Aptos"/>
              </a:defRPr>
            </a:pPr>
            <a:r>
              <a:rPr sz="1800" b="0">
                <a:solidFill>
                  <a:srgbClr val="20252C"/>
                </a:solidFill>
                <a:latin typeface="Aptos"/>
                <a:ea typeface="Aptos"/>
                <a:cs typeface="Aptos"/>
              </a:rPr>
              <a:t>Rutas, paraderos, flota y frecuencia</a:t>
            </a:r>
          </a:p>
        </p:txBody>
      </p:sp>
      <p:sp>
        <p:nvSpPr>
          <p:cNvPr id="13" name="">
            <a:extLst xmlns:a="http://schemas.openxmlformats.org/drawingml/2006/main">
              <a:ext uri="{FF2B5EF4-FFF2-40B4-BE49-F238E27FC236}">
                <a16:creationId xmlns:a16="http://schemas.microsoft.com/office/drawing/2014/main" id="{13C9728E-E9C6-404D-9286-74C2D05C2662}"/>
              </a:ext>
            </a:extLst>
          </p:cNvPr>
          <p:cNvSpPr>
            <a:spLocks xmlns:a="http://schemas.openxmlformats.org/drawingml/2006/main" noGrp="1"/>
          </p:cNvSpPr>
          <p:nvPr/>
        </p:nvSpPr>
        <p:spPr>
          <a:xfrm xmlns:a="http://schemas.openxmlformats.org/drawingml/2006/main">
            <a:off x="571500" y="4333875"/>
            <a:ext cx="11010900" cy="0"/>
          </a:xfrm>
          <a:prstGeom xmlns:a="http://schemas.openxmlformats.org/drawingml/2006/main" prst="line">
            <a:avLst/>
          </a:prstGeom>
          <a:noFill xmlns:a="http://schemas.openxmlformats.org/drawingml/2006/main"/>
          <a:ln xmlns:a="http://schemas.openxmlformats.org/drawingml/2006/main" w="9525">
            <a:solidFill>
              <a:srgbClr val="DDE3EA"/>
            </a:solidFill>
            <a:prstDash val="solid"/>
          </a:ln>
        </p:spPr>
      </p:sp>
      <p:sp>
        <p:nvSpPr>
          <p:cNvPr id="14" name="">
            <a:extLst xmlns:a="http://schemas.openxmlformats.org/drawingml/2006/main">
              <a:ext uri="{FF2B5EF4-FFF2-40B4-BE49-F238E27FC236}">
                <a16:creationId xmlns:a16="http://schemas.microsoft.com/office/drawing/2014/main" id="{5C3C1BB0-403C-41C9-88C2-EBB8DEA8521A}"/>
              </a:ext>
            </a:extLst>
          </p:cNvPr>
          <p:cNvSpPr>
            <a:spLocks xmlns:a="http://schemas.openxmlformats.org/drawingml/2006/main" noGrp="1"/>
          </p:cNvSpPr>
          <p:nvPr/>
        </p:nvSpPr>
        <p:spPr>
          <a:xfrm xmlns:a="http://schemas.openxmlformats.org/drawingml/2006/main">
            <a:off x="571500" y="4695825"/>
            <a:ext cx="31527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75CBA"/>
                </a:solidFill>
                <a:latin typeface="Aptos"/>
                <a:ea typeface="Aptos"/>
                <a:cs typeface="Aptos"/>
              </a:defRPr>
            </a:pPr>
            <a:r>
              <a:rPr sz="1800" b="1">
                <a:solidFill>
                  <a:srgbClr val="275CBA"/>
                </a:solidFill>
                <a:latin typeface="Aptos"/>
                <a:ea typeface="Aptos"/>
                <a:cs typeface="Aptos"/>
              </a:rPr>
              <a:t>Qué pasa en la calle</a:t>
            </a:r>
          </a:p>
        </p:txBody>
      </p:sp>
      <p:sp>
        <p:nvSpPr>
          <p:cNvPr id="15" name="">
            <a:extLst xmlns:a="http://schemas.openxmlformats.org/drawingml/2006/main">
              <a:ext uri="{FF2B5EF4-FFF2-40B4-BE49-F238E27FC236}">
                <a16:creationId xmlns:a16="http://schemas.microsoft.com/office/drawing/2014/main" id="{FA642131-8396-4807-867F-A983468CD285}"/>
              </a:ext>
            </a:extLst>
          </p:cNvPr>
          <p:cNvSpPr>
            <a:spLocks xmlns:a="http://schemas.openxmlformats.org/drawingml/2006/main" noGrp="1"/>
          </p:cNvSpPr>
          <p:nvPr/>
        </p:nvSpPr>
        <p:spPr>
          <a:xfrm xmlns:a="http://schemas.openxmlformats.org/drawingml/2006/main">
            <a:off x="3952875" y="4695825"/>
            <a:ext cx="701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20252C"/>
                </a:solidFill>
                <a:latin typeface="Aptos"/>
                <a:ea typeface="Aptos"/>
                <a:cs typeface="Aptos"/>
              </a:defRPr>
            </a:pPr>
            <a:r>
              <a:rPr sz="1800" b="0">
                <a:solidFill>
                  <a:srgbClr val="20252C"/>
                </a:solidFill>
                <a:latin typeface="Aptos"/>
                <a:ea typeface="Aptos"/>
                <a:cs typeface="Aptos"/>
              </a:rPr>
              <a:t>Congestión, ferias, obras y semáforos</a:t>
            </a:r>
          </a:p>
        </p:txBody>
      </p:sp>
      <p:sp>
        <p:nvSpPr>
          <p:cNvPr id="16" name="">
            <a:extLst xmlns:a="http://schemas.openxmlformats.org/drawingml/2006/main">
              <a:ext uri="{FF2B5EF4-FFF2-40B4-BE49-F238E27FC236}">
                <a16:creationId xmlns:a16="http://schemas.microsoft.com/office/drawing/2014/main" id="{44EF66BD-0DE0-45C2-A256-6F4664122EF4}"/>
              </a:ext>
            </a:extLst>
          </p:cNvPr>
          <p:cNvSpPr>
            <a:spLocks xmlns:a="http://schemas.openxmlformats.org/drawingml/2006/main" noGrp="1"/>
          </p:cNvSpPr>
          <p:nvPr/>
        </p:nvSpPr>
        <p:spPr>
          <a:xfrm xmlns:a="http://schemas.openxmlformats.org/drawingml/2006/main">
            <a:off x="571500" y="5838825"/>
            <a:ext cx="10906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A9373D"/>
                </a:solidFill>
                <a:latin typeface="Aptos"/>
                <a:ea typeface="Aptos"/>
                <a:cs typeface="Aptos"/>
              </a:defRPr>
            </a:pPr>
            <a:r>
              <a:rPr sz="1500" b="1">
                <a:solidFill>
                  <a:srgbClr val="A9373D"/>
                </a:solidFill>
                <a:latin typeface="Aptos"/>
                <a:ea typeface="Aptos"/>
                <a:cs typeface="Aptos"/>
              </a:rPr>
              <a:t>Puriy propone reunirlos con fuente y nivel de verificación antes de recomendar un cambio.</a:t>
            </a:r>
          </a:p>
        </p:txBody>
      </p:sp>
    </p:spTree>
    <p:extLst>
      <p:ext uri="{BB962C8B-B14F-4D97-AF65-F5344CB8AC3E}">
        <p14:creationId xmlns:p14="http://schemas.microsoft.com/office/powerpoint/2010/main" val="36436737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7935F09-1F38-4D7A-8008-465F3A34590E}"/>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La pregunta que guía Puriy</a:t>
            </a:r>
          </a:p>
        </p:txBody>
      </p:sp>
      <p:sp>
        <p:nvSpPr>
          <p:cNvPr id="2" name="">
            <a:extLst xmlns:a="http://schemas.openxmlformats.org/drawingml/2006/main">
              <a:ext uri="{FF2B5EF4-FFF2-40B4-BE49-F238E27FC236}">
                <a16:creationId xmlns:a16="http://schemas.microsoft.com/office/drawing/2014/main" id="{0EF57248-8C44-46A1-A2EA-AE45D7AE6321}"/>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89876092-0231-494F-9B10-50C02072045A}"/>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492DBFBD-C4DC-458C-A52B-A69D4537E274}"/>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
            <a:extLst xmlns:a="http://schemas.openxmlformats.org/drawingml/2006/main">
              <a:ext uri="{FF2B5EF4-FFF2-40B4-BE49-F238E27FC236}">
                <a16:creationId xmlns:a16="http://schemas.microsoft.com/office/drawing/2014/main" id="{24252E6B-C524-42B3-8590-45D6606893F1}"/>
              </a:ext>
            </a:extLst>
          </p:cNvPr>
          <p:cNvSpPr>
            <a:spLocks xmlns:a="http://schemas.openxmlformats.org/drawingml/2006/main" noGrp="1"/>
          </p:cNvSpPr>
          <p:nvPr/>
        </p:nvSpPr>
        <p:spPr>
          <a:xfrm xmlns:a="http://schemas.openxmlformats.org/drawingml/2006/main">
            <a:off x="571500" y="1533525"/>
            <a:ext cx="107632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20252C"/>
                </a:solidFill>
                <a:latin typeface="Aptos"/>
                <a:ea typeface="Aptos"/>
                <a:cs typeface="Aptos"/>
              </a:defRPr>
            </a:pPr>
            <a:r>
              <a:rPr sz="2550" b="1">
                <a:solidFill>
                  <a:srgbClr val="20252C"/>
                </a:solidFill>
                <a:latin typeface="Aptos"/>
                <a:ea typeface="Aptos"/>
                <a:cs typeface="Aptos"/>
              </a:rPr>
              <a:t>¿Cómo diseñar y evaluar rutas que acerquen a las personas a sus destinos sin exigir una flota imposible de operar?</a:t>
            </a:r>
          </a:p>
        </p:txBody>
      </p:sp>
      <p:sp>
        <p:nvSpPr>
          <p:cNvPr id="6" name="">
            <a:extLst xmlns:a="http://schemas.openxmlformats.org/drawingml/2006/main">
              <a:ext uri="{FF2B5EF4-FFF2-40B4-BE49-F238E27FC236}">
                <a16:creationId xmlns:a16="http://schemas.microsoft.com/office/drawing/2014/main" id="{9F4DFF26-D1F1-4FCE-A66C-7E6095A08746}"/>
              </a:ext>
            </a:extLst>
          </p:cNvPr>
          <p:cNvSpPr>
            <a:spLocks xmlns:a="http://schemas.openxmlformats.org/drawingml/2006/main" noGrp="1"/>
          </p:cNvSpPr>
          <p:nvPr/>
        </p:nvSpPr>
        <p:spPr>
          <a:xfrm xmlns:a="http://schemas.openxmlformats.org/drawingml/2006/main">
            <a:off x="571500" y="3295650"/>
            <a:ext cx="1101090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7" name="">
            <a:extLst xmlns:a="http://schemas.openxmlformats.org/drawingml/2006/main">
              <a:ext uri="{FF2B5EF4-FFF2-40B4-BE49-F238E27FC236}">
                <a16:creationId xmlns:a16="http://schemas.microsoft.com/office/drawing/2014/main" id="{B340B2F9-537C-472C-9871-E3BB74C0DAB7}"/>
              </a:ext>
            </a:extLst>
          </p:cNvPr>
          <p:cNvSpPr>
            <a:spLocks xmlns:a="http://schemas.openxmlformats.org/drawingml/2006/main" noGrp="1"/>
          </p:cNvSpPr>
          <p:nvPr/>
        </p:nvSpPr>
        <p:spPr>
          <a:xfrm xmlns:a="http://schemas.openxmlformats.org/drawingml/2006/main">
            <a:off x="571500" y="3638550"/>
            <a:ext cx="24098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75CBA"/>
                </a:solidFill>
                <a:latin typeface="Aptos"/>
                <a:ea typeface="Aptos"/>
                <a:cs typeface="Aptos"/>
              </a:defRPr>
            </a:pPr>
            <a:r>
              <a:rPr sz="1125" b="1">
                <a:solidFill>
                  <a:srgbClr val="275CBA"/>
                </a:solidFill>
                <a:latin typeface="Aptos"/>
                <a:ea typeface="Aptos"/>
                <a:cs typeface="Aptos"/>
              </a:rPr>
              <a:t>OBJETIVO</a:t>
            </a:r>
          </a:p>
        </p:txBody>
      </p:sp>
      <p:sp>
        <p:nvSpPr>
          <p:cNvPr id="8" name="">
            <a:extLst xmlns:a="http://schemas.openxmlformats.org/drawingml/2006/main">
              <a:ext uri="{FF2B5EF4-FFF2-40B4-BE49-F238E27FC236}">
                <a16:creationId xmlns:a16="http://schemas.microsoft.com/office/drawing/2014/main" id="{4CC0744C-87F3-4585-8787-9C3949C8DBD0}"/>
              </a:ext>
            </a:extLst>
          </p:cNvPr>
          <p:cNvSpPr>
            <a:spLocks xmlns:a="http://schemas.openxmlformats.org/drawingml/2006/main" noGrp="1"/>
          </p:cNvSpPr>
          <p:nvPr/>
        </p:nvSpPr>
        <p:spPr>
          <a:xfrm xmlns:a="http://schemas.openxmlformats.org/drawingml/2006/main">
            <a:off x="571500" y="4038600"/>
            <a:ext cx="10925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275CBA"/>
                </a:solidFill>
                <a:latin typeface="Aptos"/>
                <a:ea typeface="Aptos"/>
                <a:cs typeface="Aptos"/>
              </a:defRPr>
            </a:pPr>
            <a:r>
              <a:rPr sz="2025" b="1">
                <a:solidFill>
                  <a:srgbClr val="275CBA"/>
                </a:solidFill>
                <a:latin typeface="Aptos"/>
                <a:ea typeface="Aptos"/>
                <a:cs typeface="Aptos"/>
              </a:rPr>
              <a:t>Comparar el recorrido actual con una alternativa usando acceso, tiempo de viaje, frecuencia, capacidad y costo.</a:t>
            </a:r>
          </a:p>
        </p:txBody>
      </p:sp>
      <p:sp>
        <p:nvSpPr>
          <p:cNvPr id="9" name="">
            <a:extLst xmlns:a="http://schemas.openxmlformats.org/drawingml/2006/main">
              <a:ext uri="{FF2B5EF4-FFF2-40B4-BE49-F238E27FC236}">
                <a16:creationId xmlns:a16="http://schemas.microsoft.com/office/drawing/2014/main" id="{CCAB3CFD-C3FE-481A-BFBF-F3CAD0BCCFD5}"/>
              </a:ext>
            </a:extLst>
          </p:cNvPr>
          <p:cNvSpPr>
            <a:spLocks xmlns:a="http://schemas.openxmlformats.org/drawingml/2006/main" noGrp="1"/>
          </p:cNvSpPr>
          <p:nvPr/>
        </p:nvSpPr>
        <p:spPr>
          <a:xfrm xmlns:a="http://schemas.openxmlformats.org/drawingml/2006/main">
            <a:off x="571500" y="5381625"/>
            <a:ext cx="108870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0252C"/>
                </a:solidFill>
                <a:latin typeface="Aptos"/>
                <a:ea typeface="Aptos"/>
                <a:cs typeface="Aptos"/>
              </a:defRPr>
            </a:pPr>
            <a:r>
              <a:rPr sz="1650" b="0">
                <a:solidFill>
                  <a:srgbClr val="20252C"/>
                </a:solidFill>
                <a:latin typeface="Aptos"/>
                <a:ea typeface="Aptos"/>
                <a:cs typeface="Aptos"/>
              </a:rPr>
              <a:t>La propuesta termina en una prueba medible con pasajeros, transportistas y municipalidad.</a:t>
            </a:r>
          </a:p>
        </p:txBody>
      </p:sp>
    </p:spTree>
    <p:extLst>
      <p:ext uri="{BB962C8B-B14F-4D97-AF65-F5344CB8AC3E}">
        <p14:creationId xmlns:p14="http://schemas.microsoft.com/office/powerpoint/2010/main" val="1779401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99E0B83-4347-4B5B-BBA5-486656735A24}"/>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Qué aporta cada fuente</a:t>
            </a:r>
          </a:p>
        </p:txBody>
      </p:sp>
      <p:sp>
        <p:nvSpPr>
          <p:cNvPr id="2" name="">
            <a:extLst xmlns:a="http://schemas.openxmlformats.org/drawingml/2006/main">
              <a:ext uri="{FF2B5EF4-FFF2-40B4-BE49-F238E27FC236}">
                <a16:creationId xmlns:a16="http://schemas.microsoft.com/office/drawing/2014/main" id="{B0169631-9AE7-4E1B-AC6A-1DCC13611217}"/>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37E16A28-574E-44E2-9956-F09E719DCD86}"/>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99331806-C1DC-4E68-AC67-C95103604E99}"/>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
            <a:extLst xmlns:a="http://schemas.openxmlformats.org/drawingml/2006/main">
              <a:ext uri="{FF2B5EF4-FFF2-40B4-BE49-F238E27FC236}">
                <a16:creationId xmlns:a16="http://schemas.microsoft.com/office/drawing/2014/main" id="{6E58F642-39B2-4DC5-A9BD-9D37CEB9D275}"/>
              </a:ext>
            </a:extLst>
          </p:cNvPr>
          <p:cNvSpPr>
            <a:spLocks xmlns:a="http://schemas.openxmlformats.org/drawingml/2006/main" noGrp="1"/>
          </p:cNvSpPr>
          <p:nvPr/>
        </p:nvSpPr>
        <p:spPr>
          <a:xfrm xmlns:a="http://schemas.openxmlformats.org/drawingml/2006/main">
            <a:off x="571500" y="13811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275CBA"/>
                </a:solidFill>
                <a:latin typeface="Aptos"/>
                <a:ea typeface="Aptos"/>
                <a:cs typeface="Aptos"/>
              </a:defRPr>
            </a:pPr>
            <a:r>
              <a:rPr sz="1875" b="1">
                <a:solidFill>
                  <a:srgbClr val="275CBA"/>
                </a:solidFill>
                <a:latin typeface="Aptos"/>
                <a:ea typeface="Aptos"/>
                <a:cs typeface="Aptos"/>
              </a:rPr>
              <a:t>Censo y cartografía INEI</a:t>
            </a:r>
          </a:p>
        </p:txBody>
      </p:sp>
      <p:sp>
        <p:nvSpPr>
          <p:cNvPr id="6" name="">
            <a:extLst xmlns:a="http://schemas.openxmlformats.org/drawingml/2006/main">
              <a:ext uri="{FF2B5EF4-FFF2-40B4-BE49-F238E27FC236}">
                <a16:creationId xmlns:a16="http://schemas.microsoft.com/office/drawing/2014/main" id="{11DEA435-DBAF-442C-8C8A-CAFF71F06E62}"/>
              </a:ext>
            </a:extLst>
          </p:cNvPr>
          <p:cNvSpPr>
            <a:spLocks xmlns:a="http://schemas.openxmlformats.org/drawingml/2006/main" noGrp="1"/>
          </p:cNvSpPr>
          <p:nvPr/>
        </p:nvSpPr>
        <p:spPr>
          <a:xfrm xmlns:a="http://schemas.openxmlformats.org/drawingml/2006/main">
            <a:off x="571500" y="1838325"/>
            <a:ext cx="10382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0252C"/>
                </a:solidFill>
                <a:latin typeface="Aptos"/>
                <a:ea typeface="Aptos"/>
                <a:cs typeface="Aptos"/>
              </a:defRPr>
            </a:pPr>
            <a:r>
              <a:rPr sz="1650" b="0">
                <a:solidFill>
                  <a:srgbClr val="20252C"/>
                </a:solidFill>
                <a:latin typeface="Aptos"/>
                <a:ea typeface="Aptos"/>
                <a:cs typeface="Aptos"/>
              </a:rPr>
              <a:t>Ubican viviendas y habitantes por manzana. Sirven para estudiar cobertura residencial.</a:t>
            </a:r>
          </a:p>
        </p:txBody>
      </p:sp>
      <p:sp>
        <p:nvSpPr>
          <p:cNvPr id="7" name="">
            <a:extLst xmlns:a="http://schemas.openxmlformats.org/drawingml/2006/main">
              <a:ext uri="{FF2B5EF4-FFF2-40B4-BE49-F238E27FC236}">
                <a16:creationId xmlns:a16="http://schemas.microsoft.com/office/drawing/2014/main" id="{4EC76DE9-C6F1-4294-8006-1134B5B39866}"/>
              </a:ext>
            </a:extLst>
          </p:cNvPr>
          <p:cNvSpPr>
            <a:spLocks xmlns:a="http://schemas.openxmlformats.org/drawingml/2006/main" noGrp="1"/>
          </p:cNvSpPr>
          <p:nvPr/>
        </p:nvSpPr>
        <p:spPr>
          <a:xfrm xmlns:a="http://schemas.openxmlformats.org/drawingml/2006/main">
            <a:off x="11001375" y="14954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5B6572"/>
                </a:solidFill>
                <a:latin typeface="Aptos"/>
                <a:ea typeface="Aptos"/>
                <a:cs typeface="Aptos"/>
              </a:defRPr>
            </a:pPr>
            <a:r>
              <a:rPr sz="1125" b="0">
                <a:solidFill>
                  <a:srgbClr val="5B6572"/>
                </a:solidFill>
                <a:latin typeface="Aptos"/>
                <a:ea typeface="Aptos"/>
                <a:cs typeface="Aptos"/>
              </a:rPr>
              <a:t>[2]</a:t>
            </a:r>
          </a:p>
        </p:txBody>
      </p:sp>
      <p:sp>
        <p:nvSpPr>
          <p:cNvPr id="8" name="">
            <a:extLst xmlns:a="http://schemas.openxmlformats.org/drawingml/2006/main">
              <a:ext uri="{FF2B5EF4-FFF2-40B4-BE49-F238E27FC236}">
                <a16:creationId xmlns:a16="http://schemas.microsoft.com/office/drawing/2014/main" id="{786BF73C-4D38-4898-8361-693FA588EC05}"/>
              </a:ext>
            </a:extLst>
          </p:cNvPr>
          <p:cNvSpPr>
            <a:spLocks xmlns:a="http://schemas.openxmlformats.org/drawingml/2006/main" noGrp="1"/>
          </p:cNvSpPr>
          <p:nvPr/>
        </p:nvSpPr>
        <p:spPr>
          <a:xfrm xmlns:a="http://schemas.openxmlformats.org/drawingml/2006/main">
            <a:off x="571500" y="2705100"/>
            <a:ext cx="11010900" cy="0"/>
          </a:xfrm>
          <a:prstGeom xmlns:a="http://schemas.openxmlformats.org/drawingml/2006/main" prst="line">
            <a:avLst/>
          </a:prstGeom>
          <a:noFill xmlns:a="http://schemas.openxmlformats.org/drawingml/2006/main"/>
          <a:ln xmlns:a="http://schemas.openxmlformats.org/drawingml/2006/main" w="9525">
            <a:solidFill>
              <a:srgbClr val="DDE3EA"/>
            </a:solidFill>
            <a:prstDash val="solid"/>
          </a:ln>
        </p:spPr>
      </p:sp>
      <p:sp>
        <p:nvSpPr>
          <p:cNvPr id="9" name="">
            <a:extLst xmlns:a="http://schemas.openxmlformats.org/drawingml/2006/main">
              <a:ext uri="{FF2B5EF4-FFF2-40B4-BE49-F238E27FC236}">
                <a16:creationId xmlns:a16="http://schemas.microsoft.com/office/drawing/2014/main" id="{455A2378-C717-4F3F-899C-F2D8D681BEF6}"/>
              </a:ext>
            </a:extLst>
          </p:cNvPr>
          <p:cNvSpPr>
            <a:spLocks xmlns:a="http://schemas.openxmlformats.org/drawingml/2006/main" noGrp="1"/>
          </p:cNvSpPr>
          <p:nvPr/>
        </p:nvSpPr>
        <p:spPr>
          <a:xfrm xmlns:a="http://schemas.openxmlformats.org/drawingml/2006/main">
            <a:off x="571500" y="292417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275CBA"/>
                </a:solidFill>
                <a:latin typeface="Aptos"/>
                <a:ea typeface="Aptos"/>
                <a:cs typeface="Aptos"/>
              </a:defRPr>
            </a:pPr>
            <a:r>
              <a:rPr sz="1875" b="1">
                <a:solidFill>
                  <a:srgbClr val="275CBA"/>
                </a:solidFill>
                <a:latin typeface="Aptos"/>
                <a:ea typeface="Aptos"/>
                <a:cs typeface="Aptos"/>
              </a:rPr>
              <a:t>Diagnóstico PDU</a:t>
            </a:r>
          </a:p>
        </p:txBody>
      </p:sp>
      <p:sp>
        <p:nvSpPr>
          <p:cNvPr id="10" name="">
            <a:extLst xmlns:a="http://schemas.openxmlformats.org/drawingml/2006/main">
              <a:ext uri="{FF2B5EF4-FFF2-40B4-BE49-F238E27FC236}">
                <a16:creationId xmlns:a16="http://schemas.microsoft.com/office/drawing/2014/main" id="{F4343CBE-E26C-4A0C-B8B3-948552469ADB}"/>
              </a:ext>
            </a:extLst>
          </p:cNvPr>
          <p:cNvSpPr>
            <a:spLocks xmlns:a="http://schemas.openxmlformats.org/drawingml/2006/main" noGrp="1"/>
          </p:cNvSpPr>
          <p:nvPr/>
        </p:nvSpPr>
        <p:spPr>
          <a:xfrm xmlns:a="http://schemas.openxmlformats.org/drawingml/2006/main">
            <a:off x="571500" y="3381375"/>
            <a:ext cx="10382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0252C"/>
                </a:solidFill>
                <a:latin typeface="Aptos"/>
                <a:ea typeface="Aptos"/>
                <a:cs typeface="Aptos"/>
              </a:defRPr>
            </a:pPr>
            <a:r>
              <a:rPr sz="1650" b="0">
                <a:solidFill>
                  <a:srgbClr val="20252C"/>
                </a:solidFill>
                <a:latin typeface="Aptos"/>
                <a:ea typeface="Aptos"/>
                <a:cs typeface="Aptos"/>
              </a:rPr>
              <a:t>Describe líneas, flota, vías y destinos. Es el punto de partida para verificar la red.</a:t>
            </a:r>
          </a:p>
        </p:txBody>
      </p:sp>
      <p:sp>
        <p:nvSpPr>
          <p:cNvPr id="11" name="">
            <a:extLst xmlns:a="http://schemas.openxmlformats.org/drawingml/2006/main">
              <a:ext uri="{FF2B5EF4-FFF2-40B4-BE49-F238E27FC236}">
                <a16:creationId xmlns:a16="http://schemas.microsoft.com/office/drawing/2014/main" id="{5969FF68-95FD-4265-9BA3-D16108279E66}"/>
              </a:ext>
            </a:extLst>
          </p:cNvPr>
          <p:cNvSpPr>
            <a:spLocks xmlns:a="http://schemas.openxmlformats.org/drawingml/2006/main" noGrp="1"/>
          </p:cNvSpPr>
          <p:nvPr/>
        </p:nvSpPr>
        <p:spPr>
          <a:xfrm xmlns:a="http://schemas.openxmlformats.org/drawingml/2006/main">
            <a:off x="11001375" y="30384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5B6572"/>
                </a:solidFill>
                <a:latin typeface="Aptos"/>
                <a:ea typeface="Aptos"/>
                <a:cs typeface="Aptos"/>
              </a:defRPr>
            </a:pPr>
            <a:r>
              <a:rPr sz="1125" b="0">
                <a:solidFill>
                  <a:srgbClr val="5B6572"/>
                </a:solidFill>
                <a:latin typeface="Aptos"/>
                <a:ea typeface="Aptos"/>
                <a:cs typeface="Aptos"/>
              </a:rPr>
              <a:t>[3]</a:t>
            </a:r>
          </a:p>
        </p:txBody>
      </p:sp>
      <p:sp>
        <p:nvSpPr>
          <p:cNvPr id="12" name="">
            <a:extLst xmlns:a="http://schemas.openxmlformats.org/drawingml/2006/main">
              <a:ext uri="{FF2B5EF4-FFF2-40B4-BE49-F238E27FC236}">
                <a16:creationId xmlns:a16="http://schemas.microsoft.com/office/drawing/2014/main" id="{78775EBA-6803-4948-9CF9-E773A0ACAC03}"/>
              </a:ext>
            </a:extLst>
          </p:cNvPr>
          <p:cNvSpPr>
            <a:spLocks xmlns:a="http://schemas.openxmlformats.org/drawingml/2006/main" noGrp="1"/>
          </p:cNvSpPr>
          <p:nvPr/>
        </p:nvSpPr>
        <p:spPr>
          <a:xfrm xmlns:a="http://schemas.openxmlformats.org/drawingml/2006/main">
            <a:off x="571500" y="4248150"/>
            <a:ext cx="11010900" cy="0"/>
          </a:xfrm>
          <a:prstGeom xmlns:a="http://schemas.openxmlformats.org/drawingml/2006/main" prst="line">
            <a:avLst/>
          </a:prstGeom>
          <a:noFill xmlns:a="http://schemas.openxmlformats.org/drawingml/2006/main"/>
          <a:ln xmlns:a="http://schemas.openxmlformats.org/drawingml/2006/main" w="9525">
            <a:solidFill>
              <a:srgbClr val="DDE3EA"/>
            </a:solidFill>
            <a:prstDash val="solid"/>
          </a:ln>
        </p:spPr>
      </p:sp>
      <p:sp>
        <p:nvSpPr>
          <p:cNvPr id="13" name="">
            <a:extLst xmlns:a="http://schemas.openxmlformats.org/drawingml/2006/main">
              <a:ext uri="{FF2B5EF4-FFF2-40B4-BE49-F238E27FC236}">
                <a16:creationId xmlns:a16="http://schemas.microsoft.com/office/drawing/2014/main" id="{D63BC289-7248-451F-8237-8E1BA536DF34}"/>
              </a:ext>
            </a:extLst>
          </p:cNvPr>
          <p:cNvSpPr>
            <a:spLocks xmlns:a="http://schemas.openxmlformats.org/drawingml/2006/main" noGrp="1"/>
          </p:cNvSpPr>
          <p:nvPr/>
        </p:nvSpPr>
        <p:spPr>
          <a:xfrm xmlns:a="http://schemas.openxmlformats.org/drawingml/2006/main">
            <a:off x="571500" y="44672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275CBA"/>
                </a:solidFill>
                <a:latin typeface="Aptos"/>
                <a:ea typeface="Aptos"/>
                <a:cs typeface="Aptos"/>
              </a:defRPr>
            </a:pPr>
            <a:r>
              <a:rPr sz="1875" b="1">
                <a:solidFill>
                  <a:srgbClr val="275CBA"/>
                </a:solidFill>
                <a:latin typeface="Aptos"/>
                <a:ea typeface="Aptos"/>
                <a:cs typeface="Aptos"/>
              </a:rPr>
              <a:t>Diagnóstico PMUS</a:t>
            </a:r>
          </a:p>
        </p:txBody>
      </p:sp>
      <p:sp>
        <p:nvSpPr>
          <p:cNvPr id="14" name="">
            <a:extLst xmlns:a="http://schemas.openxmlformats.org/drawingml/2006/main">
              <a:ext uri="{FF2B5EF4-FFF2-40B4-BE49-F238E27FC236}">
                <a16:creationId xmlns:a16="http://schemas.microsoft.com/office/drawing/2014/main" id="{7A20FDEF-073C-4059-AFA1-D27661A1997C}"/>
              </a:ext>
            </a:extLst>
          </p:cNvPr>
          <p:cNvSpPr>
            <a:spLocks xmlns:a="http://schemas.openxmlformats.org/drawingml/2006/main" noGrp="1"/>
          </p:cNvSpPr>
          <p:nvPr/>
        </p:nvSpPr>
        <p:spPr>
          <a:xfrm xmlns:a="http://schemas.openxmlformats.org/drawingml/2006/main">
            <a:off x="571500" y="4924425"/>
            <a:ext cx="10382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0252C"/>
                </a:solidFill>
                <a:latin typeface="Aptos"/>
                <a:ea typeface="Aptos"/>
                <a:cs typeface="Aptos"/>
              </a:defRPr>
            </a:pPr>
            <a:r>
              <a:rPr sz="1650" b="0">
                <a:solidFill>
                  <a:srgbClr val="20252C"/>
                </a:solidFill>
                <a:latin typeface="Aptos"/>
                <a:ea typeface="Aptos"/>
                <a:cs typeface="Aptos"/>
              </a:rPr>
              <a:t>Muestra el tamaño y los motivos de los viajes a escala de Juliaca, San Miguel y Caracoto.</a:t>
            </a:r>
          </a:p>
        </p:txBody>
      </p:sp>
      <p:sp>
        <p:nvSpPr>
          <p:cNvPr id="15" name="">
            <a:extLst xmlns:a="http://schemas.openxmlformats.org/drawingml/2006/main">
              <a:ext uri="{FF2B5EF4-FFF2-40B4-BE49-F238E27FC236}">
                <a16:creationId xmlns:a16="http://schemas.microsoft.com/office/drawing/2014/main" id="{D28C0422-2184-4DAB-8F62-ACD69F5C1E64}"/>
              </a:ext>
            </a:extLst>
          </p:cNvPr>
          <p:cNvSpPr>
            <a:spLocks xmlns:a="http://schemas.openxmlformats.org/drawingml/2006/main" noGrp="1"/>
          </p:cNvSpPr>
          <p:nvPr/>
        </p:nvSpPr>
        <p:spPr>
          <a:xfrm xmlns:a="http://schemas.openxmlformats.org/drawingml/2006/main">
            <a:off x="11001375" y="45815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0">
                <a:solidFill>
                  <a:srgbClr val="5B6572"/>
                </a:solidFill>
                <a:latin typeface="Aptos"/>
                <a:ea typeface="Aptos"/>
                <a:cs typeface="Aptos"/>
              </a:defRPr>
            </a:pPr>
            <a:r>
              <a:rPr sz="1125" b="0">
                <a:solidFill>
                  <a:srgbClr val="5B6572"/>
                </a:solidFill>
                <a:latin typeface="Aptos"/>
                <a:ea typeface="Aptos"/>
                <a:cs typeface="Aptos"/>
              </a:rPr>
              <a:t>[4]</a:t>
            </a:r>
          </a:p>
        </p:txBody>
      </p:sp>
    </p:spTree>
    <p:extLst>
      <p:ext uri="{BB962C8B-B14F-4D97-AF65-F5344CB8AC3E}">
        <p14:creationId xmlns:p14="http://schemas.microsoft.com/office/powerpoint/2010/main" val="16931161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0E8B55E-8855-4671-A41A-9B851A4AA2C5}"/>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Qué nos muestra el mapa de manzanas</a:t>
            </a:r>
          </a:p>
        </p:txBody>
      </p:sp>
      <p:sp>
        <p:nvSpPr>
          <p:cNvPr id="2" name="">
            <a:extLst xmlns:a="http://schemas.openxmlformats.org/drawingml/2006/main">
              <a:ext uri="{FF2B5EF4-FFF2-40B4-BE49-F238E27FC236}">
                <a16:creationId xmlns:a16="http://schemas.microsoft.com/office/drawing/2014/main" id="{BE453D0B-8E19-4E93-BB98-FD9409DB58BE}"/>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D376E090-84BD-4D12-9BCC-6EDDE0CCDA31}"/>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682C0F72-E026-48AC-97EB-124F6546869F}"/>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d751edcdf3b4596"/>
          <a:srcRect xmlns:a="http://schemas.openxmlformats.org/drawingml/2006/main" l="0" t="10788" r="0" b="10788"/>
          <a:stretch xmlns:a="http://schemas.openxmlformats.org/drawingml/2006/main">
            <a:fillRect l="0" t="0" r="0" b="0"/>
          </a:stretch>
        </p:blipFill>
        <p:spPr>
          <a:xfrm xmlns:a="http://schemas.openxmlformats.org/drawingml/2006/main">
            <a:off x="571500" y="1362075"/>
            <a:ext cx="6858000" cy="4143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9FBDFDB-4DB6-4A3D-8DAE-E8DE27080C10}"/>
              </a:ext>
            </a:extLst>
          </p:cNvPr>
          <p:cNvSpPr>
            <a:spLocks xmlns:a="http://schemas.openxmlformats.org/drawingml/2006/main" noGrp="1"/>
          </p:cNvSpPr>
          <p:nvPr/>
        </p:nvSpPr>
        <p:spPr>
          <a:xfrm xmlns:a="http://schemas.openxmlformats.org/drawingml/2006/main">
            <a:off x="7791450" y="1457325"/>
            <a:ext cx="3457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275CBA"/>
                </a:solidFill>
                <a:latin typeface="Aptos"/>
                <a:ea typeface="Aptos"/>
                <a:cs typeface="Aptos"/>
              </a:defRPr>
            </a:pPr>
            <a:r>
              <a:rPr sz="3150" b="1">
                <a:solidFill>
                  <a:srgbClr val="275CBA"/>
                </a:solidFill>
                <a:latin typeface="Aptos"/>
                <a:ea typeface="Aptos"/>
                <a:cs typeface="Aptos"/>
              </a:rPr>
              <a:t>5.204</a:t>
            </a:r>
          </a:p>
        </p:txBody>
      </p:sp>
      <p:sp>
        <p:nvSpPr>
          <p:cNvPr id="7" name="">
            <a:extLst xmlns:a="http://schemas.openxmlformats.org/drawingml/2006/main">
              <a:ext uri="{FF2B5EF4-FFF2-40B4-BE49-F238E27FC236}">
                <a16:creationId xmlns:a16="http://schemas.microsoft.com/office/drawing/2014/main" id="{2C9CC9A3-0904-4A24-95E1-BBD0B2D3C1F2}"/>
              </a:ext>
            </a:extLst>
          </p:cNvPr>
          <p:cNvSpPr>
            <a:spLocks xmlns:a="http://schemas.openxmlformats.org/drawingml/2006/main" noGrp="1"/>
          </p:cNvSpPr>
          <p:nvPr/>
        </p:nvSpPr>
        <p:spPr>
          <a:xfrm xmlns:a="http://schemas.openxmlformats.org/drawingml/2006/main">
            <a:off x="7791450" y="1981200"/>
            <a:ext cx="3419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0252C"/>
                </a:solidFill>
                <a:latin typeface="Aptos"/>
                <a:ea typeface="Aptos"/>
                <a:cs typeface="Aptos"/>
              </a:defRPr>
            </a:pPr>
            <a:r>
              <a:rPr sz="1500" b="0">
                <a:solidFill>
                  <a:srgbClr val="20252C"/>
                </a:solidFill>
                <a:latin typeface="Aptos"/>
                <a:ea typeface="Aptos"/>
                <a:cs typeface="Aptos"/>
              </a:rPr>
              <a:t>manzanas en el filtro Juliaca</a:t>
            </a:r>
          </a:p>
        </p:txBody>
      </p:sp>
      <p:sp>
        <p:nvSpPr>
          <p:cNvPr id="8" name="">
            <a:extLst xmlns:a="http://schemas.openxmlformats.org/drawingml/2006/main">
              <a:ext uri="{FF2B5EF4-FFF2-40B4-BE49-F238E27FC236}">
                <a16:creationId xmlns:a16="http://schemas.microsoft.com/office/drawing/2014/main" id="{52BF65DA-B5A0-480C-9828-947808E6F7D8}"/>
              </a:ext>
            </a:extLst>
          </p:cNvPr>
          <p:cNvSpPr>
            <a:spLocks xmlns:a="http://schemas.openxmlformats.org/drawingml/2006/main" noGrp="1"/>
          </p:cNvSpPr>
          <p:nvPr/>
        </p:nvSpPr>
        <p:spPr>
          <a:xfrm xmlns:a="http://schemas.openxmlformats.org/drawingml/2006/main">
            <a:off x="7791450" y="2819400"/>
            <a:ext cx="34671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Cada punto permite ver habitantes y densidad. Así se reconocen zonas residenciales que conviene estudiar primero.</a:t>
            </a:r>
          </a:p>
        </p:txBody>
      </p:sp>
      <p:sp>
        <p:nvSpPr>
          <p:cNvPr id="9" name="">
            <a:extLst xmlns:a="http://schemas.openxmlformats.org/drawingml/2006/main">
              <a:ext uri="{FF2B5EF4-FFF2-40B4-BE49-F238E27FC236}">
                <a16:creationId xmlns:a16="http://schemas.microsoft.com/office/drawing/2014/main" id="{DB4D8C08-0FEB-4145-818E-B84A044622B5}"/>
              </a:ext>
            </a:extLst>
          </p:cNvPr>
          <p:cNvSpPr>
            <a:spLocks xmlns:a="http://schemas.openxmlformats.org/drawingml/2006/main" noGrp="1"/>
          </p:cNvSpPr>
          <p:nvPr/>
        </p:nvSpPr>
        <p:spPr>
          <a:xfrm xmlns:a="http://schemas.openxmlformats.org/drawingml/2006/main">
            <a:off x="7791450" y="4772025"/>
            <a:ext cx="3467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9373D"/>
                </a:solidFill>
                <a:latin typeface="Aptos"/>
                <a:ea typeface="Aptos"/>
                <a:cs typeface="Aptos"/>
              </a:defRPr>
            </a:pPr>
            <a:r>
              <a:rPr sz="1425" b="0">
                <a:solidFill>
                  <a:srgbClr val="A9373D"/>
                </a:solidFill>
                <a:latin typeface="Aptos"/>
                <a:ea typeface="Aptos"/>
                <a:cs typeface="Aptos"/>
              </a:rPr>
              <a:t>Una manzana densa no equivale a una parada llena: los viajes deben medirse.</a:t>
            </a:r>
          </a:p>
        </p:txBody>
      </p:sp>
      <p:sp>
        <p:nvSpPr>
          <p:cNvPr id="10" name="">
            <a:extLst xmlns:a="http://schemas.openxmlformats.org/drawingml/2006/main">
              <a:ext uri="{FF2B5EF4-FFF2-40B4-BE49-F238E27FC236}">
                <a16:creationId xmlns:a16="http://schemas.microsoft.com/office/drawing/2014/main" id="{2EF8DC0E-3501-493B-9FAB-B10863CBA508}"/>
              </a:ext>
            </a:extLst>
          </p:cNvPr>
          <p:cNvSpPr>
            <a:spLocks xmlns:a="http://schemas.openxmlformats.org/drawingml/2006/main" noGrp="1"/>
          </p:cNvSpPr>
          <p:nvPr/>
        </p:nvSpPr>
        <p:spPr>
          <a:xfrm xmlns:a="http://schemas.openxmlformats.org/drawingml/2006/main">
            <a:off x="571500" y="6210300"/>
            <a:ext cx="11001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5B6572"/>
                </a:solidFill>
                <a:latin typeface="Aptos"/>
                <a:ea typeface="Aptos"/>
                <a:cs typeface="Aptos"/>
              </a:defRPr>
            </a:pPr>
            <a:r>
              <a:rPr sz="975" b="0">
                <a:solidFill>
                  <a:srgbClr val="5B6572"/>
                </a:solidFill>
                <a:latin typeface="Aptos"/>
                <a:ea typeface="Aptos"/>
                <a:cs typeface="Aptos"/>
              </a:rPr>
              <a:t>Referencia [2]: INEI, cartografía y Censo 2017; cruce mostrado en Puriy.</a:t>
            </a:r>
          </a:p>
        </p:txBody>
      </p:sp>
    </p:spTree>
    <p:extLst>
      <p:ext uri="{BB962C8B-B14F-4D97-AF65-F5344CB8AC3E}">
        <p14:creationId xmlns:p14="http://schemas.microsoft.com/office/powerpoint/2010/main" val="175782964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C6AC937-274D-4FC2-B5CB-6444524C98FE}"/>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El PDU describe una red, pero falta comprobarla en la calle</a:t>
            </a:r>
          </a:p>
        </p:txBody>
      </p:sp>
      <p:sp>
        <p:nvSpPr>
          <p:cNvPr id="2" name="">
            <a:extLst xmlns:a="http://schemas.openxmlformats.org/drawingml/2006/main">
              <a:ext uri="{FF2B5EF4-FFF2-40B4-BE49-F238E27FC236}">
                <a16:creationId xmlns:a16="http://schemas.microsoft.com/office/drawing/2014/main" id="{3E1E808C-3CAE-4D5A-9E94-8B50EFF34E8C}"/>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08</a:t>
            </a:r>
          </a:p>
        </p:txBody>
      </p:sp>
      <p:sp>
        <p:nvSpPr>
          <p:cNvPr id="3" name="">
            <a:extLst xmlns:a="http://schemas.openxmlformats.org/drawingml/2006/main">
              <a:ext uri="{FF2B5EF4-FFF2-40B4-BE49-F238E27FC236}">
                <a16:creationId xmlns:a16="http://schemas.microsoft.com/office/drawing/2014/main" id="{BD8BBFD7-F854-4FB6-ACD8-4D3788172CAE}"/>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0ADB8CD2-432F-4D09-B2F2-62699ED4A4C2}"/>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
            <a:extLst xmlns:a="http://schemas.openxmlformats.org/drawingml/2006/main">
              <a:ext uri="{FF2B5EF4-FFF2-40B4-BE49-F238E27FC236}">
                <a16:creationId xmlns:a16="http://schemas.microsoft.com/office/drawing/2014/main" id="{79F950C9-8A93-421B-B7A4-9E98BED74197}"/>
              </a:ext>
            </a:extLst>
          </p:cNvPr>
          <p:cNvSpPr>
            <a:spLocks xmlns:a="http://schemas.openxmlformats.org/drawingml/2006/main" noGrp="1"/>
          </p:cNvSpPr>
          <p:nvPr/>
        </p:nvSpPr>
        <p:spPr>
          <a:xfrm xmlns:a="http://schemas.openxmlformats.org/drawingml/2006/main">
            <a:off x="571500" y="1524000"/>
            <a:ext cx="5181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050" b="1">
                <a:solidFill>
                  <a:srgbClr val="275CBA"/>
                </a:solidFill>
                <a:latin typeface="Aptos"/>
                <a:ea typeface="Aptos"/>
                <a:cs typeface="Aptos"/>
              </a:defRPr>
            </a:pPr>
            <a:r>
              <a:rPr sz="4050" b="1">
                <a:solidFill>
                  <a:srgbClr val="275CBA"/>
                </a:solidFill>
                <a:latin typeface="Aptos"/>
                <a:ea typeface="Aptos"/>
                <a:cs typeface="Aptos"/>
              </a:rPr>
              <a:t>40 líneas</a:t>
            </a:r>
          </a:p>
        </p:txBody>
      </p:sp>
      <p:sp>
        <p:nvSpPr>
          <p:cNvPr id="6" name="">
            <a:extLst xmlns:a="http://schemas.openxmlformats.org/drawingml/2006/main">
              <a:ext uri="{FF2B5EF4-FFF2-40B4-BE49-F238E27FC236}">
                <a16:creationId xmlns:a16="http://schemas.microsoft.com/office/drawing/2014/main" id="{351311DF-6EF2-424D-9F55-6AEFC40F1B7A}"/>
              </a:ext>
            </a:extLst>
          </p:cNvPr>
          <p:cNvSpPr>
            <a:spLocks xmlns:a="http://schemas.openxmlformats.org/drawingml/2006/main" noGrp="1"/>
          </p:cNvSpPr>
          <p:nvPr/>
        </p:nvSpPr>
        <p:spPr>
          <a:xfrm xmlns:a="http://schemas.openxmlformats.org/drawingml/2006/main">
            <a:off x="571500" y="2238375"/>
            <a:ext cx="54578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20252C"/>
                </a:solidFill>
                <a:latin typeface="Aptos"/>
                <a:ea typeface="Aptos"/>
                <a:cs typeface="Aptos"/>
              </a:defRPr>
            </a:pPr>
            <a:r>
              <a:rPr sz="1650" b="1">
                <a:solidFill>
                  <a:srgbClr val="20252C"/>
                </a:solidFill>
                <a:latin typeface="Aptos"/>
                <a:ea typeface="Aptos"/>
                <a:cs typeface="Aptos"/>
              </a:rPr>
              <a:t>registradas en el inventario del PDU</a:t>
            </a:r>
          </a:p>
        </p:txBody>
      </p:sp>
      <p:sp>
        <p:nvSpPr>
          <p:cNvPr id="7" name="">
            <a:extLst xmlns:a="http://schemas.openxmlformats.org/drawingml/2006/main">
              <a:ext uri="{FF2B5EF4-FFF2-40B4-BE49-F238E27FC236}">
                <a16:creationId xmlns:a16="http://schemas.microsoft.com/office/drawing/2014/main" id="{5D035FCB-FA2F-47DD-88CE-8C3AF5702C20}"/>
              </a:ext>
            </a:extLst>
          </p:cNvPr>
          <p:cNvSpPr>
            <a:spLocks xmlns:a="http://schemas.openxmlformats.org/drawingml/2006/main" noGrp="1"/>
          </p:cNvSpPr>
          <p:nvPr/>
        </p:nvSpPr>
        <p:spPr>
          <a:xfrm xmlns:a="http://schemas.openxmlformats.org/drawingml/2006/main">
            <a:off x="6505575" y="1524000"/>
            <a:ext cx="4457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050" b="1">
                <a:solidFill>
                  <a:srgbClr val="275CBA"/>
                </a:solidFill>
                <a:latin typeface="Aptos"/>
                <a:ea typeface="Aptos"/>
                <a:cs typeface="Aptos"/>
              </a:defRPr>
            </a:pPr>
            <a:r>
              <a:rPr sz="4050" b="1">
                <a:solidFill>
                  <a:srgbClr val="275CBA"/>
                </a:solidFill>
                <a:latin typeface="Aptos"/>
                <a:ea typeface="Aptos"/>
                <a:cs typeface="Aptos"/>
              </a:rPr>
              <a:t>1.963</a:t>
            </a:r>
          </a:p>
        </p:txBody>
      </p:sp>
      <p:sp>
        <p:nvSpPr>
          <p:cNvPr id="8" name="">
            <a:extLst xmlns:a="http://schemas.openxmlformats.org/drawingml/2006/main">
              <a:ext uri="{FF2B5EF4-FFF2-40B4-BE49-F238E27FC236}">
                <a16:creationId xmlns:a16="http://schemas.microsoft.com/office/drawing/2014/main" id="{28A536E9-ABD5-4DF7-989B-09599F8B2985}"/>
              </a:ext>
            </a:extLst>
          </p:cNvPr>
          <p:cNvSpPr>
            <a:spLocks xmlns:a="http://schemas.openxmlformats.org/drawingml/2006/main" noGrp="1"/>
          </p:cNvSpPr>
          <p:nvPr/>
        </p:nvSpPr>
        <p:spPr>
          <a:xfrm xmlns:a="http://schemas.openxmlformats.org/drawingml/2006/main">
            <a:off x="6505575" y="2238375"/>
            <a:ext cx="45053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20252C"/>
                </a:solidFill>
                <a:latin typeface="Aptos"/>
                <a:ea typeface="Aptos"/>
                <a:cs typeface="Aptos"/>
              </a:defRPr>
            </a:pPr>
            <a:r>
              <a:rPr sz="1650" b="1">
                <a:solidFill>
                  <a:srgbClr val="20252C"/>
                </a:solidFill>
                <a:latin typeface="Aptos"/>
                <a:ea typeface="Aptos"/>
                <a:cs typeface="Aptos"/>
              </a:rPr>
              <a:t>vehículos en el total impreso del documento</a:t>
            </a:r>
          </a:p>
        </p:txBody>
      </p:sp>
      <p:sp>
        <p:nvSpPr>
          <p:cNvPr id="9" name="">
            <a:extLst xmlns:a="http://schemas.openxmlformats.org/drawingml/2006/main">
              <a:ext uri="{FF2B5EF4-FFF2-40B4-BE49-F238E27FC236}">
                <a16:creationId xmlns:a16="http://schemas.microsoft.com/office/drawing/2014/main" id="{91D48D06-D195-42C7-8E99-C78ECC411BE2}"/>
              </a:ext>
            </a:extLst>
          </p:cNvPr>
          <p:cNvSpPr>
            <a:spLocks xmlns:a="http://schemas.openxmlformats.org/drawingml/2006/main" noGrp="1"/>
          </p:cNvSpPr>
          <p:nvPr/>
        </p:nvSpPr>
        <p:spPr>
          <a:xfrm xmlns:a="http://schemas.openxmlformats.org/drawingml/2006/main">
            <a:off x="571500" y="3409950"/>
            <a:ext cx="1101090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10" name="">
            <a:extLst xmlns:a="http://schemas.openxmlformats.org/drawingml/2006/main">
              <a:ext uri="{FF2B5EF4-FFF2-40B4-BE49-F238E27FC236}">
                <a16:creationId xmlns:a16="http://schemas.microsoft.com/office/drawing/2014/main" id="{E10EFBF2-0372-41C2-AB92-973806971E60}"/>
              </a:ext>
            </a:extLst>
          </p:cNvPr>
          <p:cNvSpPr>
            <a:spLocks xmlns:a="http://schemas.openxmlformats.org/drawingml/2006/main" noGrp="1"/>
          </p:cNvSpPr>
          <p:nvPr/>
        </p:nvSpPr>
        <p:spPr>
          <a:xfrm xmlns:a="http://schemas.openxmlformats.org/drawingml/2006/main">
            <a:off x="571500" y="3838575"/>
            <a:ext cx="108489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20252C"/>
                </a:solidFill>
                <a:latin typeface="Aptos"/>
                <a:ea typeface="Aptos"/>
                <a:cs typeface="Aptos"/>
              </a:defRPr>
            </a:pPr>
            <a:r>
              <a:rPr sz="1875" b="0">
                <a:solidFill>
                  <a:srgbClr val="20252C"/>
                </a:solidFill>
                <a:latin typeface="Aptos"/>
                <a:ea typeface="Aptos"/>
                <a:cs typeface="Aptos"/>
              </a:rPr>
              <a:t>Esto permite iniciar un catálogo. Para orientar un viaje hacen falta el trazo vigente, los puntos de abordaje y el intervalo por hora de cada línea.</a:t>
            </a:r>
          </a:p>
        </p:txBody>
      </p:sp>
      <p:sp>
        <p:nvSpPr>
          <p:cNvPr id="11" name="">
            <a:extLst xmlns:a="http://schemas.openxmlformats.org/drawingml/2006/main">
              <a:ext uri="{FF2B5EF4-FFF2-40B4-BE49-F238E27FC236}">
                <a16:creationId xmlns:a16="http://schemas.microsoft.com/office/drawing/2014/main" id="{D82BFEF1-679D-4460-9E5D-9B808382B927}"/>
              </a:ext>
            </a:extLst>
          </p:cNvPr>
          <p:cNvSpPr>
            <a:spLocks xmlns:a="http://schemas.openxmlformats.org/drawingml/2006/main" noGrp="1"/>
          </p:cNvSpPr>
          <p:nvPr/>
        </p:nvSpPr>
        <p:spPr>
          <a:xfrm xmlns:a="http://schemas.openxmlformats.org/drawingml/2006/main">
            <a:off x="571500" y="54483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A9373D"/>
                </a:solidFill>
                <a:latin typeface="Aptos"/>
                <a:ea typeface="Aptos"/>
                <a:cs typeface="Aptos"/>
              </a:defRPr>
            </a:pPr>
            <a:r>
              <a:rPr sz="1350" b="0">
                <a:solidFill>
                  <a:srgbClr val="A9373D"/>
                </a:solidFill>
                <a:latin typeface="Aptos"/>
                <a:ea typeface="Aptos"/>
                <a:cs typeface="Aptos"/>
              </a:rPr>
              <a:t>La suma de las filas de flota da 1.969; Puriy conserva esa diferencia pendiente de conciliación.</a:t>
            </a:r>
          </a:p>
        </p:txBody>
      </p:sp>
      <p:sp>
        <p:nvSpPr>
          <p:cNvPr id="12" name="">
            <a:extLst xmlns:a="http://schemas.openxmlformats.org/drawingml/2006/main">
              <a:ext uri="{FF2B5EF4-FFF2-40B4-BE49-F238E27FC236}">
                <a16:creationId xmlns:a16="http://schemas.microsoft.com/office/drawing/2014/main" id="{849FCD52-E708-476E-9012-503B0817BBDA}"/>
              </a:ext>
            </a:extLst>
          </p:cNvPr>
          <p:cNvSpPr>
            <a:spLocks xmlns:a="http://schemas.openxmlformats.org/drawingml/2006/main" noGrp="1"/>
          </p:cNvSpPr>
          <p:nvPr/>
        </p:nvSpPr>
        <p:spPr>
          <a:xfrm xmlns:a="http://schemas.openxmlformats.org/drawingml/2006/main">
            <a:off x="571500" y="6210300"/>
            <a:ext cx="11001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5B6572"/>
                </a:solidFill>
                <a:latin typeface="Aptos"/>
                <a:ea typeface="Aptos"/>
                <a:cs typeface="Aptos"/>
              </a:defRPr>
            </a:pPr>
            <a:r>
              <a:rPr sz="975" b="0">
                <a:solidFill>
                  <a:srgbClr val="5B6572"/>
                </a:solidFill>
                <a:latin typeface="Aptos"/>
                <a:ea typeface="Aptos"/>
                <a:cs typeface="Aptos"/>
              </a:rPr>
              <a:t>Referencia [3]: PDU de Juliaca, diagnóstico, pp. 177–179.</a:t>
            </a:r>
          </a:p>
        </p:txBody>
      </p:sp>
    </p:spTree>
    <p:extLst>
      <p:ext uri="{BB962C8B-B14F-4D97-AF65-F5344CB8AC3E}">
        <p14:creationId xmlns:p14="http://schemas.microsoft.com/office/powerpoint/2010/main" val="140283103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298813E-1607-4C2E-858D-A0FB83BE3B8E}"/>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La ruta debe llegar a lugares, no solo cruzar barrios</a:t>
            </a:r>
          </a:p>
        </p:txBody>
      </p:sp>
      <p:sp>
        <p:nvSpPr>
          <p:cNvPr id="2" name="">
            <a:extLst xmlns:a="http://schemas.openxmlformats.org/drawingml/2006/main">
              <a:ext uri="{FF2B5EF4-FFF2-40B4-BE49-F238E27FC236}">
                <a16:creationId xmlns:a16="http://schemas.microsoft.com/office/drawing/2014/main" id="{0E1C5456-4E32-42EB-8CD4-AF42AB982894}"/>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09</a:t>
            </a:r>
          </a:p>
        </p:txBody>
      </p:sp>
      <p:sp>
        <p:nvSpPr>
          <p:cNvPr id="3" name="">
            <a:extLst xmlns:a="http://schemas.openxmlformats.org/drawingml/2006/main">
              <a:ext uri="{FF2B5EF4-FFF2-40B4-BE49-F238E27FC236}">
                <a16:creationId xmlns:a16="http://schemas.microsoft.com/office/drawing/2014/main" id="{84A3DEB9-F06E-42CE-A2F0-A52D94A7EAF9}"/>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122AFC30-73A8-468C-A133-51E3CC800D24}"/>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
            <a:extLst xmlns:a="http://schemas.openxmlformats.org/drawingml/2006/main">
              <a:ext uri="{FF2B5EF4-FFF2-40B4-BE49-F238E27FC236}">
                <a16:creationId xmlns:a16="http://schemas.microsoft.com/office/drawing/2014/main" id="{DEB39DB1-6C1C-4863-9EE3-C8D54E949D07}"/>
              </a:ext>
            </a:extLst>
          </p:cNvPr>
          <p:cNvSpPr>
            <a:spLocks xmlns:a="http://schemas.openxmlformats.org/drawingml/2006/main" noGrp="1"/>
          </p:cNvSpPr>
          <p:nvPr/>
        </p:nvSpPr>
        <p:spPr>
          <a:xfrm xmlns:a="http://schemas.openxmlformats.org/drawingml/2006/main">
            <a:off x="571500" y="12858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75CBA"/>
                </a:solidFill>
                <a:latin typeface="Aptos"/>
                <a:ea typeface="Aptos"/>
                <a:cs typeface="Aptos"/>
              </a:defRPr>
            </a:pPr>
            <a:r>
              <a:rPr sz="1125" b="1">
                <a:solidFill>
                  <a:srgbClr val="275CBA"/>
                </a:solidFill>
                <a:latin typeface="Aptos"/>
                <a:ea typeface="Aptos"/>
                <a:cs typeface="Aptos"/>
              </a:rPr>
              <a:t>EJEMPLO: UN VIAJE A UN MERCADO</a:t>
            </a:r>
          </a:p>
        </p:txBody>
      </p:sp>
      <p:sp>
        <p:nvSpPr>
          <p:cNvPr id="6" name="">
            <a:extLst xmlns:a="http://schemas.openxmlformats.org/drawingml/2006/main">
              <a:ext uri="{FF2B5EF4-FFF2-40B4-BE49-F238E27FC236}">
                <a16:creationId xmlns:a16="http://schemas.microsoft.com/office/drawing/2014/main" id="{CE098594-BB7B-4D40-B5E0-08B072DD3CA1}"/>
              </a:ext>
            </a:extLst>
          </p:cNvPr>
          <p:cNvSpPr>
            <a:spLocks xmlns:a="http://schemas.openxmlformats.org/drawingml/2006/main" noGrp="1"/>
          </p:cNvSpPr>
          <p:nvPr/>
        </p:nvSpPr>
        <p:spPr>
          <a:xfrm xmlns:a="http://schemas.openxmlformats.org/drawingml/2006/main">
            <a:off x="571500" y="1819275"/>
            <a:ext cx="3000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275CBA"/>
                </a:solidFill>
                <a:latin typeface="Aptos"/>
                <a:ea typeface="Aptos"/>
                <a:cs typeface="Aptos"/>
              </a:defRPr>
            </a:pPr>
            <a:r>
              <a:rPr sz="2100" b="1">
                <a:solidFill>
                  <a:srgbClr val="275CBA"/>
                </a:solidFill>
                <a:latin typeface="Aptos"/>
                <a:ea typeface="Aptos"/>
                <a:cs typeface="Aptos"/>
              </a:rPr>
              <a:t>Vivienda</a:t>
            </a:r>
          </a:p>
        </p:txBody>
      </p:sp>
      <p:sp>
        <p:nvSpPr>
          <p:cNvPr id="7" name="">
            <a:extLst xmlns:a="http://schemas.openxmlformats.org/drawingml/2006/main">
              <a:ext uri="{FF2B5EF4-FFF2-40B4-BE49-F238E27FC236}">
                <a16:creationId xmlns:a16="http://schemas.microsoft.com/office/drawing/2014/main" id="{76F88190-8889-4526-A68D-47169A75051B}"/>
              </a:ext>
            </a:extLst>
          </p:cNvPr>
          <p:cNvSpPr>
            <a:spLocks xmlns:a="http://schemas.openxmlformats.org/drawingml/2006/main" noGrp="1"/>
          </p:cNvSpPr>
          <p:nvPr/>
        </p:nvSpPr>
        <p:spPr>
          <a:xfrm xmlns:a="http://schemas.openxmlformats.org/drawingml/2006/main">
            <a:off x="4400550" y="1819275"/>
            <a:ext cx="34956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275CBA"/>
                </a:solidFill>
                <a:latin typeface="Aptos"/>
                <a:ea typeface="Aptos"/>
                <a:cs typeface="Aptos"/>
              </a:defRPr>
            </a:pPr>
            <a:r>
              <a:rPr sz="2100" b="1">
                <a:solidFill>
                  <a:srgbClr val="275CBA"/>
                </a:solidFill>
                <a:latin typeface="Aptos"/>
                <a:ea typeface="Aptos"/>
                <a:cs typeface="Aptos"/>
              </a:rPr>
              <a:t>Punto de abordaje</a:t>
            </a:r>
          </a:p>
        </p:txBody>
      </p:sp>
      <p:sp>
        <p:nvSpPr>
          <p:cNvPr id="8" name="">
            <a:extLst xmlns:a="http://schemas.openxmlformats.org/drawingml/2006/main">
              <a:ext uri="{FF2B5EF4-FFF2-40B4-BE49-F238E27FC236}">
                <a16:creationId xmlns:a16="http://schemas.microsoft.com/office/drawing/2014/main" id="{3108D1EF-C661-4D85-BAC9-7E65E4CD61AF}"/>
              </a:ext>
            </a:extLst>
          </p:cNvPr>
          <p:cNvSpPr>
            <a:spLocks xmlns:a="http://schemas.openxmlformats.org/drawingml/2006/main" noGrp="1"/>
          </p:cNvSpPr>
          <p:nvPr/>
        </p:nvSpPr>
        <p:spPr>
          <a:xfrm xmlns:a="http://schemas.openxmlformats.org/drawingml/2006/main">
            <a:off x="8420100" y="1819275"/>
            <a:ext cx="3143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275CBA"/>
                </a:solidFill>
                <a:latin typeface="Aptos"/>
                <a:ea typeface="Aptos"/>
                <a:cs typeface="Aptos"/>
              </a:defRPr>
            </a:pPr>
            <a:r>
              <a:rPr sz="2100" b="1">
                <a:solidFill>
                  <a:srgbClr val="275CBA"/>
                </a:solidFill>
                <a:latin typeface="Aptos"/>
                <a:ea typeface="Aptos"/>
                <a:cs typeface="Aptos"/>
              </a:rPr>
              <a:t>Entrada del mercado</a:t>
            </a:r>
          </a:p>
        </p:txBody>
      </p:sp>
      <p:sp>
        <p:nvSpPr>
          <p:cNvPr id="9" name="">
            <a:extLst xmlns:a="http://schemas.openxmlformats.org/drawingml/2006/main">
              <a:ext uri="{FF2B5EF4-FFF2-40B4-BE49-F238E27FC236}">
                <a16:creationId xmlns:a16="http://schemas.microsoft.com/office/drawing/2014/main" id="{F8D3D7F3-8902-430F-B171-8815E5AEABE2}"/>
              </a:ext>
            </a:extLst>
          </p:cNvPr>
          <p:cNvSpPr>
            <a:spLocks xmlns:a="http://schemas.openxmlformats.org/drawingml/2006/main" noGrp="1"/>
          </p:cNvSpPr>
          <p:nvPr/>
        </p:nvSpPr>
        <p:spPr>
          <a:xfrm xmlns:a="http://schemas.openxmlformats.org/drawingml/2006/main">
            <a:off x="571500" y="2495550"/>
            <a:ext cx="1101090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10" name="">
            <a:extLst xmlns:a="http://schemas.openxmlformats.org/drawingml/2006/main">
              <a:ext uri="{FF2B5EF4-FFF2-40B4-BE49-F238E27FC236}">
                <a16:creationId xmlns:a16="http://schemas.microsoft.com/office/drawing/2014/main" id="{49DEE756-09EF-4661-B467-334B2F6B74D4}"/>
              </a:ext>
            </a:extLst>
          </p:cNvPr>
          <p:cNvSpPr>
            <a:spLocks xmlns:a="http://schemas.openxmlformats.org/drawingml/2006/main" noGrp="1"/>
          </p:cNvSpPr>
          <p:nvPr/>
        </p:nvSpPr>
        <p:spPr>
          <a:xfrm xmlns:a="http://schemas.openxmlformats.org/drawingml/2006/main">
            <a:off x="571500" y="29718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20252C"/>
                </a:solidFill>
                <a:latin typeface="Aptos"/>
                <a:ea typeface="Aptos"/>
                <a:cs typeface="Aptos"/>
              </a:defRPr>
            </a:pPr>
            <a:r>
              <a:rPr sz="2175" b="1">
                <a:solidFill>
                  <a:srgbClr val="20252C"/>
                </a:solidFill>
                <a:latin typeface="Aptos"/>
                <a:ea typeface="Aptos"/>
                <a:cs typeface="Aptos"/>
              </a:rPr>
              <a:t>Para evaluar ese viaje, Puriy necesita saber dónde está la entrada, cuándo abre y si la ruta llega en el sentido correcto.</a:t>
            </a:r>
          </a:p>
        </p:txBody>
      </p:sp>
      <p:sp>
        <p:nvSpPr>
          <p:cNvPr id="11" name="">
            <a:extLst xmlns:a="http://schemas.openxmlformats.org/drawingml/2006/main">
              <a:ext uri="{FF2B5EF4-FFF2-40B4-BE49-F238E27FC236}">
                <a16:creationId xmlns:a16="http://schemas.microsoft.com/office/drawing/2014/main" id="{68A638E3-B443-4CA7-B542-B33BB1E0A26A}"/>
              </a:ext>
            </a:extLst>
          </p:cNvPr>
          <p:cNvSpPr>
            <a:spLocks xmlns:a="http://schemas.openxmlformats.org/drawingml/2006/main" noGrp="1"/>
          </p:cNvSpPr>
          <p:nvPr/>
        </p:nvSpPr>
        <p:spPr>
          <a:xfrm xmlns:a="http://schemas.openxmlformats.org/drawingml/2006/main">
            <a:off x="571500" y="4762500"/>
            <a:ext cx="10715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5B6572"/>
                </a:solidFill>
                <a:latin typeface="Aptos"/>
                <a:ea typeface="Aptos"/>
                <a:cs typeface="Aptos"/>
              </a:defRPr>
            </a:pPr>
            <a:r>
              <a:rPr sz="1725" b="0">
                <a:solidFill>
                  <a:srgbClr val="5B6572"/>
                </a:solidFill>
                <a:latin typeface="Aptos"/>
                <a:ea typeface="Aptos"/>
                <a:cs typeface="Aptos"/>
              </a:rPr>
              <a:t>La misma lógica sirve para colegios, centros de salud y universidades. El PDU ayuda a elegir lugares que deben comprobarse.</a:t>
            </a:r>
          </a:p>
        </p:txBody>
      </p:sp>
      <p:sp>
        <p:nvSpPr>
          <p:cNvPr id="12" name="">
            <a:extLst xmlns:a="http://schemas.openxmlformats.org/drawingml/2006/main">
              <a:ext uri="{FF2B5EF4-FFF2-40B4-BE49-F238E27FC236}">
                <a16:creationId xmlns:a16="http://schemas.microsoft.com/office/drawing/2014/main" id="{B51B241E-C849-47FB-A429-912D6D2A0D21}"/>
              </a:ext>
            </a:extLst>
          </p:cNvPr>
          <p:cNvSpPr>
            <a:spLocks xmlns:a="http://schemas.openxmlformats.org/drawingml/2006/main" noGrp="1"/>
          </p:cNvSpPr>
          <p:nvPr/>
        </p:nvSpPr>
        <p:spPr>
          <a:xfrm xmlns:a="http://schemas.openxmlformats.org/drawingml/2006/main">
            <a:off x="571500" y="6210300"/>
            <a:ext cx="11001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5B6572"/>
                </a:solidFill>
                <a:latin typeface="Aptos"/>
                <a:ea typeface="Aptos"/>
                <a:cs typeface="Aptos"/>
              </a:defRPr>
            </a:pPr>
            <a:r>
              <a:rPr sz="975" b="0">
                <a:solidFill>
                  <a:srgbClr val="5B6572"/>
                </a:solidFill>
                <a:latin typeface="Aptos"/>
                <a:ea typeface="Aptos"/>
                <a:cs typeface="Aptos"/>
              </a:rPr>
              <a:t>Referencia [3]: PDU de Juliaca, diagnóstico, pp. 133 y 184–185.</a:t>
            </a:r>
          </a:p>
        </p:txBody>
      </p:sp>
    </p:spTree>
    <p:extLst>
      <p:ext uri="{BB962C8B-B14F-4D97-AF65-F5344CB8AC3E}">
        <p14:creationId xmlns:p14="http://schemas.microsoft.com/office/powerpoint/2010/main" val="12253191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13581D5-0DD7-4AB8-8BD8-E783EEA89C00}"/>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Cómo trabaja Puriy</a:t>
            </a:r>
          </a:p>
        </p:txBody>
      </p:sp>
      <p:sp>
        <p:nvSpPr>
          <p:cNvPr id="2" name="">
            <a:extLst xmlns:a="http://schemas.openxmlformats.org/drawingml/2006/main">
              <a:ext uri="{FF2B5EF4-FFF2-40B4-BE49-F238E27FC236}">
                <a16:creationId xmlns:a16="http://schemas.microsoft.com/office/drawing/2014/main" id="{2734533A-DC48-48E9-8988-3449BB1EEDE1}"/>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10</a:t>
            </a:r>
          </a:p>
        </p:txBody>
      </p:sp>
      <p:sp>
        <p:nvSpPr>
          <p:cNvPr id="3" name="">
            <a:extLst xmlns:a="http://schemas.openxmlformats.org/drawingml/2006/main">
              <a:ext uri="{FF2B5EF4-FFF2-40B4-BE49-F238E27FC236}">
                <a16:creationId xmlns:a16="http://schemas.microsoft.com/office/drawing/2014/main" id="{F98EEC6D-8977-4F6F-9898-8BF2EE7FDF75}"/>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2C453345-5D1B-41C4-A35D-3D85F0039D21}"/>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
            <a:extLst xmlns:a="http://schemas.openxmlformats.org/drawingml/2006/main">
              <a:ext uri="{FF2B5EF4-FFF2-40B4-BE49-F238E27FC236}">
                <a16:creationId xmlns:a16="http://schemas.microsoft.com/office/drawing/2014/main" id="{E52C96C8-6A68-4B59-AADA-707F555BF995}"/>
              </a:ext>
            </a:extLst>
          </p:cNvPr>
          <p:cNvSpPr>
            <a:spLocks xmlns:a="http://schemas.openxmlformats.org/drawingml/2006/main" noGrp="1"/>
          </p:cNvSpPr>
          <p:nvPr/>
        </p:nvSpPr>
        <p:spPr>
          <a:xfrm xmlns:a="http://schemas.openxmlformats.org/drawingml/2006/main">
            <a:off x="571500" y="1390650"/>
            <a:ext cx="628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75" b="1">
                <a:solidFill>
                  <a:srgbClr val="275CBA"/>
                </a:solidFill>
                <a:latin typeface="Aptos"/>
                <a:ea typeface="Aptos"/>
                <a:cs typeface="Aptos"/>
              </a:defRPr>
            </a:pPr>
            <a:r>
              <a:rPr sz="3375" b="1">
                <a:solidFill>
                  <a:srgbClr val="275CBA"/>
                </a:solidFill>
                <a:latin typeface="Aptos"/>
                <a:ea typeface="Aptos"/>
                <a:cs typeface="Aptos"/>
              </a:rPr>
              <a:t>1</a:t>
            </a:r>
          </a:p>
        </p:txBody>
      </p:sp>
      <p:sp>
        <p:nvSpPr>
          <p:cNvPr id="6" name="">
            <a:extLst xmlns:a="http://schemas.openxmlformats.org/drawingml/2006/main">
              <a:ext uri="{FF2B5EF4-FFF2-40B4-BE49-F238E27FC236}">
                <a16:creationId xmlns:a16="http://schemas.microsoft.com/office/drawing/2014/main" id="{901ED8A6-1AD2-4324-9D0C-0D1856E17530}"/>
              </a:ext>
            </a:extLst>
          </p:cNvPr>
          <p:cNvSpPr>
            <a:spLocks xmlns:a="http://schemas.openxmlformats.org/drawingml/2006/main" noGrp="1"/>
          </p:cNvSpPr>
          <p:nvPr/>
        </p:nvSpPr>
        <p:spPr>
          <a:xfrm xmlns:a="http://schemas.openxmlformats.org/drawingml/2006/main">
            <a:off x="1428750" y="1409700"/>
            <a:ext cx="2552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20252C"/>
                </a:solidFill>
                <a:latin typeface="Aptos"/>
                <a:ea typeface="Aptos"/>
                <a:cs typeface="Aptos"/>
              </a:defRPr>
            </a:pPr>
            <a:r>
              <a:rPr sz="1950" b="1">
                <a:solidFill>
                  <a:srgbClr val="20252C"/>
                </a:solidFill>
                <a:latin typeface="Aptos"/>
                <a:ea typeface="Aptos"/>
                <a:cs typeface="Aptos"/>
              </a:rPr>
              <a:t>Reúne</a:t>
            </a:r>
          </a:p>
        </p:txBody>
      </p:sp>
      <p:sp>
        <p:nvSpPr>
          <p:cNvPr id="7" name="">
            <a:extLst xmlns:a="http://schemas.openxmlformats.org/drawingml/2006/main">
              <a:ext uri="{FF2B5EF4-FFF2-40B4-BE49-F238E27FC236}">
                <a16:creationId xmlns:a16="http://schemas.microsoft.com/office/drawing/2014/main" id="{A51B765B-8255-41AE-B4F7-BBF02B30F4AD}"/>
              </a:ext>
            </a:extLst>
          </p:cNvPr>
          <p:cNvSpPr>
            <a:spLocks xmlns:a="http://schemas.openxmlformats.org/drawingml/2006/main" noGrp="1"/>
          </p:cNvSpPr>
          <p:nvPr/>
        </p:nvSpPr>
        <p:spPr>
          <a:xfrm xmlns:a="http://schemas.openxmlformats.org/drawingml/2006/main">
            <a:off x="3981450" y="1447800"/>
            <a:ext cx="6905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0252C"/>
                </a:solidFill>
                <a:latin typeface="Aptos"/>
                <a:ea typeface="Aptos"/>
                <a:cs typeface="Aptos"/>
              </a:defRPr>
            </a:pPr>
            <a:r>
              <a:rPr sz="1650" b="0">
                <a:solidFill>
                  <a:srgbClr val="20252C"/>
                </a:solidFill>
                <a:latin typeface="Aptos"/>
                <a:ea typeface="Aptos"/>
                <a:cs typeface="Aptos"/>
              </a:rPr>
              <a:t>Población, rutas y destinos con su fuente.</a:t>
            </a:r>
          </a:p>
        </p:txBody>
      </p:sp>
      <p:sp>
        <p:nvSpPr>
          <p:cNvPr id="8" name="">
            <a:extLst xmlns:a="http://schemas.openxmlformats.org/drawingml/2006/main">
              <a:ext uri="{FF2B5EF4-FFF2-40B4-BE49-F238E27FC236}">
                <a16:creationId xmlns:a16="http://schemas.microsoft.com/office/drawing/2014/main" id="{F6D3DC85-093D-4555-866A-80C2AD5E7FE8}"/>
              </a:ext>
            </a:extLst>
          </p:cNvPr>
          <p:cNvSpPr>
            <a:spLocks xmlns:a="http://schemas.openxmlformats.org/drawingml/2006/main" noGrp="1"/>
          </p:cNvSpPr>
          <p:nvPr/>
        </p:nvSpPr>
        <p:spPr>
          <a:xfrm xmlns:a="http://schemas.openxmlformats.org/drawingml/2006/main">
            <a:off x="571500" y="2228850"/>
            <a:ext cx="11010900" cy="0"/>
          </a:xfrm>
          <a:prstGeom xmlns:a="http://schemas.openxmlformats.org/drawingml/2006/main" prst="line">
            <a:avLst/>
          </a:prstGeom>
          <a:noFill xmlns:a="http://schemas.openxmlformats.org/drawingml/2006/main"/>
          <a:ln xmlns:a="http://schemas.openxmlformats.org/drawingml/2006/main" w="9525">
            <a:solidFill>
              <a:srgbClr val="DDE3EA"/>
            </a:solidFill>
            <a:prstDash val="solid"/>
          </a:ln>
        </p:spPr>
      </p:sp>
      <p:sp>
        <p:nvSpPr>
          <p:cNvPr id="9" name="">
            <a:extLst xmlns:a="http://schemas.openxmlformats.org/drawingml/2006/main">
              <a:ext uri="{FF2B5EF4-FFF2-40B4-BE49-F238E27FC236}">
                <a16:creationId xmlns:a16="http://schemas.microsoft.com/office/drawing/2014/main" id="{18565309-7ED6-4A05-8BB1-FE5E4E588FDB}"/>
              </a:ext>
            </a:extLst>
          </p:cNvPr>
          <p:cNvSpPr>
            <a:spLocks xmlns:a="http://schemas.openxmlformats.org/drawingml/2006/main" noGrp="1"/>
          </p:cNvSpPr>
          <p:nvPr/>
        </p:nvSpPr>
        <p:spPr>
          <a:xfrm xmlns:a="http://schemas.openxmlformats.org/drawingml/2006/main">
            <a:off x="571500" y="2571750"/>
            <a:ext cx="628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75" b="1">
                <a:solidFill>
                  <a:srgbClr val="275CBA"/>
                </a:solidFill>
                <a:latin typeface="Aptos"/>
                <a:ea typeface="Aptos"/>
                <a:cs typeface="Aptos"/>
              </a:defRPr>
            </a:pPr>
            <a:r>
              <a:rPr sz="3375" b="1">
                <a:solidFill>
                  <a:srgbClr val="275CBA"/>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526282F7-0BBF-4ED8-BA7F-CBE94373EE7C}"/>
              </a:ext>
            </a:extLst>
          </p:cNvPr>
          <p:cNvSpPr>
            <a:spLocks xmlns:a="http://schemas.openxmlformats.org/drawingml/2006/main" noGrp="1"/>
          </p:cNvSpPr>
          <p:nvPr/>
        </p:nvSpPr>
        <p:spPr>
          <a:xfrm xmlns:a="http://schemas.openxmlformats.org/drawingml/2006/main">
            <a:off x="1428750" y="2590800"/>
            <a:ext cx="2552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20252C"/>
                </a:solidFill>
                <a:latin typeface="Aptos"/>
                <a:ea typeface="Aptos"/>
                <a:cs typeface="Aptos"/>
              </a:defRPr>
            </a:pPr>
            <a:r>
              <a:rPr sz="1950" b="1">
                <a:solidFill>
                  <a:srgbClr val="20252C"/>
                </a:solidFill>
                <a:latin typeface="Aptos"/>
                <a:ea typeface="Aptos"/>
                <a:cs typeface="Aptos"/>
              </a:rPr>
              <a:t>Ubica</a:t>
            </a:r>
          </a:p>
        </p:txBody>
      </p:sp>
      <p:sp>
        <p:nvSpPr>
          <p:cNvPr id="11" name="">
            <a:extLst xmlns:a="http://schemas.openxmlformats.org/drawingml/2006/main">
              <a:ext uri="{FF2B5EF4-FFF2-40B4-BE49-F238E27FC236}">
                <a16:creationId xmlns:a16="http://schemas.microsoft.com/office/drawing/2014/main" id="{E33A5370-B1DE-4ACD-9356-E2B6431DBB2C}"/>
              </a:ext>
            </a:extLst>
          </p:cNvPr>
          <p:cNvSpPr>
            <a:spLocks xmlns:a="http://schemas.openxmlformats.org/drawingml/2006/main" noGrp="1"/>
          </p:cNvSpPr>
          <p:nvPr/>
        </p:nvSpPr>
        <p:spPr>
          <a:xfrm xmlns:a="http://schemas.openxmlformats.org/drawingml/2006/main">
            <a:off x="3981450" y="2628900"/>
            <a:ext cx="6905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0252C"/>
                </a:solidFill>
                <a:latin typeface="Aptos"/>
                <a:ea typeface="Aptos"/>
                <a:cs typeface="Aptos"/>
              </a:defRPr>
            </a:pPr>
            <a:r>
              <a:rPr sz="1650" b="0">
                <a:solidFill>
                  <a:srgbClr val="20252C"/>
                </a:solidFill>
                <a:latin typeface="Aptos"/>
                <a:ea typeface="Aptos"/>
                <a:cs typeface="Aptos"/>
              </a:rPr>
              <a:t>Comprueba qué manzanas llegan a un abordaje.</a:t>
            </a:r>
          </a:p>
        </p:txBody>
      </p:sp>
      <p:sp>
        <p:nvSpPr>
          <p:cNvPr id="12" name="">
            <a:extLst xmlns:a="http://schemas.openxmlformats.org/drawingml/2006/main">
              <a:ext uri="{FF2B5EF4-FFF2-40B4-BE49-F238E27FC236}">
                <a16:creationId xmlns:a16="http://schemas.microsoft.com/office/drawing/2014/main" id="{D88DB2A5-371E-4DA0-A17A-88A3D9270D33}"/>
              </a:ext>
            </a:extLst>
          </p:cNvPr>
          <p:cNvSpPr>
            <a:spLocks xmlns:a="http://schemas.openxmlformats.org/drawingml/2006/main" noGrp="1"/>
          </p:cNvSpPr>
          <p:nvPr/>
        </p:nvSpPr>
        <p:spPr>
          <a:xfrm xmlns:a="http://schemas.openxmlformats.org/drawingml/2006/main">
            <a:off x="571500" y="3409950"/>
            <a:ext cx="11010900" cy="0"/>
          </a:xfrm>
          <a:prstGeom xmlns:a="http://schemas.openxmlformats.org/drawingml/2006/main" prst="line">
            <a:avLst/>
          </a:prstGeom>
          <a:noFill xmlns:a="http://schemas.openxmlformats.org/drawingml/2006/main"/>
          <a:ln xmlns:a="http://schemas.openxmlformats.org/drawingml/2006/main" w="9525">
            <a:solidFill>
              <a:srgbClr val="DDE3EA"/>
            </a:solidFill>
            <a:prstDash val="solid"/>
          </a:ln>
        </p:spPr>
      </p:sp>
      <p:sp>
        <p:nvSpPr>
          <p:cNvPr id="13" name="">
            <a:extLst xmlns:a="http://schemas.openxmlformats.org/drawingml/2006/main">
              <a:ext uri="{FF2B5EF4-FFF2-40B4-BE49-F238E27FC236}">
                <a16:creationId xmlns:a16="http://schemas.microsoft.com/office/drawing/2014/main" id="{71ED7CAD-FE2D-40F7-A0B4-79898C58D33D}"/>
              </a:ext>
            </a:extLst>
          </p:cNvPr>
          <p:cNvSpPr>
            <a:spLocks xmlns:a="http://schemas.openxmlformats.org/drawingml/2006/main" noGrp="1"/>
          </p:cNvSpPr>
          <p:nvPr/>
        </p:nvSpPr>
        <p:spPr>
          <a:xfrm xmlns:a="http://schemas.openxmlformats.org/drawingml/2006/main">
            <a:off x="571500" y="3752850"/>
            <a:ext cx="628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75" b="1">
                <a:solidFill>
                  <a:srgbClr val="275CBA"/>
                </a:solidFill>
                <a:latin typeface="Aptos"/>
                <a:ea typeface="Aptos"/>
                <a:cs typeface="Aptos"/>
              </a:defRPr>
            </a:pPr>
            <a:r>
              <a:rPr sz="3375" b="1">
                <a:solidFill>
                  <a:srgbClr val="275CBA"/>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EF945D50-D824-49B3-ADFF-7686BA3F5F0F}"/>
              </a:ext>
            </a:extLst>
          </p:cNvPr>
          <p:cNvSpPr>
            <a:spLocks xmlns:a="http://schemas.openxmlformats.org/drawingml/2006/main" noGrp="1"/>
          </p:cNvSpPr>
          <p:nvPr/>
        </p:nvSpPr>
        <p:spPr>
          <a:xfrm xmlns:a="http://schemas.openxmlformats.org/drawingml/2006/main">
            <a:off x="1428750" y="3771900"/>
            <a:ext cx="2552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20252C"/>
                </a:solidFill>
                <a:latin typeface="Aptos"/>
                <a:ea typeface="Aptos"/>
                <a:cs typeface="Aptos"/>
              </a:defRPr>
            </a:pPr>
            <a:r>
              <a:rPr sz="1950" b="1">
                <a:solidFill>
                  <a:srgbClr val="20252C"/>
                </a:solidFill>
                <a:latin typeface="Aptos"/>
                <a:ea typeface="Aptos"/>
                <a:cs typeface="Aptos"/>
              </a:rPr>
              <a:t>Compara</a:t>
            </a:r>
          </a:p>
        </p:txBody>
      </p:sp>
      <p:sp>
        <p:nvSpPr>
          <p:cNvPr id="15" name="">
            <a:extLst xmlns:a="http://schemas.openxmlformats.org/drawingml/2006/main">
              <a:ext uri="{FF2B5EF4-FFF2-40B4-BE49-F238E27FC236}">
                <a16:creationId xmlns:a16="http://schemas.microsoft.com/office/drawing/2014/main" id="{1E6383EC-881C-4681-9FAD-527A66ABA3F0}"/>
              </a:ext>
            </a:extLst>
          </p:cNvPr>
          <p:cNvSpPr>
            <a:spLocks xmlns:a="http://schemas.openxmlformats.org/drawingml/2006/main" noGrp="1"/>
          </p:cNvSpPr>
          <p:nvPr/>
        </p:nvSpPr>
        <p:spPr>
          <a:xfrm xmlns:a="http://schemas.openxmlformats.org/drawingml/2006/main">
            <a:off x="3981450" y="3810000"/>
            <a:ext cx="6905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0252C"/>
                </a:solidFill>
                <a:latin typeface="Aptos"/>
                <a:ea typeface="Aptos"/>
                <a:cs typeface="Aptos"/>
              </a:defRPr>
            </a:pPr>
            <a:r>
              <a:rPr sz="1650" b="0">
                <a:solidFill>
                  <a:srgbClr val="20252C"/>
                </a:solidFill>
                <a:latin typeface="Aptos"/>
                <a:ea typeface="Aptos"/>
                <a:cs typeface="Aptos"/>
              </a:rPr>
              <a:t>Calcula tiempo, flota, capacidad y costo de dos opciones.</a:t>
            </a:r>
          </a:p>
        </p:txBody>
      </p:sp>
      <p:sp>
        <p:nvSpPr>
          <p:cNvPr id="16" name="">
            <a:extLst xmlns:a="http://schemas.openxmlformats.org/drawingml/2006/main">
              <a:ext uri="{FF2B5EF4-FFF2-40B4-BE49-F238E27FC236}">
                <a16:creationId xmlns:a16="http://schemas.microsoft.com/office/drawing/2014/main" id="{C83E4C86-6337-4793-B192-C85B6AE614F8}"/>
              </a:ext>
            </a:extLst>
          </p:cNvPr>
          <p:cNvSpPr>
            <a:spLocks xmlns:a="http://schemas.openxmlformats.org/drawingml/2006/main" noGrp="1"/>
          </p:cNvSpPr>
          <p:nvPr/>
        </p:nvSpPr>
        <p:spPr>
          <a:xfrm xmlns:a="http://schemas.openxmlformats.org/drawingml/2006/main">
            <a:off x="571500" y="4591050"/>
            <a:ext cx="11010900" cy="0"/>
          </a:xfrm>
          <a:prstGeom xmlns:a="http://schemas.openxmlformats.org/drawingml/2006/main" prst="line">
            <a:avLst/>
          </a:prstGeom>
          <a:noFill xmlns:a="http://schemas.openxmlformats.org/drawingml/2006/main"/>
          <a:ln xmlns:a="http://schemas.openxmlformats.org/drawingml/2006/main" w="9525">
            <a:solidFill>
              <a:srgbClr val="DDE3EA"/>
            </a:solidFill>
            <a:prstDash val="solid"/>
          </a:ln>
        </p:spPr>
      </p:sp>
      <p:sp>
        <p:nvSpPr>
          <p:cNvPr id="17" name="">
            <a:extLst xmlns:a="http://schemas.openxmlformats.org/drawingml/2006/main">
              <a:ext uri="{FF2B5EF4-FFF2-40B4-BE49-F238E27FC236}">
                <a16:creationId xmlns:a16="http://schemas.microsoft.com/office/drawing/2014/main" id="{E61C008B-AE5F-4B35-979B-7E5F94EAE487}"/>
              </a:ext>
            </a:extLst>
          </p:cNvPr>
          <p:cNvSpPr>
            <a:spLocks xmlns:a="http://schemas.openxmlformats.org/drawingml/2006/main" noGrp="1"/>
          </p:cNvSpPr>
          <p:nvPr/>
        </p:nvSpPr>
        <p:spPr>
          <a:xfrm xmlns:a="http://schemas.openxmlformats.org/drawingml/2006/main">
            <a:off x="571500" y="4933950"/>
            <a:ext cx="628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75" b="1">
                <a:solidFill>
                  <a:srgbClr val="275CBA"/>
                </a:solidFill>
                <a:latin typeface="Aptos"/>
                <a:ea typeface="Aptos"/>
                <a:cs typeface="Aptos"/>
              </a:defRPr>
            </a:pPr>
            <a:r>
              <a:rPr sz="3375" b="1">
                <a:solidFill>
                  <a:srgbClr val="275CBA"/>
                </a:solidFill>
                <a:latin typeface="Aptos"/>
                <a:ea typeface="Aptos"/>
                <a:cs typeface="Aptos"/>
              </a:rPr>
              <a:t>4</a:t>
            </a:r>
          </a:p>
        </p:txBody>
      </p:sp>
      <p:sp>
        <p:nvSpPr>
          <p:cNvPr id="18" name="">
            <a:extLst xmlns:a="http://schemas.openxmlformats.org/drawingml/2006/main">
              <a:ext uri="{FF2B5EF4-FFF2-40B4-BE49-F238E27FC236}">
                <a16:creationId xmlns:a16="http://schemas.microsoft.com/office/drawing/2014/main" id="{09F0C778-470D-4A0B-9CA1-D5CE6526409B}"/>
              </a:ext>
            </a:extLst>
          </p:cNvPr>
          <p:cNvSpPr>
            <a:spLocks xmlns:a="http://schemas.openxmlformats.org/drawingml/2006/main" noGrp="1"/>
          </p:cNvSpPr>
          <p:nvPr/>
        </p:nvSpPr>
        <p:spPr>
          <a:xfrm xmlns:a="http://schemas.openxmlformats.org/drawingml/2006/main">
            <a:off x="1428750" y="4953000"/>
            <a:ext cx="2552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20252C"/>
                </a:solidFill>
                <a:latin typeface="Aptos"/>
                <a:ea typeface="Aptos"/>
                <a:cs typeface="Aptos"/>
              </a:defRPr>
            </a:pPr>
            <a:r>
              <a:rPr sz="1950" b="1">
                <a:solidFill>
                  <a:srgbClr val="20252C"/>
                </a:solidFill>
                <a:latin typeface="Aptos"/>
                <a:ea typeface="Aptos"/>
                <a:cs typeface="Aptos"/>
              </a:rPr>
              <a:t>Verifica</a:t>
            </a:r>
          </a:p>
        </p:txBody>
      </p:sp>
      <p:sp>
        <p:nvSpPr>
          <p:cNvPr id="19" name="">
            <a:extLst xmlns:a="http://schemas.openxmlformats.org/drawingml/2006/main">
              <a:ext uri="{FF2B5EF4-FFF2-40B4-BE49-F238E27FC236}">
                <a16:creationId xmlns:a16="http://schemas.microsoft.com/office/drawing/2014/main" id="{E483BB8E-5423-4E75-B5D3-6F743997DCEF}"/>
              </a:ext>
            </a:extLst>
          </p:cNvPr>
          <p:cNvSpPr>
            <a:spLocks xmlns:a="http://schemas.openxmlformats.org/drawingml/2006/main" noGrp="1"/>
          </p:cNvSpPr>
          <p:nvPr/>
        </p:nvSpPr>
        <p:spPr>
          <a:xfrm xmlns:a="http://schemas.openxmlformats.org/drawingml/2006/main">
            <a:off x="3981450" y="4991100"/>
            <a:ext cx="6905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0252C"/>
                </a:solidFill>
                <a:latin typeface="Aptos"/>
                <a:ea typeface="Aptos"/>
                <a:cs typeface="Aptos"/>
              </a:defRPr>
            </a:pPr>
            <a:r>
              <a:rPr sz="1650" b="0">
                <a:solidFill>
                  <a:srgbClr val="20252C"/>
                </a:solidFill>
                <a:latin typeface="Aptos"/>
                <a:ea typeface="Aptos"/>
                <a:cs typeface="Aptos"/>
              </a:rPr>
              <a:t>Lleva la mejor candidata a revisión y medición de campo.</a:t>
            </a:r>
          </a:p>
        </p:txBody>
      </p:sp>
    </p:spTree>
    <p:extLst>
      <p:ext uri="{BB962C8B-B14F-4D97-AF65-F5344CB8AC3E}">
        <p14:creationId xmlns:p14="http://schemas.microsoft.com/office/powerpoint/2010/main" val="564741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95FCF7D-7D97-466C-913D-27D606D2E1ED}"/>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Lo que ve la persona que quiere viajar</a:t>
            </a:r>
          </a:p>
        </p:txBody>
      </p:sp>
      <p:sp>
        <p:nvSpPr>
          <p:cNvPr id="2" name="">
            <a:extLst xmlns:a="http://schemas.openxmlformats.org/drawingml/2006/main">
              <a:ext uri="{FF2B5EF4-FFF2-40B4-BE49-F238E27FC236}">
                <a16:creationId xmlns:a16="http://schemas.microsoft.com/office/drawing/2014/main" id="{34794D8D-01FB-45DA-A1B7-FF42C6E99DD7}"/>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11</a:t>
            </a:r>
          </a:p>
        </p:txBody>
      </p:sp>
      <p:sp>
        <p:nvSpPr>
          <p:cNvPr id="3" name="">
            <a:extLst xmlns:a="http://schemas.openxmlformats.org/drawingml/2006/main">
              <a:ext uri="{FF2B5EF4-FFF2-40B4-BE49-F238E27FC236}">
                <a16:creationId xmlns:a16="http://schemas.microsoft.com/office/drawing/2014/main" id="{EB072A54-B5CF-46CD-801E-91AB265714F5}"/>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0B7DB9C9-259D-4FA1-9236-E73EB35329A5}"/>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90a158388c34552"/>
          <a:stretch xmlns:a="http://schemas.openxmlformats.org/drawingml/2006/main"/>
        </p:blipFill>
        <p:spPr>
          <a:xfrm xmlns:a="http://schemas.openxmlformats.org/drawingml/2006/main">
            <a:off x="839152" y="1381125"/>
            <a:ext cx="7056120" cy="44100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E4138BE-1E8C-4175-A78B-1751252A7B11}"/>
              </a:ext>
            </a:extLst>
          </p:cNvPr>
          <p:cNvSpPr>
            <a:spLocks xmlns:a="http://schemas.openxmlformats.org/drawingml/2006/main" noGrp="1"/>
          </p:cNvSpPr>
          <p:nvPr/>
        </p:nvSpPr>
        <p:spPr>
          <a:xfrm xmlns:a="http://schemas.openxmlformats.org/drawingml/2006/main">
            <a:off x="8553450" y="1485900"/>
            <a:ext cx="27908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75CBA"/>
                </a:solidFill>
                <a:latin typeface="Aptos"/>
                <a:ea typeface="Aptos"/>
                <a:cs typeface="Aptos"/>
              </a:defRPr>
            </a:pPr>
            <a:r>
              <a:rPr sz="1125" b="1">
                <a:solidFill>
                  <a:srgbClr val="275CBA"/>
                </a:solidFill>
                <a:latin typeface="Aptos"/>
                <a:ea typeface="Aptos"/>
                <a:cs typeface="Aptos"/>
              </a:rPr>
              <a:t>EN PANTALLA</a:t>
            </a:r>
          </a:p>
        </p:txBody>
      </p:sp>
      <p:sp>
        <p:nvSpPr>
          <p:cNvPr id="7" name="">
            <a:extLst xmlns:a="http://schemas.openxmlformats.org/drawingml/2006/main">
              <a:ext uri="{FF2B5EF4-FFF2-40B4-BE49-F238E27FC236}">
                <a16:creationId xmlns:a16="http://schemas.microsoft.com/office/drawing/2014/main" id="{262DE5B3-983E-4800-B218-28731E813877}"/>
              </a:ext>
            </a:extLst>
          </p:cNvPr>
          <p:cNvSpPr>
            <a:spLocks xmlns:a="http://schemas.openxmlformats.org/drawingml/2006/main" noGrp="1"/>
          </p:cNvSpPr>
          <p:nvPr/>
        </p:nvSpPr>
        <p:spPr>
          <a:xfrm xmlns:a="http://schemas.openxmlformats.org/drawingml/2006/main">
            <a:off x="8553450" y="1857375"/>
            <a:ext cx="2790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Origen y destino</a:t>
            </a:r>
          </a:p>
        </p:txBody>
      </p:sp>
      <p:sp>
        <p:nvSpPr>
          <p:cNvPr id="8" name="">
            <a:extLst xmlns:a="http://schemas.openxmlformats.org/drawingml/2006/main">
              <a:ext uri="{FF2B5EF4-FFF2-40B4-BE49-F238E27FC236}">
                <a16:creationId xmlns:a16="http://schemas.microsoft.com/office/drawing/2014/main" id="{9EE8B0E0-26CA-498C-ABF9-C06FBFC1A12B}"/>
              </a:ext>
            </a:extLst>
          </p:cNvPr>
          <p:cNvSpPr>
            <a:spLocks xmlns:a="http://schemas.openxmlformats.org/drawingml/2006/main" noGrp="1"/>
          </p:cNvSpPr>
          <p:nvPr/>
        </p:nvSpPr>
        <p:spPr>
          <a:xfrm xmlns:a="http://schemas.openxmlformats.org/drawingml/2006/main">
            <a:off x="8553450" y="2571750"/>
            <a:ext cx="2790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Hora de salida</a:t>
            </a:r>
          </a:p>
        </p:txBody>
      </p:sp>
      <p:sp>
        <p:nvSpPr>
          <p:cNvPr id="9" name="">
            <a:extLst xmlns:a="http://schemas.openxmlformats.org/drawingml/2006/main">
              <a:ext uri="{FF2B5EF4-FFF2-40B4-BE49-F238E27FC236}">
                <a16:creationId xmlns:a16="http://schemas.microsoft.com/office/drawing/2014/main" id="{ABE7F8D8-47CE-4CFE-9A42-F990C5BF4C24}"/>
              </a:ext>
            </a:extLst>
          </p:cNvPr>
          <p:cNvSpPr>
            <a:spLocks xmlns:a="http://schemas.openxmlformats.org/drawingml/2006/main" noGrp="1"/>
          </p:cNvSpPr>
          <p:nvPr/>
        </p:nvSpPr>
        <p:spPr>
          <a:xfrm xmlns:a="http://schemas.openxmlformats.org/drawingml/2006/main">
            <a:off x="8553450" y="3286125"/>
            <a:ext cx="27908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Preferencia de viaje</a:t>
            </a:r>
          </a:p>
        </p:txBody>
      </p:sp>
      <p:sp>
        <p:nvSpPr>
          <p:cNvPr id="10" name="">
            <a:extLst xmlns:a="http://schemas.openxmlformats.org/drawingml/2006/main">
              <a:ext uri="{FF2B5EF4-FFF2-40B4-BE49-F238E27FC236}">
                <a16:creationId xmlns:a16="http://schemas.microsoft.com/office/drawing/2014/main" id="{91E59B03-2FD7-4E8D-BA29-42EED1C04820}"/>
              </a:ext>
            </a:extLst>
          </p:cNvPr>
          <p:cNvSpPr>
            <a:spLocks xmlns:a="http://schemas.openxmlformats.org/drawingml/2006/main" noGrp="1"/>
          </p:cNvSpPr>
          <p:nvPr/>
        </p:nvSpPr>
        <p:spPr>
          <a:xfrm xmlns:a="http://schemas.openxmlformats.org/drawingml/2006/main">
            <a:off x="8553450" y="4210050"/>
            <a:ext cx="270510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11" name="">
            <a:extLst xmlns:a="http://schemas.openxmlformats.org/drawingml/2006/main">
              <a:ext uri="{FF2B5EF4-FFF2-40B4-BE49-F238E27FC236}">
                <a16:creationId xmlns:a16="http://schemas.microsoft.com/office/drawing/2014/main" id="{ABF9BC3B-4202-4314-9E71-2E20D890F422}"/>
              </a:ext>
            </a:extLst>
          </p:cNvPr>
          <p:cNvSpPr>
            <a:spLocks xmlns:a="http://schemas.openxmlformats.org/drawingml/2006/main" noGrp="1"/>
          </p:cNvSpPr>
          <p:nvPr/>
        </p:nvSpPr>
        <p:spPr>
          <a:xfrm xmlns:a="http://schemas.openxmlformats.org/drawingml/2006/main">
            <a:off x="8553450" y="4495800"/>
            <a:ext cx="2714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El objetivo es mostrar recorridos entendibles y el tiempo completo, incluida la caminata.</a:t>
            </a:r>
          </a:p>
        </p:txBody>
      </p:sp>
      <p:sp>
        <p:nvSpPr>
          <p:cNvPr id="12" name="">
            <a:extLst xmlns:a="http://schemas.openxmlformats.org/drawingml/2006/main">
              <a:ext uri="{FF2B5EF4-FFF2-40B4-BE49-F238E27FC236}">
                <a16:creationId xmlns:a16="http://schemas.microsoft.com/office/drawing/2014/main" id="{C50F09C7-7101-4A51-B9C1-1B116F072283}"/>
              </a:ext>
            </a:extLst>
          </p:cNvPr>
          <p:cNvSpPr>
            <a:spLocks xmlns:a="http://schemas.openxmlformats.org/drawingml/2006/main" noGrp="1"/>
          </p:cNvSpPr>
          <p:nvPr/>
        </p:nvSpPr>
        <p:spPr>
          <a:xfrm xmlns:a="http://schemas.openxmlformats.org/drawingml/2006/main">
            <a:off x="571500" y="6210300"/>
            <a:ext cx="11001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5B6572"/>
                </a:solidFill>
                <a:latin typeface="Aptos"/>
                <a:ea typeface="Aptos"/>
                <a:cs typeface="Aptos"/>
              </a:defRPr>
            </a:pPr>
            <a:r>
              <a:rPr sz="975" b="0">
                <a:solidFill>
                  <a:srgbClr val="5B6572"/>
                </a:solidFill>
                <a:latin typeface="Aptos"/>
                <a:ea typeface="Aptos"/>
                <a:cs typeface="Aptos"/>
              </a:rPr>
              <a:t>Referencia [5]: interfaz pública de Puriy.</a:t>
            </a:r>
          </a:p>
        </p:txBody>
      </p:sp>
    </p:spTree>
    <p:extLst>
      <p:ext uri="{BB962C8B-B14F-4D97-AF65-F5344CB8AC3E}">
        <p14:creationId xmlns:p14="http://schemas.microsoft.com/office/powerpoint/2010/main" val="29608107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0BEBBD7-4C0D-4697-8878-3FFCE3CAA60B}"/>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El mapa de rutas: lo que funciona hoy</a:t>
            </a:r>
          </a:p>
        </p:txBody>
      </p:sp>
      <p:sp>
        <p:nvSpPr>
          <p:cNvPr id="2" name="">
            <a:extLst xmlns:a="http://schemas.openxmlformats.org/drawingml/2006/main">
              <a:ext uri="{FF2B5EF4-FFF2-40B4-BE49-F238E27FC236}">
                <a16:creationId xmlns:a16="http://schemas.microsoft.com/office/drawing/2014/main" id="{65F44F34-C326-425F-83D1-EDC45D7500F4}"/>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12</a:t>
            </a:r>
          </a:p>
        </p:txBody>
      </p:sp>
      <p:sp>
        <p:nvSpPr>
          <p:cNvPr id="3" name="">
            <a:extLst xmlns:a="http://schemas.openxmlformats.org/drawingml/2006/main">
              <a:ext uri="{FF2B5EF4-FFF2-40B4-BE49-F238E27FC236}">
                <a16:creationId xmlns:a16="http://schemas.microsoft.com/office/drawing/2014/main" id="{FD5A47A9-C895-425D-BB63-058AF58E1087}"/>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06559A09-9024-4954-915E-534F44E67DFC}"/>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f4b9f6342b54bc6"/>
          <a:stretch xmlns:a="http://schemas.openxmlformats.org/drawingml/2006/main"/>
        </p:blipFill>
        <p:spPr>
          <a:xfrm xmlns:a="http://schemas.openxmlformats.org/drawingml/2006/main">
            <a:off x="894397" y="1343025"/>
            <a:ext cx="6888480" cy="43053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3772BDD-ED56-43F1-8DE9-DFEBC4784AE5}"/>
              </a:ext>
            </a:extLst>
          </p:cNvPr>
          <p:cNvSpPr>
            <a:spLocks xmlns:a="http://schemas.openxmlformats.org/drawingml/2006/main" noGrp="1"/>
          </p:cNvSpPr>
          <p:nvPr/>
        </p:nvSpPr>
        <p:spPr>
          <a:xfrm xmlns:a="http://schemas.openxmlformats.org/drawingml/2006/main">
            <a:off x="8420100" y="14287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75CBA"/>
                </a:solidFill>
                <a:latin typeface="Aptos"/>
                <a:ea typeface="Aptos"/>
                <a:cs typeface="Aptos"/>
              </a:defRPr>
            </a:pPr>
            <a:r>
              <a:rPr sz="1125" b="1">
                <a:solidFill>
                  <a:srgbClr val="275CBA"/>
                </a:solidFill>
                <a:latin typeface="Aptos"/>
                <a:ea typeface="Aptos"/>
                <a:cs typeface="Aptos"/>
              </a:rPr>
              <a:t>LECTURA HONESTA DEL PROTOTIPO</a:t>
            </a:r>
          </a:p>
        </p:txBody>
      </p:sp>
      <p:sp>
        <p:nvSpPr>
          <p:cNvPr id="7" name="">
            <a:extLst xmlns:a="http://schemas.openxmlformats.org/drawingml/2006/main">
              <a:ext uri="{FF2B5EF4-FFF2-40B4-BE49-F238E27FC236}">
                <a16:creationId xmlns:a16="http://schemas.microsoft.com/office/drawing/2014/main" id="{5E0C893E-1DB7-472A-B88E-F16CC4E8943C}"/>
              </a:ext>
            </a:extLst>
          </p:cNvPr>
          <p:cNvSpPr>
            <a:spLocks xmlns:a="http://schemas.openxmlformats.org/drawingml/2006/main" noGrp="1"/>
          </p:cNvSpPr>
          <p:nvPr/>
        </p:nvSpPr>
        <p:spPr>
          <a:xfrm xmlns:a="http://schemas.openxmlformats.org/drawingml/2006/main">
            <a:off x="8420100" y="1876425"/>
            <a:ext cx="2971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20252C"/>
                </a:solidFill>
                <a:latin typeface="Aptos"/>
                <a:ea typeface="Aptos"/>
                <a:cs typeface="Aptos"/>
              </a:defRPr>
            </a:pPr>
            <a:r>
              <a:rPr sz="1725" b="1">
                <a:solidFill>
                  <a:srgbClr val="20252C"/>
                </a:solidFill>
                <a:latin typeface="Aptos"/>
                <a:ea typeface="Aptos"/>
                <a:cs typeface="Aptos"/>
              </a:rPr>
              <a:t>La página muestra un recorrido de prueba con su trazo y ficha.</a:t>
            </a:r>
          </a:p>
        </p:txBody>
      </p:sp>
      <p:sp>
        <p:nvSpPr>
          <p:cNvPr id="8" name="">
            <a:extLst xmlns:a="http://schemas.openxmlformats.org/drawingml/2006/main">
              <a:ext uri="{FF2B5EF4-FFF2-40B4-BE49-F238E27FC236}">
                <a16:creationId xmlns:a16="http://schemas.microsoft.com/office/drawing/2014/main" id="{3A0B093B-5A3E-43A1-B3D9-893609B9017D}"/>
              </a:ext>
            </a:extLst>
          </p:cNvPr>
          <p:cNvSpPr>
            <a:spLocks xmlns:a="http://schemas.openxmlformats.org/drawingml/2006/main" noGrp="1"/>
          </p:cNvSpPr>
          <p:nvPr/>
        </p:nvSpPr>
        <p:spPr>
          <a:xfrm xmlns:a="http://schemas.openxmlformats.org/drawingml/2006/main">
            <a:off x="8420100" y="3152775"/>
            <a:ext cx="2971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A9373D"/>
                </a:solidFill>
                <a:latin typeface="Aptos"/>
                <a:ea typeface="Aptos"/>
                <a:cs typeface="Aptos"/>
              </a:defRPr>
            </a:pPr>
            <a:r>
              <a:rPr sz="1575" b="0">
                <a:solidFill>
                  <a:srgbClr val="A9373D"/>
                </a:solidFill>
                <a:latin typeface="Aptos"/>
                <a:ea typeface="Aptos"/>
                <a:cs typeface="Aptos"/>
              </a:rPr>
              <a:t>Todavía no hay una red pública de 40 líneas comprobadas ni paraderos verificados para esta ruta.</a:t>
            </a:r>
          </a:p>
        </p:txBody>
      </p:sp>
      <p:sp>
        <p:nvSpPr>
          <p:cNvPr id="9" name="">
            <a:extLst xmlns:a="http://schemas.openxmlformats.org/drawingml/2006/main">
              <a:ext uri="{FF2B5EF4-FFF2-40B4-BE49-F238E27FC236}">
                <a16:creationId xmlns:a16="http://schemas.microsoft.com/office/drawing/2014/main" id="{39968B85-2A73-4B0B-8F47-16A1D1D9C85D}"/>
              </a:ext>
            </a:extLst>
          </p:cNvPr>
          <p:cNvSpPr>
            <a:spLocks xmlns:a="http://schemas.openxmlformats.org/drawingml/2006/main" noGrp="1"/>
          </p:cNvSpPr>
          <p:nvPr/>
        </p:nvSpPr>
        <p:spPr>
          <a:xfrm xmlns:a="http://schemas.openxmlformats.org/drawingml/2006/main">
            <a:off x="8420100" y="4743450"/>
            <a:ext cx="2971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El siguiente paso es validar una línea con un operador y publicar sus datos revisados.</a:t>
            </a:r>
          </a:p>
        </p:txBody>
      </p:sp>
      <p:sp>
        <p:nvSpPr>
          <p:cNvPr id="10" name="">
            <a:extLst xmlns:a="http://schemas.openxmlformats.org/drawingml/2006/main">
              <a:ext uri="{FF2B5EF4-FFF2-40B4-BE49-F238E27FC236}">
                <a16:creationId xmlns:a16="http://schemas.microsoft.com/office/drawing/2014/main" id="{310459A3-E02C-4627-B519-43469409C4E5}"/>
              </a:ext>
            </a:extLst>
          </p:cNvPr>
          <p:cNvSpPr>
            <a:spLocks xmlns:a="http://schemas.openxmlformats.org/drawingml/2006/main" noGrp="1"/>
          </p:cNvSpPr>
          <p:nvPr/>
        </p:nvSpPr>
        <p:spPr>
          <a:xfrm xmlns:a="http://schemas.openxmlformats.org/drawingml/2006/main">
            <a:off x="571500" y="6210300"/>
            <a:ext cx="11001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5B6572"/>
                </a:solidFill>
                <a:latin typeface="Aptos"/>
                <a:ea typeface="Aptos"/>
                <a:cs typeface="Aptos"/>
              </a:defRPr>
            </a:pPr>
            <a:r>
              <a:rPr sz="975" b="0">
                <a:solidFill>
                  <a:srgbClr val="5B6572"/>
                </a:solidFill>
                <a:latin typeface="Aptos"/>
                <a:ea typeface="Aptos"/>
                <a:cs typeface="Aptos"/>
              </a:rPr>
              <a:t>Referencia [5]: red pública del prototipo Puriy.</a:t>
            </a:r>
          </a:p>
        </p:txBody>
      </p:sp>
    </p:spTree>
    <p:extLst>
      <p:ext uri="{BB962C8B-B14F-4D97-AF65-F5344CB8AC3E}">
        <p14:creationId xmlns:p14="http://schemas.microsoft.com/office/powerpoint/2010/main" val="10974238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ED48928-9459-4014-910F-3FB961CDC5A1}"/>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Por qué la micro más rápida puede no ser la mejor</a:t>
            </a:r>
          </a:p>
        </p:txBody>
      </p:sp>
      <p:sp>
        <p:nvSpPr>
          <p:cNvPr id="2" name="">
            <a:extLst xmlns:a="http://schemas.openxmlformats.org/drawingml/2006/main">
              <a:ext uri="{FF2B5EF4-FFF2-40B4-BE49-F238E27FC236}">
                <a16:creationId xmlns:a16="http://schemas.microsoft.com/office/drawing/2014/main" id="{E082B81E-9D34-4705-BF89-376730CBAC78}"/>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13</a:t>
            </a:r>
          </a:p>
        </p:txBody>
      </p:sp>
      <p:sp>
        <p:nvSpPr>
          <p:cNvPr id="3" name="">
            <a:extLst xmlns:a="http://schemas.openxmlformats.org/drawingml/2006/main">
              <a:ext uri="{FF2B5EF4-FFF2-40B4-BE49-F238E27FC236}">
                <a16:creationId xmlns:a16="http://schemas.microsoft.com/office/drawing/2014/main" id="{3FB13E1B-9FFD-41C3-994F-3D4991BB1321}"/>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A00EAD9C-9DA7-4E44-BF71-2305C951408D}"/>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
            <a:extLst xmlns:a="http://schemas.openxmlformats.org/drawingml/2006/main">
              <a:ext uri="{FF2B5EF4-FFF2-40B4-BE49-F238E27FC236}">
                <a16:creationId xmlns:a16="http://schemas.microsoft.com/office/drawing/2014/main" id="{730768FA-A9FD-41EE-A49E-D09E0A0B0838}"/>
              </a:ext>
            </a:extLst>
          </p:cNvPr>
          <p:cNvSpPr>
            <a:spLocks xmlns:a="http://schemas.openxmlformats.org/drawingml/2006/main" noGrp="1"/>
          </p:cNvSpPr>
          <p:nvPr/>
        </p:nvSpPr>
        <p:spPr>
          <a:xfrm xmlns:a="http://schemas.openxmlformats.org/drawingml/2006/main">
            <a:off x="571500" y="12858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75CBA"/>
                </a:solidFill>
                <a:latin typeface="Aptos"/>
                <a:ea typeface="Aptos"/>
                <a:cs typeface="Aptos"/>
              </a:defRPr>
            </a:pPr>
            <a:r>
              <a:rPr sz="1125" b="1">
                <a:solidFill>
                  <a:srgbClr val="275CBA"/>
                </a:solidFill>
                <a:latin typeface="Aptos"/>
                <a:ea typeface="Aptos"/>
                <a:cs typeface="Aptos"/>
              </a:rPr>
              <a:t>DOS OPCIONES DE UN MISMO VIAJE</a:t>
            </a:r>
          </a:p>
        </p:txBody>
      </p:sp>
      <p:sp>
        <p:nvSpPr>
          <p:cNvPr id="6" name="">
            <a:extLst xmlns:a="http://schemas.openxmlformats.org/drawingml/2006/main">
              <a:ext uri="{FF2B5EF4-FFF2-40B4-BE49-F238E27FC236}">
                <a16:creationId xmlns:a16="http://schemas.microsoft.com/office/drawing/2014/main" id="{EA35AFAD-5251-442E-8FA7-498597D75644}"/>
              </a:ext>
            </a:extLst>
          </p:cNvPr>
          <p:cNvSpPr>
            <a:spLocks xmlns:a="http://schemas.openxmlformats.org/drawingml/2006/main" noGrp="1"/>
          </p:cNvSpPr>
          <p:nvPr/>
        </p:nvSpPr>
        <p:spPr>
          <a:xfrm xmlns:a="http://schemas.openxmlformats.org/drawingml/2006/main">
            <a:off x="571500" y="17526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20252C"/>
                </a:solidFill>
                <a:latin typeface="Aptos"/>
                <a:ea typeface="Aptos"/>
                <a:cs typeface="Aptos"/>
              </a:defRPr>
            </a:pPr>
            <a:r>
              <a:rPr sz="2025" b="1">
                <a:solidFill>
                  <a:srgbClr val="20252C"/>
                </a:solidFill>
                <a:latin typeface="Aptos"/>
                <a:ea typeface="Aptos"/>
                <a:cs typeface="Aptos"/>
              </a:rPr>
              <a:t>Ruta A</a:t>
            </a:r>
          </a:p>
        </p:txBody>
      </p:sp>
      <p:sp>
        <p:nvSpPr>
          <p:cNvPr id="7" name="">
            <a:extLst xmlns:a="http://schemas.openxmlformats.org/drawingml/2006/main">
              <a:ext uri="{FF2B5EF4-FFF2-40B4-BE49-F238E27FC236}">
                <a16:creationId xmlns:a16="http://schemas.microsoft.com/office/drawing/2014/main" id="{51654900-B511-49EF-8AAC-B5564782F854}"/>
              </a:ext>
            </a:extLst>
          </p:cNvPr>
          <p:cNvSpPr>
            <a:spLocks xmlns:a="http://schemas.openxmlformats.org/drawingml/2006/main" noGrp="1"/>
          </p:cNvSpPr>
          <p:nvPr/>
        </p:nvSpPr>
        <p:spPr>
          <a:xfrm xmlns:a="http://schemas.openxmlformats.org/drawingml/2006/main">
            <a:off x="571500" y="2209800"/>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275CBA"/>
                </a:solidFill>
                <a:latin typeface="Aptos"/>
                <a:ea typeface="Aptos"/>
                <a:cs typeface="Aptos"/>
              </a:defRPr>
            </a:pPr>
            <a:r>
              <a:rPr sz="3525" b="1">
                <a:solidFill>
                  <a:srgbClr val="275CBA"/>
                </a:solidFill>
                <a:latin typeface="Aptos"/>
                <a:ea typeface="Aptos"/>
                <a:cs typeface="Aptos"/>
              </a:rPr>
              <a:t>35 min</a:t>
            </a:r>
          </a:p>
        </p:txBody>
      </p:sp>
      <p:sp>
        <p:nvSpPr>
          <p:cNvPr id="8" name="">
            <a:extLst xmlns:a="http://schemas.openxmlformats.org/drawingml/2006/main">
              <a:ext uri="{FF2B5EF4-FFF2-40B4-BE49-F238E27FC236}">
                <a16:creationId xmlns:a16="http://schemas.microsoft.com/office/drawing/2014/main" id="{9E177CDA-A572-4740-8260-6FC27E571C78}"/>
              </a:ext>
            </a:extLst>
          </p:cNvPr>
          <p:cNvSpPr>
            <a:spLocks xmlns:a="http://schemas.openxmlformats.org/drawingml/2006/main" noGrp="1"/>
          </p:cNvSpPr>
          <p:nvPr/>
        </p:nvSpPr>
        <p:spPr>
          <a:xfrm xmlns:a="http://schemas.openxmlformats.org/drawingml/2006/main">
            <a:off x="571500" y="2952750"/>
            <a:ext cx="5048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0252C"/>
                </a:solidFill>
                <a:latin typeface="Aptos"/>
                <a:ea typeface="Aptos"/>
                <a:cs typeface="Aptos"/>
              </a:defRPr>
            </a:pPr>
            <a:r>
              <a:rPr sz="1500" b="0">
                <a:solidFill>
                  <a:srgbClr val="20252C"/>
                </a:solidFill>
                <a:latin typeface="Aptos"/>
                <a:ea typeface="Aptos"/>
                <a:cs typeface="Aptos"/>
              </a:rPr>
              <a:t>5 caminando + 7 esperando + 18 a bordo + 5 finales</a:t>
            </a:r>
          </a:p>
        </p:txBody>
      </p:sp>
      <p:sp>
        <p:nvSpPr>
          <p:cNvPr id="9" name="">
            <a:extLst xmlns:a="http://schemas.openxmlformats.org/drawingml/2006/main">
              <a:ext uri="{FF2B5EF4-FFF2-40B4-BE49-F238E27FC236}">
                <a16:creationId xmlns:a16="http://schemas.microsoft.com/office/drawing/2014/main" id="{EB99389B-156C-47A1-AC10-88909BED45E0}"/>
              </a:ext>
            </a:extLst>
          </p:cNvPr>
          <p:cNvSpPr>
            <a:spLocks xmlns:a="http://schemas.openxmlformats.org/drawingml/2006/main" noGrp="1"/>
          </p:cNvSpPr>
          <p:nvPr/>
        </p:nvSpPr>
        <p:spPr>
          <a:xfrm xmlns:a="http://schemas.openxmlformats.org/drawingml/2006/main">
            <a:off x="6000750" y="1724025"/>
            <a:ext cx="19050" cy="2390775"/>
          </a:xfrm>
          <a:prstGeom xmlns:a="http://schemas.openxmlformats.org/drawingml/2006/main" prst="rect">
            <a:avLst/>
          </a:prstGeom>
          <a:solidFill xmlns:a="http://schemas.openxmlformats.org/drawingml/2006/main">
            <a:srgbClr val="DDE3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72B2428-B875-44D6-A587-41A9FFB21AD9}"/>
              </a:ext>
            </a:extLst>
          </p:cNvPr>
          <p:cNvSpPr>
            <a:spLocks xmlns:a="http://schemas.openxmlformats.org/drawingml/2006/main" noGrp="1"/>
          </p:cNvSpPr>
          <p:nvPr/>
        </p:nvSpPr>
        <p:spPr>
          <a:xfrm xmlns:a="http://schemas.openxmlformats.org/drawingml/2006/main">
            <a:off x="6486525" y="17526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20252C"/>
                </a:solidFill>
                <a:latin typeface="Aptos"/>
                <a:ea typeface="Aptos"/>
                <a:cs typeface="Aptos"/>
              </a:defRPr>
            </a:pPr>
            <a:r>
              <a:rPr sz="2025" b="1">
                <a:solidFill>
                  <a:srgbClr val="20252C"/>
                </a:solidFill>
                <a:latin typeface="Aptos"/>
                <a:ea typeface="Aptos"/>
                <a:cs typeface="Aptos"/>
              </a:rPr>
              <a:t>Ruta B</a:t>
            </a:r>
          </a:p>
        </p:txBody>
      </p:sp>
      <p:sp>
        <p:nvSpPr>
          <p:cNvPr id="11" name="">
            <a:extLst xmlns:a="http://schemas.openxmlformats.org/drawingml/2006/main">
              <a:ext uri="{FF2B5EF4-FFF2-40B4-BE49-F238E27FC236}">
                <a16:creationId xmlns:a16="http://schemas.microsoft.com/office/drawing/2014/main" id="{FA57D405-5B43-4CDE-91D2-9B241A498369}"/>
              </a:ext>
            </a:extLst>
          </p:cNvPr>
          <p:cNvSpPr>
            <a:spLocks xmlns:a="http://schemas.openxmlformats.org/drawingml/2006/main" noGrp="1"/>
          </p:cNvSpPr>
          <p:nvPr/>
        </p:nvSpPr>
        <p:spPr>
          <a:xfrm xmlns:a="http://schemas.openxmlformats.org/drawingml/2006/main">
            <a:off x="6486525" y="2209800"/>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167B62"/>
                </a:solidFill>
                <a:latin typeface="Aptos"/>
                <a:ea typeface="Aptos"/>
                <a:cs typeface="Aptos"/>
              </a:defRPr>
            </a:pPr>
            <a:r>
              <a:rPr sz="3525" b="1">
                <a:solidFill>
                  <a:srgbClr val="167B62"/>
                </a:solidFill>
                <a:latin typeface="Aptos"/>
                <a:ea typeface="Aptos"/>
                <a:cs typeface="Aptos"/>
              </a:rPr>
              <a:t>33 min</a:t>
            </a:r>
          </a:p>
        </p:txBody>
      </p:sp>
      <p:sp>
        <p:nvSpPr>
          <p:cNvPr id="12" name="">
            <a:extLst xmlns:a="http://schemas.openxmlformats.org/drawingml/2006/main">
              <a:ext uri="{FF2B5EF4-FFF2-40B4-BE49-F238E27FC236}">
                <a16:creationId xmlns:a16="http://schemas.microsoft.com/office/drawing/2014/main" id="{B04170FA-FD3C-4F6B-9151-74096C2E7D54}"/>
              </a:ext>
            </a:extLst>
          </p:cNvPr>
          <p:cNvSpPr>
            <a:spLocks xmlns:a="http://schemas.openxmlformats.org/drawingml/2006/main" noGrp="1"/>
          </p:cNvSpPr>
          <p:nvPr/>
        </p:nvSpPr>
        <p:spPr>
          <a:xfrm xmlns:a="http://schemas.openxmlformats.org/drawingml/2006/main">
            <a:off x="6486525" y="2952750"/>
            <a:ext cx="4905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0252C"/>
                </a:solidFill>
                <a:latin typeface="Aptos"/>
                <a:ea typeface="Aptos"/>
                <a:cs typeface="Aptos"/>
              </a:defRPr>
            </a:pPr>
            <a:r>
              <a:rPr sz="1500" b="0">
                <a:solidFill>
                  <a:srgbClr val="20252C"/>
                </a:solidFill>
                <a:latin typeface="Aptos"/>
                <a:ea typeface="Aptos"/>
                <a:cs typeface="Aptos"/>
              </a:rPr>
              <a:t>8 caminando + 4 esperando + 15 a bordo + 6 finales</a:t>
            </a:r>
          </a:p>
        </p:txBody>
      </p:sp>
      <p:sp>
        <p:nvSpPr>
          <p:cNvPr id="13" name="">
            <a:extLst xmlns:a="http://schemas.openxmlformats.org/drawingml/2006/main">
              <a:ext uri="{FF2B5EF4-FFF2-40B4-BE49-F238E27FC236}">
                <a16:creationId xmlns:a16="http://schemas.microsoft.com/office/drawing/2014/main" id="{71CB442F-EC56-4CA4-B6A2-7126B309D7C1}"/>
              </a:ext>
            </a:extLst>
          </p:cNvPr>
          <p:cNvSpPr>
            <a:spLocks xmlns:a="http://schemas.openxmlformats.org/drawingml/2006/main" noGrp="1"/>
          </p:cNvSpPr>
          <p:nvPr/>
        </p:nvSpPr>
        <p:spPr>
          <a:xfrm xmlns:a="http://schemas.openxmlformats.org/drawingml/2006/main">
            <a:off x="571500" y="4467225"/>
            <a:ext cx="1101090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14" name="">
            <a:extLst xmlns:a="http://schemas.openxmlformats.org/drawingml/2006/main">
              <a:ext uri="{FF2B5EF4-FFF2-40B4-BE49-F238E27FC236}">
                <a16:creationId xmlns:a16="http://schemas.microsoft.com/office/drawing/2014/main" id="{B0A19D10-FD26-4DFD-AC50-09292DB6042A}"/>
              </a:ext>
            </a:extLst>
          </p:cNvPr>
          <p:cNvSpPr>
            <a:spLocks xmlns:a="http://schemas.openxmlformats.org/drawingml/2006/main" noGrp="1"/>
          </p:cNvSpPr>
          <p:nvPr/>
        </p:nvSpPr>
        <p:spPr>
          <a:xfrm xmlns:a="http://schemas.openxmlformats.org/drawingml/2006/main">
            <a:off x="571500" y="4886325"/>
            <a:ext cx="10810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0252C"/>
                </a:solidFill>
                <a:latin typeface="Aptos"/>
                <a:ea typeface="Aptos"/>
                <a:cs typeface="Aptos"/>
              </a:defRPr>
            </a:pPr>
            <a:r>
              <a:rPr sz="1800" b="1">
                <a:solidFill>
                  <a:srgbClr val="20252C"/>
                </a:solidFill>
                <a:latin typeface="Aptos"/>
                <a:ea typeface="Aptos"/>
                <a:cs typeface="Aptos"/>
              </a:rPr>
              <a:t>La ruta B exige caminar más, pero en este ejemplo llega antes porque reduce espera y tiempo dentro del vehículo.</a:t>
            </a:r>
          </a:p>
        </p:txBody>
      </p:sp>
      <p:sp>
        <p:nvSpPr>
          <p:cNvPr id="15" name="">
            <a:extLst xmlns:a="http://schemas.openxmlformats.org/drawingml/2006/main">
              <a:ext uri="{FF2B5EF4-FFF2-40B4-BE49-F238E27FC236}">
                <a16:creationId xmlns:a16="http://schemas.microsoft.com/office/drawing/2014/main" id="{E010B0C3-202B-4DBF-8D87-7BA7B8AC87AD}"/>
              </a:ext>
            </a:extLst>
          </p:cNvPr>
          <p:cNvSpPr>
            <a:spLocks xmlns:a="http://schemas.openxmlformats.org/drawingml/2006/main" noGrp="1"/>
          </p:cNvSpPr>
          <p:nvPr/>
        </p:nvSpPr>
        <p:spPr>
          <a:xfrm xmlns:a="http://schemas.openxmlformats.org/drawingml/2006/main">
            <a:off x="571500" y="6210300"/>
            <a:ext cx="11001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5B6572"/>
                </a:solidFill>
                <a:latin typeface="Aptos"/>
                <a:ea typeface="Aptos"/>
                <a:cs typeface="Aptos"/>
              </a:defRPr>
            </a:pPr>
            <a:r>
              <a:rPr sz="975" b="0">
                <a:solidFill>
                  <a:srgbClr val="5B6572"/>
                </a:solidFill>
                <a:latin typeface="Aptos"/>
                <a:ea typeface="Aptos"/>
                <a:cs typeface="Aptos"/>
              </a:rPr>
              <a:t>Ejemplo de cálculo creado para explicar el método; no es una medición de Juliaca.</a:t>
            </a:r>
          </a:p>
        </p:txBody>
      </p:sp>
    </p:spTree>
    <p:extLst>
      <p:ext uri="{BB962C8B-B14F-4D97-AF65-F5344CB8AC3E}">
        <p14:creationId xmlns:p14="http://schemas.microsoft.com/office/powerpoint/2010/main" val="18214668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9C446AE-9D84-4689-95EE-1DBF83CD58F2}"/>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Qué compara el laboratorio de movilidad</a:t>
            </a:r>
          </a:p>
        </p:txBody>
      </p:sp>
      <p:sp>
        <p:nvSpPr>
          <p:cNvPr id="2" name="">
            <a:extLst xmlns:a="http://schemas.openxmlformats.org/drawingml/2006/main">
              <a:ext uri="{FF2B5EF4-FFF2-40B4-BE49-F238E27FC236}">
                <a16:creationId xmlns:a16="http://schemas.microsoft.com/office/drawing/2014/main" id="{2C9A6A44-523E-4C41-886A-CA9262B67907}"/>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14</a:t>
            </a:r>
          </a:p>
        </p:txBody>
      </p:sp>
      <p:sp>
        <p:nvSpPr>
          <p:cNvPr id="3" name="">
            <a:extLst xmlns:a="http://schemas.openxmlformats.org/drawingml/2006/main">
              <a:ext uri="{FF2B5EF4-FFF2-40B4-BE49-F238E27FC236}">
                <a16:creationId xmlns:a16="http://schemas.microsoft.com/office/drawing/2014/main" id="{B8030064-9568-4806-9F24-3C00EF56ACB7}"/>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DF3C75D9-6ABE-4B8E-9BCE-5BE5C855BCE8}"/>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
            <a:extLst xmlns:a="http://schemas.openxmlformats.org/drawingml/2006/main">
              <a:ext uri="{FF2B5EF4-FFF2-40B4-BE49-F238E27FC236}">
                <a16:creationId xmlns:a16="http://schemas.microsoft.com/office/drawing/2014/main" id="{FA3CD969-11AA-4FFC-AFEA-2E0E7357F7B5}"/>
              </a:ext>
            </a:extLst>
          </p:cNvPr>
          <p:cNvSpPr>
            <a:spLocks xmlns:a="http://schemas.openxmlformats.org/drawingml/2006/main" noGrp="1"/>
          </p:cNvSpPr>
          <p:nvPr/>
        </p:nvSpPr>
        <p:spPr>
          <a:xfrm xmlns:a="http://schemas.openxmlformats.org/drawingml/2006/main">
            <a:off x="571500" y="1533525"/>
            <a:ext cx="3933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275CBA"/>
                </a:solidFill>
                <a:latin typeface="Aptos"/>
                <a:ea typeface="Aptos"/>
                <a:cs typeface="Aptos"/>
              </a:defRPr>
            </a:pPr>
            <a:r>
              <a:rPr sz="2250" b="1">
                <a:solidFill>
                  <a:srgbClr val="275CBA"/>
                </a:solidFill>
                <a:latin typeface="Aptos"/>
                <a:ea typeface="Aptos"/>
                <a:cs typeface="Aptos"/>
              </a:rPr>
              <a:t>Ruta actual</a:t>
            </a:r>
          </a:p>
        </p:txBody>
      </p:sp>
      <p:sp>
        <p:nvSpPr>
          <p:cNvPr id="6" name="">
            <a:extLst xmlns:a="http://schemas.openxmlformats.org/drawingml/2006/main">
              <a:ext uri="{FF2B5EF4-FFF2-40B4-BE49-F238E27FC236}">
                <a16:creationId xmlns:a16="http://schemas.microsoft.com/office/drawing/2014/main" id="{3ED76E72-2716-4E8E-9E58-00C4CC4650B0}"/>
              </a:ext>
            </a:extLst>
          </p:cNvPr>
          <p:cNvSpPr>
            <a:spLocks xmlns:a="http://schemas.openxmlformats.org/drawingml/2006/main" noGrp="1"/>
          </p:cNvSpPr>
          <p:nvPr/>
        </p:nvSpPr>
        <p:spPr>
          <a:xfrm xmlns:a="http://schemas.openxmlformats.org/drawingml/2006/main">
            <a:off x="6486525" y="1533525"/>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67B62"/>
                </a:solidFill>
                <a:latin typeface="Aptos"/>
                <a:ea typeface="Aptos"/>
                <a:cs typeface="Aptos"/>
              </a:defRPr>
            </a:pPr>
            <a:r>
              <a:rPr sz="2250" b="1">
                <a:solidFill>
                  <a:srgbClr val="167B62"/>
                </a:solidFill>
                <a:latin typeface="Aptos"/>
                <a:ea typeface="Aptos"/>
                <a:cs typeface="Aptos"/>
              </a:rPr>
              <a:t>Ruta propuesta</a:t>
            </a:r>
          </a:p>
        </p:txBody>
      </p:sp>
      <p:sp>
        <p:nvSpPr>
          <p:cNvPr id="7" name="">
            <a:extLst xmlns:a="http://schemas.openxmlformats.org/drawingml/2006/main">
              <a:ext uri="{FF2B5EF4-FFF2-40B4-BE49-F238E27FC236}">
                <a16:creationId xmlns:a16="http://schemas.microsoft.com/office/drawing/2014/main" id="{5938EC80-A519-4A3B-BF7B-66BC7150187A}"/>
              </a:ext>
            </a:extLst>
          </p:cNvPr>
          <p:cNvSpPr>
            <a:spLocks xmlns:a="http://schemas.openxmlformats.org/drawingml/2006/main" noGrp="1"/>
          </p:cNvSpPr>
          <p:nvPr/>
        </p:nvSpPr>
        <p:spPr>
          <a:xfrm xmlns:a="http://schemas.openxmlformats.org/drawingml/2006/main">
            <a:off x="571500" y="2247900"/>
            <a:ext cx="4857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20252C"/>
                </a:solidFill>
                <a:latin typeface="Aptos"/>
                <a:ea typeface="Aptos"/>
                <a:cs typeface="Aptos"/>
              </a:defRPr>
            </a:pPr>
            <a:r>
              <a:rPr sz="1725" b="0">
                <a:solidFill>
                  <a:srgbClr val="20252C"/>
                </a:solidFill>
                <a:latin typeface="Aptos"/>
                <a:ea typeface="Aptos"/>
                <a:cs typeface="Aptos"/>
              </a:rPr>
              <a:t>Recorrido, abordajes, intervalo, flota y tiempos de partida.</a:t>
            </a:r>
          </a:p>
        </p:txBody>
      </p:sp>
      <p:sp>
        <p:nvSpPr>
          <p:cNvPr id="8" name="">
            <a:extLst xmlns:a="http://schemas.openxmlformats.org/drawingml/2006/main">
              <a:ext uri="{FF2B5EF4-FFF2-40B4-BE49-F238E27FC236}">
                <a16:creationId xmlns:a16="http://schemas.microsoft.com/office/drawing/2014/main" id="{EBD0C5F9-8F19-4157-8C02-5D57643AD99F}"/>
              </a:ext>
            </a:extLst>
          </p:cNvPr>
          <p:cNvSpPr>
            <a:spLocks xmlns:a="http://schemas.openxmlformats.org/drawingml/2006/main" noGrp="1"/>
          </p:cNvSpPr>
          <p:nvPr/>
        </p:nvSpPr>
        <p:spPr>
          <a:xfrm xmlns:a="http://schemas.openxmlformats.org/drawingml/2006/main">
            <a:off x="5981700" y="1504950"/>
            <a:ext cx="19050" cy="2438400"/>
          </a:xfrm>
          <a:prstGeom xmlns:a="http://schemas.openxmlformats.org/drawingml/2006/main" prst="rect">
            <a:avLst/>
          </a:prstGeom>
          <a:solidFill xmlns:a="http://schemas.openxmlformats.org/drawingml/2006/main">
            <a:srgbClr val="DDE3E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8E5EED9-768A-4526-BE53-302F21AC09BC}"/>
              </a:ext>
            </a:extLst>
          </p:cNvPr>
          <p:cNvSpPr>
            <a:spLocks xmlns:a="http://schemas.openxmlformats.org/drawingml/2006/main" noGrp="1"/>
          </p:cNvSpPr>
          <p:nvPr/>
        </p:nvSpPr>
        <p:spPr>
          <a:xfrm xmlns:a="http://schemas.openxmlformats.org/drawingml/2006/main">
            <a:off x="6486525" y="2247900"/>
            <a:ext cx="47053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20252C"/>
                </a:solidFill>
                <a:latin typeface="Aptos"/>
                <a:ea typeface="Aptos"/>
                <a:cs typeface="Aptos"/>
              </a:defRPr>
            </a:pPr>
            <a:r>
              <a:rPr sz="1725" b="0">
                <a:solidFill>
                  <a:srgbClr val="20252C"/>
                </a:solidFill>
                <a:latin typeface="Aptos"/>
                <a:ea typeface="Aptos"/>
                <a:cs typeface="Aptos"/>
              </a:rPr>
              <a:t>El mismo servicio con un cambio de trazado, paradas o frecuencia.</a:t>
            </a:r>
          </a:p>
        </p:txBody>
      </p:sp>
      <p:sp>
        <p:nvSpPr>
          <p:cNvPr id="10" name="">
            <a:extLst xmlns:a="http://schemas.openxmlformats.org/drawingml/2006/main">
              <a:ext uri="{FF2B5EF4-FFF2-40B4-BE49-F238E27FC236}">
                <a16:creationId xmlns:a16="http://schemas.microsoft.com/office/drawing/2014/main" id="{2D7504A6-ECBF-47FC-806D-7B4D4AA8106F}"/>
              </a:ext>
            </a:extLst>
          </p:cNvPr>
          <p:cNvSpPr>
            <a:spLocks xmlns:a="http://schemas.openxmlformats.org/drawingml/2006/main" noGrp="1"/>
          </p:cNvSpPr>
          <p:nvPr/>
        </p:nvSpPr>
        <p:spPr>
          <a:xfrm xmlns:a="http://schemas.openxmlformats.org/drawingml/2006/main">
            <a:off x="571500" y="4152900"/>
            <a:ext cx="1101090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11" name="">
            <a:extLst xmlns:a="http://schemas.openxmlformats.org/drawingml/2006/main">
              <a:ext uri="{FF2B5EF4-FFF2-40B4-BE49-F238E27FC236}">
                <a16:creationId xmlns:a16="http://schemas.microsoft.com/office/drawing/2014/main" id="{E3663E37-6DEB-4C34-82FC-E75CE03E5D95}"/>
              </a:ext>
            </a:extLst>
          </p:cNvPr>
          <p:cNvSpPr>
            <a:spLocks xmlns:a="http://schemas.openxmlformats.org/drawingml/2006/main" noGrp="1"/>
          </p:cNvSpPr>
          <p:nvPr/>
        </p:nvSpPr>
        <p:spPr>
          <a:xfrm xmlns:a="http://schemas.openxmlformats.org/drawingml/2006/main">
            <a:off x="571500" y="4476750"/>
            <a:ext cx="10782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20252C"/>
                </a:solidFill>
                <a:latin typeface="Aptos"/>
                <a:ea typeface="Aptos"/>
                <a:cs typeface="Aptos"/>
              </a:defRPr>
            </a:pPr>
            <a:r>
              <a:rPr sz="1650" b="1">
                <a:solidFill>
                  <a:srgbClr val="20252C"/>
                </a:solidFill>
                <a:latin typeface="Aptos"/>
                <a:ea typeface="Aptos"/>
                <a:cs typeface="Aptos"/>
              </a:rPr>
              <a:t>El resultado muestra tres preguntas:</a:t>
            </a:r>
          </a:p>
        </p:txBody>
      </p:sp>
      <p:sp>
        <p:nvSpPr>
          <p:cNvPr id="12" name="">
            <a:extLst xmlns:a="http://schemas.openxmlformats.org/drawingml/2006/main">
              <a:ext uri="{FF2B5EF4-FFF2-40B4-BE49-F238E27FC236}">
                <a16:creationId xmlns:a16="http://schemas.microsoft.com/office/drawing/2014/main" id="{A49C6C7F-239B-4E00-A8F2-3375C308989C}"/>
              </a:ext>
            </a:extLst>
          </p:cNvPr>
          <p:cNvSpPr>
            <a:spLocks xmlns:a="http://schemas.openxmlformats.org/drawingml/2006/main" noGrp="1"/>
          </p:cNvSpPr>
          <p:nvPr/>
        </p:nvSpPr>
        <p:spPr>
          <a:xfrm xmlns:a="http://schemas.openxmlformats.org/drawingml/2006/main">
            <a:off x="571500" y="5057775"/>
            <a:ext cx="107442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75CBA"/>
                </a:solidFill>
                <a:latin typeface="Aptos"/>
                <a:ea typeface="Aptos"/>
                <a:cs typeface="Aptos"/>
              </a:defRPr>
            </a:pPr>
            <a:r>
              <a:rPr sz="1800" b="1">
                <a:solidFill>
                  <a:srgbClr val="275CBA"/>
                </a:solidFill>
                <a:latin typeface="Aptos"/>
                <a:ea typeface="Aptos"/>
                <a:cs typeface="Aptos"/>
              </a:rPr>
              <a:t>¿Quién gana o pierde acceso?    ¿Alcanza la flota?    ¿Qué cambia en tiempo y costo?</a:t>
            </a:r>
          </a:p>
        </p:txBody>
      </p:sp>
      <p:sp>
        <p:nvSpPr>
          <p:cNvPr id="13" name="">
            <a:extLst xmlns:a="http://schemas.openxmlformats.org/drawingml/2006/main">
              <a:ext uri="{FF2B5EF4-FFF2-40B4-BE49-F238E27FC236}">
                <a16:creationId xmlns:a16="http://schemas.microsoft.com/office/drawing/2014/main" id="{3BD11022-CCF2-4255-BD77-54B204C49B0E}"/>
              </a:ext>
            </a:extLst>
          </p:cNvPr>
          <p:cNvSpPr>
            <a:spLocks xmlns:a="http://schemas.openxmlformats.org/drawingml/2006/main" noGrp="1"/>
          </p:cNvSpPr>
          <p:nvPr/>
        </p:nvSpPr>
        <p:spPr>
          <a:xfrm xmlns:a="http://schemas.openxmlformats.org/drawingml/2006/main">
            <a:off x="571500" y="6210300"/>
            <a:ext cx="11001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5B6572"/>
                </a:solidFill>
                <a:latin typeface="Aptos"/>
                <a:ea typeface="Aptos"/>
                <a:cs typeface="Aptos"/>
              </a:defRPr>
            </a:pPr>
            <a:r>
              <a:rPr sz="975" b="0">
                <a:solidFill>
                  <a:srgbClr val="5B6572"/>
                </a:solidFill>
                <a:latin typeface="Aptos"/>
                <a:ea typeface="Aptos"/>
                <a:cs typeface="Aptos"/>
              </a:rPr>
              <a:t>Referencia [5]: laboratorio de movilidad implementado en Puriy.</a:t>
            </a:r>
          </a:p>
        </p:txBody>
      </p:sp>
    </p:spTree>
    <p:extLst>
      <p:ext uri="{BB962C8B-B14F-4D97-AF65-F5344CB8AC3E}">
        <p14:creationId xmlns:p14="http://schemas.microsoft.com/office/powerpoint/2010/main" val="105560797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BB15C6A-29B7-4504-B11A-C621A661D138}"/>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Ejemplo: cuántos micros exige una frecuencia</a:t>
            </a:r>
          </a:p>
        </p:txBody>
      </p:sp>
      <p:sp>
        <p:nvSpPr>
          <p:cNvPr id="2" name="">
            <a:extLst xmlns:a="http://schemas.openxmlformats.org/drawingml/2006/main">
              <a:ext uri="{FF2B5EF4-FFF2-40B4-BE49-F238E27FC236}">
                <a16:creationId xmlns:a16="http://schemas.microsoft.com/office/drawing/2014/main" id="{8BBFE973-B390-4F37-8381-BA74C7F6552F}"/>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15</a:t>
            </a:r>
          </a:p>
        </p:txBody>
      </p:sp>
      <p:sp>
        <p:nvSpPr>
          <p:cNvPr id="3" name="">
            <a:extLst xmlns:a="http://schemas.openxmlformats.org/drawingml/2006/main">
              <a:ext uri="{FF2B5EF4-FFF2-40B4-BE49-F238E27FC236}">
                <a16:creationId xmlns:a16="http://schemas.microsoft.com/office/drawing/2014/main" id="{31F8898D-A297-49FE-A009-7FF64EA93D47}"/>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BF31417F-E535-4D2E-8093-D3CAE7806229}"/>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
            <a:extLst xmlns:a="http://schemas.openxmlformats.org/drawingml/2006/main">
              <a:ext uri="{FF2B5EF4-FFF2-40B4-BE49-F238E27FC236}">
                <a16:creationId xmlns:a16="http://schemas.microsoft.com/office/drawing/2014/main" id="{1BFE36C3-319A-4279-8C1A-E8526D32725A}"/>
              </a:ext>
            </a:extLst>
          </p:cNvPr>
          <p:cNvSpPr>
            <a:spLocks xmlns:a="http://schemas.openxmlformats.org/drawingml/2006/main" noGrp="1"/>
          </p:cNvSpPr>
          <p:nvPr/>
        </p:nvSpPr>
        <p:spPr>
          <a:xfrm xmlns:a="http://schemas.openxmlformats.org/drawingml/2006/main">
            <a:off x="571500" y="12858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75CBA"/>
                </a:solidFill>
                <a:latin typeface="Aptos"/>
                <a:ea typeface="Aptos"/>
                <a:cs typeface="Aptos"/>
              </a:defRPr>
            </a:pPr>
            <a:r>
              <a:rPr sz="1125" b="1">
                <a:solidFill>
                  <a:srgbClr val="275CBA"/>
                </a:solidFill>
                <a:latin typeface="Aptos"/>
                <a:ea typeface="Aptos"/>
                <a:cs typeface="Aptos"/>
              </a:rPr>
              <a:t>VALORES PARA ENTENDER EL CÁLCULO</a:t>
            </a:r>
          </a:p>
        </p:txBody>
      </p:sp>
      <p:sp>
        <p:nvSpPr>
          <p:cNvPr id="6" name="">
            <a:extLst xmlns:a="http://schemas.openxmlformats.org/drawingml/2006/main">
              <a:ext uri="{FF2B5EF4-FFF2-40B4-BE49-F238E27FC236}">
                <a16:creationId xmlns:a16="http://schemas.microsoft.com/office/drawing/2014/main" id="{AA2DD3FA-B79B-4673-A0C7-C19524F7AD15}"/>
              </a:ext>
            </a:extLst>
          </p:cNvPr>
          <p:cNvSpPr>
            <a:spLocks xmlns:a="http://schemas.openxmlformats.org/drawingml/2006/main" noGrp="1"/>
          </p:cNvSpPr>
          <p:nvPr/>
        </p:nvSpPr>
        <p:spPr>
          <a:xfrm xmlns:a="http://schemas.openxmlformats.org/drawingml/2006/main">
            <a:off x="571500" y="1743075"/>
            <a:ext cx="9763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20252C"/>
                </a:solidFill>
                <a:latin typeface="Aptos"/>
                <a:ea typeface="Aptos"/>
                <a:cs typeface="Aptos"/>
              </a:defRPr>
            </a:pPr>
            <a:r>
              <a:rPr sz="2100" b="1">
                <a:solidFill>
                  <a:srgbClr val="20252C"/>
                </a:solidFill>
                <a:latin typeface="Aptos"/>
                <a:ea typeface="Aptos"/>
                <a:cs typeface="Aptos"/>
              </a:rPr>
              <a:t>13 km de ida y vuelta a 15 km/h</a:t>
            </a:r>
          </a:p>
        </p:txBody>
      </p:sp>
      <p:sp>
        <p:nvSpPr>
          <p:cNvPr id="7" name="">
            <a:extLst xmlns:a="http://schemas.openxmlformats.org/drawingml/2006/main">
              <a:ext uri="{FF2B5EF4-FFF2-40B4-BE49-F238E27FC236}">
                <a16:creationId xmlns:a16="http://schemas.microsoft.com/office/drawing/2014/main" id="{7176F0B6-99C9-49A1-9FA3-281BEA3A622D}"/>
              </a:ext>
            </a:extLst>
          </p:cNvPr>
          <p:cNvSpPr>
            <a:spLocks xmlns:a="http://schemas.openxmlformats.org/drawingml/2006/main" noGrp="1"/>
          </p:cNvSpPr>
          <p:nvPr/>
        </p:nvSpPr>
        <p:spPr>
          <a:xfrm xmlns:a="http://schemas.openxmlformats.org/drawingml/2006/main">
            <a:off x="571500" y="2381250"/>
            <a:ext cx="107156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20252C"/>
                </a:solidFill>
                <a:latin typeface="Aptos"/>
                <a:ea typeface="Aptos"/>
                <a:cs typeface="Aptos"/>
              </a:defRPr>
            </a:pPr>
            <a:r>
              <a:rPr sz="1875" b="0">
                <a:solidFill>
                  <a:srgbClr val="20252C"/>
                </a:solidFill>
                <a:latin typeface="Aptos"/>
                <a:ea typeface="Aptos"/>
                <a:cs typeface="Aptos"/>
              </a:rPr>
              <a:t>son 52 minutos circulando; con 10 minutos de regulación, el ciclo dura 62 minutos.</a:t>
            </a:r>
          </a:p>
        </p:txBody>
      </p:sp>
      <p:sp>
        <p:nvSpPr>
          <p:cNvPr id="8" name="">
            <a:extLst xmlns:a="http://schemas.openxmlformats.org/drawingml/2006/main">
              <a:ext uri="{FF2B5EF4-FFF2-40B4-BE49-F238E27FC236}">
                <a16:creationId xmlns:a16="http://schemas.microsoft.com/office/drawing/2014/main" id="{99E7CCA2-365F-4C03-A173-EDC3AF1CFE01}"/>
              </a:ext>
            </a:extLst>
          </p:cNvPr>
          <p:cNvSpPr>
            <a:spLocks xmlns:a="http://schemas.openxmlformats.org/drawingml/2006/main" noGrp="1"/>
          </p:cNvSpPr>
          <p:nvPr/>
        </p:nvSpPr>
        <p:spPr>
          <a:xfrm xmlns:a="http://schemas.openxmlformats.org/drawingml/2006/main">
            <a:off x="571500" y="3619500"/>
            <a:ext cx="1101090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9" name="">
            <a:extLst xmlns:a="http://schemas.openxmlformats.org/drawingml/2006/main">
              <a:ext uri="{FF2B5EF4-FFF2-40B4-BE49-F238E27FC236}">
                <a16:creationId xmlns:a16="http://schemas.microsoft.com/office/drawing/2014/main" id="{4D5B68A3-C3A5-440C-8E9E-87D4888B0FA8}"/>
              </a:ext>
            </a:extLst>
          </p:cNvPr>
          <p:cNvSpPr>
            <a:spLocks xmlns:a="http://schemas.openxmlformats.org/drawingml/2006/main" noGrp="1"/>
          </p:cNvSpPr>
          <p:nvPr/>
        </p:nvSpPr>
        <p:spPr>
          <a:xfrm xmlns:a="http://schemas.openxmlformats.org/drawingml/2006/main">
            <a:off x="571500" y="4000500"/>
            <a:ext cx="4610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275CBA"/>
                </a:solidFill>
                <a:latin typeface="Aptos"/>
                <a:ea typeface="Aptos"/>
                <a:cs typeface="Aptos"/>
              </a:defRPr>
            </a:pPr>
            <a:r>
              <a:rPr sz="3300" b="1">
                <a:solidFill>
                  <a:srgbClr val="275CBA"/>
                </a:solidFill>
                <a:latin typeface="Aptos"/>
                <a:ea typeface="Aptos"/>
                <a:cs typeface="Aptos"/>
              </a:rPr>
              <a:t>Cada 8 min</a:t>
            </a:r>
          </a:p>
        </p:txBody>
      </p:sp>
      <p:sp>
        <p:nvSpPr>
          <p:cNvPr id="10" name="">
            <a:extLst xmlns:a="http://schemas.openxmlformats.org/drawingml/2006/main">
              <a:ext uri="{FF2B5EF4-FFF2-40B4-BE49-F238E27FC236}">
                <a16:creationId xmlns:a16="http://schemas.microsoft.com/office/drawing/2014/main" id="{38929A7C-C523-4BB5-B4C1-8221CF6E2221}"/>
              </a:ext>
            </a:extLst>
          </p:cNvPr>
          <p:cNvSpPr>
            <a:spLocks xmlns:a="http://schemas.openxmlformats.org/drawingml/2006/main" noGrp="1"/>
          </p:cNvSpPr>
          <p:nvPr/>
        </p:nvSpPr>
        <p:spPr>
          <a:xfrm xmlns:a="http://schemas.openxmlformats.org/drawingml/2006/main">
            <a:off x="571500" y="4676775"/>
            <a:ext cx="105060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20252C"/>
                </a:solidFill>
                <a:latin typeface="Aptos"/>
                <a:ea typeface="Aptos"/>
                <a:cs typeface="Aptos"/>
              </a:defRPr>
            </a:pPr>
            <a:r>
              <a:rPr sz="1875" b="1">
                <a:solidFill>
                  <a:srgbClr val="20252C"/>
                </a:solidFill>
                <a:latin typeface="Aptos"/>
                <a:ea typeface="Aptos"/>
                <a:cs typeface="Aptos"/>
              </a:rPr>
              <a:t>para mantener ese intervalo se necesitan 8 vehículos: 62 ÷ 8, redondeado hacia arriba.</a:t>
            </a:r>
          </a:p>
        </p:txBody>
      </p:sp>
      <p:sp>
        <p:nvSpPr>
          <p:cNvPr id="11" name="">
            <a:extLst xmlns:a="http://schemas.openxmlformats.org/drawingml/2006/main">
              <a:ext uri="{FF2B5EF4-FFF2-40B4-BE49-F238E27FC236}">
                <a16:creationId xmlns:a16="http://schemas.microsoft.com/office/drawing/2014/main" id="{1255FBB4-624D-461A-A71A-4140B316265A}"/>
              </a:ext>
            </a:extLst>
          </p:cNvPr>
          <p:cNvSpPr>
            <a:spLocks xmlns:a="http://schemas.openxmlformats.org/drawingml/2006/main" noGrp="1"/>
          </p:cNvSpPr>
          <p:nvPr/>
        </p:nvSpPr>
        <p:spPr>
          <a:xfrm xmlns:a="http://schemas.openxmlformats.org/drawingml/2006/main">
            <a:off x="571500" y="6210300"/>
            <a:ext cx="11001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5B6572"/>
                </a:solidFill>
                <a:latin typeface="Aptos"/>
                <a:ea typeface="Aptos"/>
                <a:cs typeface="Aptos"/>
              </a:defRPr>
            </a:pPr>
            <a:r>
              <a:rPr sz="975" b="0">
                <a:solidFill>
                  <a:srgbClr val="5B6572"/>
                </a:solidFill>
                <a:latin typeface="Aptos"/>
                <a:ea typeface="Aptos"/>
                <a:cs typeface="Aptos"/>
              </a:rPr>
              <a:t>Ejemplo de cálculo. Método disponible en el laboratorio Puriy [5].</a:t>
            </a:r>
          </a:p>
        </p:txBody>
      </p:sp>
    </p:spTree>
    <p:extLst>
      <p:ext uri="{BB962C8B-B14F-4D97-AF65-F5344CB8AC3E}">
        <p14:creationId xmlns:p14="http://schemas.microsoft.com/office/powerpoint/2010/main" val="171507389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E884566-635B-4B04-A905-9CD478941763}"/>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La población ayuda a medir a quién llega una ruta</a:t>
            </a:r>
          </a:p>
        </p:txBody>
      </p:sp>
      <p:sp>
        <p:nvSpPr>
          <p:cNvPr id="2" name="">
            <a:extLst xmlns:a="http://schemas.openxmlformats.org/drawingml/2006/main">
              <a:ext uri="{FF2B5EF4-FFF2-40B4-BE49-F238E27FC236}">
                <a16:creationId xmlns:a16="http://schemas.microsoft.com/office/drawing/2014/main" id="{CD7928DE-5D02-4AF2-AD20-2F095686F9C5}"/>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16</a:t>
            </a:r>
          </a:p>
        </p:txBody>
      </p:sp>
      <p:sp>
        <p:nvSpPr>
          <p:cNvPr id="3" name="">
            <a:extLst xmlns:a="http://schemas.openxmlformats.org/drawingml/2006/main">
              <a:ext uri="{FF2B5EF4-FFF2-40B4-BE49-F238E27FC236}">
                <a16:creationId xmlns:a16="http://schemas.microsoft.com/office/drawing/2014/main" id="{28C4EEE0-9928-4C33-9556-BF19A3F4AF9B}"/>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3ED3E3B6-C04A-4223-840B-E1EB2C5ABF43}"/>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
            <a:extLst xmlns:a="http://schemas.openxmlformats.org/drawingml/2006/main">
              <a:ext uri="{FF2B5EF4-FFF2-40B4-BE49-F238E27FC236}">
                <a16:creationId xmlns:a16="http://schemas.microsoft.com/office/drawing/2014/main" id="{C79EC9A5-F6BE-4900-84C3-6287B7C36E2A}"/>
              </a:ext>
            </a:extLst>
          </p:cNvPr>
          <p:cNvSpPr>
            <a:spLocks xmlns:a="http://schemas.openxmlformats.org/drawingml/2006/main" noGrp="1"/>
          </p:cNvSpPr>
          <p:nvPr/>
        </p:nvSpPr>
        <p:spPr>
          <a:xfrm xmlns:a="http://schemas.openxmlformats.org/drawingml/2006/main">
            <a:off x="571500" y="1514475"/>
            <a:ext cx="10629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20252C"/>
                </a:solidFill>
                <a:latin typeface="Aptos"/>
                <a:ea typeface="Aptos"/>
                <a:cs typeface="Aptos"/>
              </a:defRPr>
            </a:pPr>
            <a:r>
              <a:rPr sz="2175" b="1">
                <a:solidFill>
                  <a:srgbClr val="20252C"/>
                </a:solidFill>
                <a:latin typeface="Aptos"/>
                <a:ea typeface="Aptos"/>
                <a:cs typeface="Aptos"/>
              </a:rPr>
              <a:t>Manzana de ejemplo: 120 habitantes registrados</a:t>
            </a:r>
          </a:p>
        </p:txBody>
      </p:sp>
      <p:sp>
        <p:nvSpPr>
          <p:cNvPr id="6" name="">
            <a:extLst xmlns:a="http://schemas.openxmlformats.org/drawingml/2006/main">
              <a:ext uri="{FF2B5EF4-FFF2-40B4-BE49-F238E27FC236}">
                <a16:creationId xmlns:a16="http://schemas.microsoft.com/office/drawing/2014/main" id="{DE17937C-58BE-4006-A6BD-14083D09F7A4}"/>
              </a:ext>
            </a:extLst>
          </p:cNvPr>
          <p:cNvSpPr>
            <a:spLocks xmlns:a="http://schemas.openxmlformats.org/drawingml/2006/main" noGrp="1"/>
          </p:cNvSpPr>
          <p:nvPr/>
        </p:nvSpPr>
        <p:spPr>
          <a:xfrm xmlns:a="http://schemas.openxmlformats.org/drawingml/2006/main">
            <a:off x="571500" y="2400300"/>
            <a:ext cx="106108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20252C"/>
                </a:solidFill>
                <a:latin typeface="Aptos"/>
                <a:ea typeface="Aptos"/>
                <a:cs typeface="Aptos"/>
              </a:defRPr>
            </a:pPr>
            <a:r>
              <a:rPr sz="1875" b="0">
                <a:solidFill>
                  <a:srgbClr val="20252C"/>
                </a:solidFill>
                <a:latin typeface="Aptos"/>
                <a:ea typeface="Aptos"/>
                <a:cs typeface="Aptos"/>
              </a:rPr>
              <a:t>Si existe un camino peatonal de 300 m hasta un abordaje validado, esa población entra en la cobertura de 400 m elegida para el ensayo.</a:t>
            </a:r>
          </a:p>
        </p:txBody>
      </p:sp>
      <p:sp>
        <p:nvSpPr>
          <p:cNvPr id="7" name="">
            <a:extLst xmlns:a="http://schemas.openxmlformats.org/drawingml/2006/main">
              <a:ext uri="{FF2B5EF4-FFF2-40B4-BE49-F238E27FC236}">
                <a16:creationId xmlns:a16="http://schemas.microsoft.com/office/drawing/2014/main" id="{E3056710-D4D3-4802-ABAC-8D204743F1E0}"/>
              </a:ext>
            </a:extLst>
          </p:cNvPr>
          <p:cNvSpPr>
            <a:spLocks xmlns:a="http://schemas.openxmlformats.org/drawingml/2006/main" noGrp="1"/>
          </p:cNvSpPr>
          <p:nvPr/>
        </p:nvSpPr>
        <p:spPr>
          <a:xfrm xmlns:a="http://schemas.openxmlformats.org/drawingml/2006/main">
            <a:off x="571500" y="3952875"/>
            <a:ext cx="1101090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8" name="">
            <a:extLst xmlns:a="http://schemas.openxmlformats.org/drawingml/2006/main">
              <a:ext uri="{FF2B5EF4-FFF2-40B4-BE49-F238E27FC236}">
                <a16:creationId xmlns:a16="http://schemas.microsoft.com/office/drawing/2014/main" id="{68E6945D-83F0-4EDA-887E-606D58EE0CDD}"/>
              </a:ext>
            </a:extLst>
          </p:cNvPr>
          <p:cNvSpPr>
            <a:spLocks xmlns:a="http://schemas.openxmlformats.org/drawingml/2006/main" noGrp="1"/>
          </p:cNvSpPr>
          <p:nvPr/>
        </p:nvSpPr>
        <p:spPr>
          <a:xfrm xmlns:a="http://schemas.openxmlformats.org/drawingml/2006/main">
            <a:off x="571500" y="4438650"/>
            <a:ext cx="106013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75CBA"/>
                </a:solidFill>
                <a:latin typeface="Aptos"/>
                <a:ea typeface="Aptos"/>
                <a:cs typeface="Aptos"/>
              </a:defRPr>
            </a:pPr>
            <a:r>
              <a:rPr sz="1800" b="1">
                <a:solidFill>
                  <a:srgbClr val="275CBA"/>
                </a:solidFill>
                <a:latin typeface="Aptos"/>
                <a:ea typeface="Aptos"/>
                <a:cs typeface="Aptos"/>
              </a:rPr>
              <a:t>Si la única conexión real mide 700 m, no se cuenta en ese umbral. La aplicación debe mostrar ambas situaciones.</a:t>
            </a:r>
          </a:p>
        </p:txBody>
      </p:sp>
      <p:sp>
        <p:nvSpPr>
          <p:cNvPr id="9" name="">
            <a:extLst xmlns:a="http://schemas.openxmlformats.org/drawingml/2006/main">
              <a:ext uri="{FF2B5EF4-FFF2-40B4-BE49-F238E27FC236}">
                <a16:creationId xmlns:a16="http://schemas.microsoft.com/office/drawing/2014/main" id="{ED9A3B1D-3207-4459-90C8-667A416002D8}"/>
              </a:ext>
            </a:extLst>
          </p:cNvPr>
          <p:cNvSpPr>
            <a:spLocks xmlns:a="http://schemas.openxmlformats.org/drawingml/2006/main" noGrp="1"/>
          </p:cNvSpPr>
          <p:nvPr/>
        </p:nvSpPr>
        <p:spPr>
          <a:xfrm xmlns:a="http://schemas.openxmlformats.org/drawingml/2006/main">
            <a:off x="571500" y="6210300"/>
            <a:ext cx="11001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5B6572"/>
                </a:solidFill>
                <a:latin typeface="Aptos"/>
                <a:ea typeface="Aptos"/>
                <a:cs typeface="Aptos"/>
              </a:defRPr>
            </a:pPr>
            <a:r>
              <a:rPr sz="975" b="0">
                <a:solidFill>
                  <a:srgbClr val="5B6572"/>
                </a:solidFill>
                <a:latin typeface="Aptos"/>
                <a:ea typeface="Aptos"/>
                <a:cs typeface="Aptos"/>
              </a:rPr>
              <a:t>Ejemplo ilustrativo. Censo por manzana [2] y método de acceso de Puriy [5].</a:t>
            </a:r>
          </a:p>
        </p:txBody>
      </p:sp>
    </p:spTree>
    <p:extLst>
      <p:ext uri="{BB962C8B-B14F-4D97-AF65-F5344CB8AC3E}">
        <p14:creationId xmlns:p14="http://schemas.microsoft.com/office/powerpoint/2010/main" val="214471350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8FDCA80-4607-4B69-9734-51640B073E02}"/>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Cómo detectaría Puriy un tramo inusualmente lento</a:t>
            </a:r>
          </a:p>
        </p:txBody>
      </p:sp>
      <p:sp>
        <p:nvSpPr>
          <p:cNvPr id="2" name="">
            <a:extLst xmlns:a="http://schemas.openxmlformats.org/drawingml/2006/main">
              <a:ext uri="{FF2B5EF4-FFF2-40B4-BE49-F238E27FC236}">
                <a16:creationId xmlns:a16="http://schemas.microsoft.com/office/drawing/2014/main" id="{D1D7558C-EEFB-4936-9186-8B0527B0E91D}"/>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17</a:t>
            </a:r>
          </a:p>
        </p:txBody>
      </p:sp>
      <p:sp>
        <p:nvSpPr>
          <p:cNvPr id="3" name="">
            <a:extLst xmlns:a="http://schemas.openxmlformats.org/drawingml/2006/main">
              <a:ext uri="{FF2B5EF4-FFF2-40B4-BE49-F238E27FC236}">
                <a16:creationId xmlns:a16="http://schemas.microsoft.com/office/drawing/2014/main" id="{CF1FD29F-E2BE-465F-B8B2-84F0BDD0E858}"/>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4409B95A-C03D-4C43-961A-12AA28E9F791}"/>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
            <a:extLst xmlns:a="http://schemas.openxmlformats.org/drawingml/2006/main">
              <a:ext uri="{FF2B5EF4-FFF2-40B4-BE49-F238E27FC236}">
                <a16:creationId xmlns:a16="http://schemas.microsoft.com/office/drawing/2014/main" id="{4AD190E3-0E84-40C9-B886-02898A63C3C5}"/>
              </a:ext>
            </a:extLst>
          </p:cNvPr>
          <p:cNvSpPr>
            <a:spLocks xmlns:a="http://schemas.openxmlformats.org/drawingml/2006/main" noGrp="1"/>
          </p:cNvSpPr>
          <p:nvPr/>
        </p:nvSpPr>
        <p:spPr>
          <a:xfrm xmlns:a="http://schemas.openxmlformats.org/drawingml/2006/main">
            <a:off x="571500" y="12858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75CBA"/>
                </a:solidFill>
                <a:latin typeface="Aptos"/>
                <a:ea typeface="Aptos"/>
                <a:cs typeface="Aptos"/>
              </a:defRPr>
            </a:pPr>
            <a:r>
              <a:rPr sz="1125" b="1">
                <a:solidFill>
                  <a:srgbClr val="275CBA"/>
                </a:solidFill>
                <a:latin typeface="Aptos"/>
                <a:ea typeface="Aptos"/>
                <a:cs typeface="Aptos"/>
              </a:rPr>
              <a:t>FUNCIÓN PARA LA ETAPA CON GPS VALIDADO</a:t>
            </a:r>
          </a:p>
        </p:txBody>
      </p:sp>
      <p:sp>
        <p:nvSpPr>
          <p:cNvPr id="6" name="">
            <a:extLst xmlns:a="http://schemas.openxmlformats.org/drawingml/2006/main">
              <a:ext uri="{FF2B5EF4-FFF2-40B4-BE49-F238E27FC236}">
                <a16:creationId xmlns:a16="http://schemas.microsoft.com/office/drawing/2014/main" id="{6B9614E3-E8D4-4480-8EB0-EAD6D39E631D}"/>
              </a:ext>
            </a:extLst>
          </p:cNvPr>
          <p:cNvSpPr>
            <a:spLocks xmlns:a="http://schemas.openxmlformats.org/drawingml/2006/main" noGrp="1"/>
          </p:cNvSpPr>
          <p:nvPr/>
        </p:nvSpPr>
        <p:spPr>
          <a:xfrm xmlns:a="http://schemas.openxmlformats.org/drawingml/2006/main">
            <a:off x="571500" y="1866900"/>
            <a:ext cx="43529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0252C"/>
                </a:solidFill>
                <a:latin typeface="Aptos"/>
                <a:ea typeface="Aptos"/>
                <a:cs typeface="Aptos"/>
              </a:defRPr>
            </a:pPr>
            <a:r>
              <a:rPr sz="1800" b="1">
                <a:solidFill>
                  <a:srgbClr val="20252C"/>
                </a:solidFill>
                <a:latin typeface="Aptos"/>
                <a:ea typeface="Aptos"/>
                <a:cs typeface="Aptos"/>
              </a:rPr>
              <a:t>Velocidad habitual</a:t>
            </a:r>
          </a:p>
        </p:txBody>
      </p:sp>
      <p:sp>
        <p:nvSpPr>
          <p:cNvPr id="7" name="">
            <a:extLst xmlns:a="http://schemas.openxmlformats.org/drawingml/2006/main">
              <a:ext uri="{FF2B5EF4-FFF2-40B4-BE49-F238E27FC236}">
                <a16:creationId xmlns:a16="http://schemas.microsoft.com/office/drawing/2014/main" id="{63A09E6F-CCA0-497F-B2D8-F3BA08ADAAA4}"/>
              </a:ext>
            </a:extLst>
          </p:cNvPr>
          <p:cNvSpPr>
            <a:spLocks xmlns:a="http://schemas.openxmlformats.org/drawingml/2006/main" noGrp="1"/>
          </p:cNvSpPr>
          <p:nvPr/>
        </p:nvSpPr>
        <p:spPr>
          <a:xfrm xmlns:a="http://schemas.openxmlformats.org/drawingml/2006/main">
            <a:off x="571500" y="2381250"/>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900" b="1">
                <a:solidFill>
                  <a:srgbClr val="167B62"/>
                </a:solidFill>
                <a:latin typeface="Aptos"/>
                <a:ea typeface="Aptos"/>
                <a:cs typeface="Aptos"/>
              </a:defRPr>
            </a:pPr>
            <a:r>
              <a:rPr sz="3900" b="1">
                <a:solidFill>
                  <a:srgbClr val="167B62"/>
                </a:solidFill>
                <a:latin typeface="Aptos"/>
                <a:ea typeface="Aptos"/>
                <a:cs typeface="Aptos"/>
              </a:rPr>
              <a:t>25 km/h</a:t>
            </a:r>
          </a:p>
        </p:txBody>
      </p:sp>
      <p:sp>
        <p:nvSpPr>
          <p:cNvPr id="8" name="">
            <a:extLst xmlns:a="http://schemas.openxmlformats.org/drawingml/2006/main">
              <a:ext uri="{FF2B5EF4-FFF2-40B4-BE49-F238E27FC236}">
                <a16:creationId xmlns:a16="http://schemas.microsoft.com/office/drawing/2014/main" id="{83B75D4F-3496-4DA9-8D0E-F42CE55959DE}"/>
              </a:ext>
            </a:extLst>
          </p:cNvPr>
          <p:cNvSpPr>
            <a:spLocks xmlns:a="http://schemas.openxmlformats.org/drawingml/2006/main" noGrp="1"/>
          </p:cNvSpPr>
          <p:nvPr/>
        </p:nvSpPr>
        <p:spPr>
          <a:xfrm xmlns:a="http://schemas.openxmlformats.org/drawingml/2006/main">
            <a:off x="5953125" y="1800225"/>
            <a:ext cx="19050" cy="2171700"/>
          </a:xfrm>
          <a:prstGeom xmlns:a="http://schemas.openxmlformats.org/drawingml/2006/main" prst="rect">
            <a:avLst/>
          </a:prstGeom>
          <a:solidFill xmlns:a="http://schemas.openxmlformats.org/drawingml/2006/main">
            <a:srgbClr val="DDE3E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BA5350E-DD96-4B70-862A-D311A234380C}"/>
              </a:ext>
            </a:extLst>
          </p:cNvPr>
          <p:cNvSpPr>
            <a:spLocks xmlns:a="http://schemas.openxmlformats.org/drawingml/2006/main" noGrp="1"/>
          </p:cNvSpPr>
          <p:nvPr/>
        </p:nvSpPr>
        <p:spPr>
          <a:xfrm xmlns:a="http://schemas.openxmlformats.org/drawingml/2006/main">
            <a:off x="6477000" y="1866900"/>
            <a:ext cx="43910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20252C"/>
                </a:solidFill>
                <a:latin typeface="Aptos"/>
                <a:ea typeface="Aptos"/>
                <a:cs typeface="Aptos"/>
              </a:defRPr>
            </a:pPr>
            <a:r>
              <a:rPr sz="1800" b="1">
                <a:solidFill>
                  <a:srgbClr val="20252C"/>
                </a:solidFill>
                <a:latin typeface="Aptos"/>
                <a:ea typeface="Aptos"/>
                <a:cs typeface="Aptos"/>
              </a:rPr>
              <a:t>Velocidad reciente</a:t>
            </a:r>
          </a:p>
        </p:txBody>
      </p:sp>
      <p:sp>
        <p:nvSpPr>
          <p:cNvPr id="10" name="">
            <a:extLst xmlns:a="http://schemas.openxmlformats.org/drawingml/2006/main">
              <a:ext uri="{FF2B5EF4-FFF2-40B4-BE49-F238E27FC236}">
                <a16:creationId xmlns:a16="http://schemas.microsoft.com/office/drawing/2014/main" id="{EBC37E3F-3598-4A54-BCE7-9B6A5DB71FBF}"/>
              </a:ext>
            </a:extLst>
          </p:cNvPr>
          <p:cNvSpPr>
            <a:spLocks xmlns:a="http://schemas.openxmlformats.org/drawingml/2006/main" noGrp="1"/>
          </p:cNvSpPr>
          <p:nvPr/>
        </p:nvSpPr>
        <p:spPr>
          <a:xfrm xmlns:a="http://schemas.openxmlformats.org/drawingml/2006/main">
            <a:off x="6477000" y="2381250"/>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900" b="1">
                <a:solidFill>
                  <a:srgbClr val="A9373D"/>
                </a:solidFill>
                <a:latin typeface="Aptos"/>
                <a:ea typeface="Aptos"/>
                <a:cs typeface="Aptos"/>
              </a:defRPr>
            </a:pPr>
            <a:r>
              <a:rPr sz="3900" b="1">
                <a:solidFill>
                  <a:srgbClr val="A9373D"/>
                </a:solidFill>
                <a:latin typeface="Aptos"/>
                <a:ea typeface="Aptos"/>
                <a:cs typeface="Aptos"/>
              </a:rPr>
              <a:t>10 km/h</a:t>
            </a:r>
          </a:p>
        </p:txBody>
      </p:sp>
      <p:sp>
        <p:nvSpPr>
          <p:cNvPr id="11" name="">
            <a:extLst xmlns:a="http://schemas.openxmlformats.org/drawingml/2006/main">
              <a:ext uri="{FF2B5EF4-FFF2-40B4-BE49-F238E27FC236}">
                <a16:creationId xmlns:a16="http://schemas.microsoft.com/office/drawing/2014/main" id="{A2412AA4-201C-4DD5-8B99-21E9979425C7}"/>
              </a:ext>
            </a:extLst>
          </p:cNvPr>
          <p:cNvSpPr>
            <a:spLocks xmlns:a="http://schemas.openxmlformats.org/drawingml/2006/main" noGrp="1"/>
          </p:cNvSpPr>
          <p:nvPr/>
        </p:nvSpPr>
        <p:spPr>
          <a:xfrm xmlns:a="http://schemas.openxmlformats.org/drawingml/2006/main">
            <a:off x="571500" y="4343400"/>
            <a:ext cx="10715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275CBA"/>
                </a:solidFill>
                <a:latin typeface="Aptos"/>
                <a:ea typeface="Aptos"/>
                <a:cs typeface="Aptos"/>
              </a:defRPr>
            </a:pPr>
            <a:r>
              <a:rPr sz="2025" b="1">
                <a:solidFill>
                  <a:srgbClr val="275CBA"/>
                </a:solidFill>
                <a:latin typeface="Aptos"/>
                <a:ea typeface="Aptos"/>
                <a:cs typeface="Aptos"/>
              </a:rPr>
              <a:t>El tramo funciona al 40 % de su velocidad habitual.</a:t>
            </a:r>
          </a:p>
        </p:txBody>
      </p:sp>
      <p:sp>
        <p:nvSpPr>
          <p:cNvPr id="12" name="">
            <a:extLst xmlns:a="http://schemas.openxmlformats.org/drawingml/2006/main">
              <a:ext uri="{FF2B5EF4-FFF2-40B4-BE49-F238E27FC236}">
                <a16:creationId xmlns:a16="http://schemas.microsoft.com/office/drawing/2014/main" id="{4A9ABFF2-C5D9-4274-A9D4-8BCE3AA9798F}"/>
              </a:ext>
            </a:extLst>
          </p:cNvPr>
          <p:cNvSpPr>
            <a:spLocks xmlns:a="http://schemas.openxmlformats.org/drawingml/2006/main" noGrp="1"/>
          </p:cNvSpPr>
          <p:nvPr/>
        </p:nvSpPr>
        <p:spPr>
          <a:xfrm xmlns:a="http://schemas.openxmlformats.org/drawingml/2006/main">
            <a:off x="571500" y="5076825"/>
            <a:ext cx="108013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0252C"/>
                </a:solidFill>
                <a:latin typeface="Aptos"/>
                <a:ea typeface="Aptos"/>
                <a:cs typeface="Aptos"/>
              </a:defRPr>
            </a:pPr>
            <a:r>
              <a:rPr sz="1575" b="0">
                <a:solidFill>
                  <a:srgbClr val="20252C"/>
                </a:solidFill>
                <a:latin typeface="Aptos"/>
                <a:ea typeface="Aptos"/>
                <a:cs typeface="Aptos"/>
              </a:rPr>
              <a:t>Se compara el mismo tramo, día y hora. Antes de alertar, se necesitan varios vehículos y revisar obras, ferias o incidentes.</a:t>
            </a:r>
          </a:p>
        </p:txBody>
      </p:sp>
      <p:sp>
        <p:nvSpPr>
          <p:cNvPr id="13" name="">
            <a:extLst xmlns:a="http://schemas.openxmlformats.org/drawingml/2006/main">
              <a:ext uri="{FF2B5EF4-FFF2-40B4-BE49-F238E27FC236}">
                <a16:creationId xmlns:a16="http://schemas.microsoft.com/office/drawing/2014/main" id="{F0C135A4-F8D2-4994-B2EA-E51C7D573A83}"/>
              </a:ext>
            </a:extLst>
          </p:cNvPr>
          <p:cNvSpPr>
            <a:spLocks xmlns:a="http://schemas.openxmlformats.org/drawingml/2006/main" noGrp="1"/>
          </p:cNvSpPr>
          <p:nvPr/>
        </p:nvSpPr>
        <p:spPr>
          <a:xfrm xmlns:a="http://schemas.openxmlformats.org/drawingml/2006/main">
            <a:off x="571500" y="6210300"/>
            <a:ext cx="11001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5B6572"/>
                </a:solidFill>
                <a:latin typeface="Aptos"/>
                <a:ea typeface="Aptos"/>
                <a:cs typeface="Aptos"/>
              </a:defRPr>
            </a:pPr>
            <a:r>
              <a:rPr sz="975" b="0">
                <a:solidFill>
                  <a:srgbClr val="5B6572"/>
                </a:solidFill>
                <a:latin typeface="Aptos"/>
                <a:ea typeface="Aptos"/>
                <a:cs typeface="Aptos"/>
              </a:rPr>
              <a:t>Ejemplo para explicar el método; no corresponde a una medición local.</a:t>
            </a:r>
          </a:p>
        </p:txBody>
      </p:sp>
    </p:spTree>
    <p:extLst>
      <p:ext uri="{BB962C8B-B14F-4D97-AF65-F5344CB8AC3E}">
        <p14:creationId xmlns:p14="http://schemas.microsoft.com/office/powerpoint/2010/main" val="98071464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93B563E-635E-4ADA-B607-3FD379DD7757}"/>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La ciudad no se mueve igual todos los días</a:t>
            </a:r>
          </a:p>
        </p:txBody>
      </p:sp>
      <p:sp>
        <p:nvSpPr>
          <p:cNvPr id="2" name="">
            <a:extLst xmlns:a="http://schemas.openxmlformats.org/drawingml/2006/main">
              <a:ext uri="{FF2B5EF4-FFF2-40B4-BE49-F238E27FC236}">
                <a16:creationId xmlns:a16="http://schemas.microsoft.com/office/drawing/2014/main" id="{A11C48D6-B370-4C28-9C01-725624A81A27}"/>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18</a:t>
            </a:r>
          </a:p>
        </p:txBody>
      </p:sp>
      <p:sp>
        <p:nvSpPr>
          <p:cNvPr id="3" name="">
            <a:extLst xmlns:a="http://schemas.openxmlformats.org/drawingml/2006/main">
              <a:ext uri="{FF2B5EF4-FFF2-40B4-BE49-F238E27FC236}">
                <a16:creationId xmlns:a16="http://schemas.microsoft.com/office/drawing/2014/main" id="{FFD39178-AAC2-4BFF-A6A4-307DE4196982}"/>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205DBBD1-8334-4815-AD14-B8821991D3AF}"/>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
            <a:extLst xmlns:a="http://schemas.openxmlformats.org/drawingml/2006/main">
              <a:ext uri="{FF2B5EF4-FFF2-40B4-BE49-F238E27FC236}">
                <a16:creationId xmlns:a16="http://schemas.microsoft.com/office/drawing/2014/main" id="{636563EE-DD81-4C00-A167-4062A457056E}"/>
              </a:ext>
            </a:extLst>
          </p:cNvPr>
          <p:cNvSpPr>
            <a:spLocks xmlns:a="http://schemas.openxmlformats.org/drawingml/2006/main" noGrp="1"/>
          </p:cNvSpPr>
          <p:nvPr/>
        </p:nvSpPr>
        <p:spPr>
          <a:xfrm xmlns:a="http://schemas.openxmlformats.org/drawingml/2006/main">
            <a:off x="571500" y="1438275"/>
            <a:ext cx="1062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20252C"/>
                </a:solidFill>
                <a:latin typeface="Aptos"/>
                <a:ea typeface="Aptos"/>
                <a:cs typeface="Aptos"/>
              </a:defRPr>
            </a:pPr>
            <a:r>
              <a:rPr sz="2175" b="1">
                <a:solidFill>
                  <a:srgbClr val="20252C"/>
                </a:solidFill>
                <a:latin typeface="Aptos"/>
                <a:ea typeface="Aptos"/>
                <a:cs typeface="Aptos"/>
              </a:rPr>
              <a:t>Supongamos que una feria ocupa parte de una calle un domingo.</a:t>
            </a:r>
          </a:p>
        </p:txBody>
      </p:sp>
      <p:sp>
        <p:nvSpPr>
          <p:cNvPr id="6" name="">
            <a:extLst xmlns:a="http://schemas.openxmlformats.org/drawingml/2006/main">
              <a:ext uri="{FF2B5EF4-FFF2-40B4-BE49-F238E27FC236}">
                <a16:creationId xmlns:a16="http://schemas.microsoft.com/office/drawing/2014/main" id="{1B8B1AAE-4524-4F8B-99FE-0CA666AC2457}"/>
              </a:ext>
            </a:extLst>
          </p:cNvPr>
          <p:cNvSpPr>
            <a:spLocks xmlns:a="http://schemas.openxmlformats.org/drawingml/2006/main" noGrp="1"/>
          </p:cNvSpPr>
          <p:nvPr/>
        </p:nvSpPr>
        <p:spPr>
          <a:xfrm xmlns:a="http://schemas.openxmlformats.org/drawingml/2006/main">
            <a:off x="571500" y="2457450"/>
            <a:ext cx="107537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20252C"/>
                </a:solidFill>
                <a:latin typeface="Aptos"/>
                <a:ea typeface="Aptos"/>
                <a:cs typeface="Aptos"/>
              </a:defRPr>
            </a:pPr>
            <a:r>
              <a:rPr sz="1875" b="0">
                <a:solidFill>
                  <a:srgbClr val="20252C"/>
                </a:solidFill>
                <a:latin typeface="Aptos"/>
                <a:ea typeface="Aptos"/>
                <a:cs typeface="Aptos"/>
              </a:rPr>
              <a:t>Puriy puede estudiar cómo cambia el ciclo de una línea y si un recorrido alternativo conserva acceso a los destinos.</a:t>
            </a:r>
          </a:p>
        </p:txBody>
      </p:sp>
      <p:sp>
        <p:nvSpPr>
          <p:cNvPr id="7" name="">
            <a:extLst xmlns:a="http://schemas.openxmlformats.org/drawingml/2006/main">
              <a:ext uri="{FF2B5EF4-FFF2-40B4-BE49-F238E27FC236}">
                <a16:creationId xmlns:a16="http://schemas.microsoft.com/office/drawing/2014/main" id="{B4CE696A-F6DF-4A5B-AC5D-40DC95436D7C}"/>
              </a:ext>
            </a:extLst>
          </p:cNvPr>
          <p:cNvSpPr>
            <a:spLocks xmlns:a="http://schemas.openxmlformats.org/drawingml/2006/main" noGrp="1"/>
          </p:cNvSpPr>
          <p:nvPr/>
        </p:nvSpPr>
        <p:spPr>
          <a:xfrm xmlns:a="http://schemas.openxmlformats.org/drawingml/2006/main">
            <a:off x="571500" y="3800475"/>
            <a:ext cx="1101090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8" name="">
            <a:extLst xmlns:a="http://schemas.openxmlformats.org/drawingml/2006/main">
              <a:ext uri="{FF2B5EF4-FFF2-40B4-BE49-F238E27FC236}">
                <a16:creationId xmlns:a16="http://schemas.microsoft.com/office/drawing/2014/main" id="{2561BBF3-171D-4AC7-891D-68E5E0F4AFC3}"/>
              </a:ext>
            </a:extLst>
          </p:cNvPr>
          <p:cNvSpPr>
            <a:spLocks xmlns:a="http://schemas.openxmlformats.org/drawingml/2006/main" noGrp="1"/>
          </p:cNvSpPr>
          <p:nvPr/>
        </p:nvSpPr>
        <p:spPr>
          <a:xfrm xmlns:a="http://schemas.openxmlformats.org/drawingml/2006/main">
            <a:off x="571500" y="419100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275CBA"/>
                </a:solidFill>
                <a:latin typeface="Aptos"/>
                <a:ea typeface="Aptos"/>
                <a:cs typeface="Aptos"/>
              </a:defRPr>
            </a:pPr>
            <a:r>
              <a:rPr sz="1650" b="1">
                <a:solidFill>
                  <a:srgbClr val="275CBA"/>
                </a:solidFill>
                <a:latin typeface="Aptos"/>
                <a:ea typeface="Aptos"/>
                <a:cs typeface="Aptos"/>
              </a:rPr>
              <a:t>Lo que ya existe</a:t>
            </a:r>
          </a:p>
        </p:txBody>
      </p:sp>
      <p:sp>
        <p:nvSpPr>
          <p:cNvPr id="9" name="">
            <a:extLst xmlns:a="http://schemas.openxmlformats.org/drawingml/2006/main">
              <a:ext uri="{FF2B5EF4-FFF2-40B4-BE49-F238E27FC236}">
                <a16:creationId xmlns:a16="http://schemas.microsoft.com/office/drawing/2014/main" id="{7D0FF380-D77F-4931-8DDA-322F8CB09E0C}"/>
              </a:ext>
            </a:extLst>
          </p:cNvPr>
          <p:cNvSpPr>
            <a:spLocks xmlns:a="http://schemas.openxmlformats.org/drawingml/2006/main" noGrp="1"/>
          </p:cNvSpPr>
          <p:nvPr/>
        </p:nvSpPr>
        <p:spPr>
          <a:xfrm xmlns:a="http://schemas.openxmlformats.org/drawingml/2006/main">
            <a:off x="571500" y="4657725"/>
            <a:ext cx="4695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0252C"/>
                </a:solidFill>
                <a:latin typeface="Aptos"/>
                <a:ea typeface="Aptos"/>
                <a:cs typeface="Aptos"/>
              </a:defRPr>
            </a:pPr>
            <a:r>
              <a:rPr sz="1575" b="0">
                <a:solidFill>
                  <a:srgbClr val="20252C"/>
                </a:solidFill>
                <a:latin typeface="Aptos"/>
                <a:ea typeface="Aptos"/>
                <a:cs typeface="Aptos"/>
              </a:rPr>
              <a:t>calendario de afectaciones para comparar escenarios</a:t>
            </a:r>
          </a:p>
        </p:txBody>
      </p:sp>
      <p:sp>
        <p:nvSpPr>
          <p:cNvPr id="10" name="">
            <a:extLst xmlns:a="http://schemas.openxmlformats.org/drawingml/2006/main">
              <a:ext uri="{FF2B5EF4-FFF2-40B4-BE49-F238E27FC236}">
                <a16:creationId xmlns:a16="http://schemas.microsoft.com/office/drawing/2014/main" id="{C11F18BB-097A-4C2E-9652-28208EB1C41A}"/>
              </a:ext>
            </a:extLst>
          </p:cNvPr>
          <p:cNvSpPr>
            <a:spLocks xmlns:a="http://schemas.openxmlformats.org/drawingml/2006/main" noGrp="1"/>
          </p:cNvSpPr>
          <p:nvPr/>
        </p:nvSpPr>
        <p:spPr>
          <a:xfrm xmlns:a="http://schemas.openxmlformats.org/drawingml/2006/main">
            <a:off x="6362700" y="419100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67B62"/>
                </a:solidFill>
                <a:latin typeface="Aptos"/>
                <a:ea typeface="Aptos"/>
                <a:cs typeface="Aptos"/>
              </a:defRPr>
            </a:pPr>
            <a:r>
              <a:rPr sz="1650" b="1">
                <a:solidFill>
                  <a:srgbClr val="167B62"/>
                </a:solidFill>
                <a:latin typeface="Aptos"/>
                <a:ea typeface="Aptos"/>
                <a:cs typeface="Aptos"/>
              </a:rPr>
              <a:t>Lo que requiere piloto</a:t>
            </a:r>
          </a:p>
        </p:txBody>
      </p:sp>
      <p:sp>
        <p:nvSpPr>
          <p:cNvPr id="11" name="">
            <a:extLst xmlns:a="http://schemas.openxmlformats.org/drawingml/2006/main">
              <a:ext uri="{FF2B5EF4-FFF2-40B4-BE49-F238E27FC236}">
                <a16:creationId xmlns:a16="http://schemas.microsoft.com/office/drawing/2014/main" id="{5DCD3437-E2E2-4EDF-A519-99FFCE066466}"/>
              </a:ext>
            </a:extLst>
          </p:cNvPr>
          <p:cNvSpPr>
            <a:spLocks xmlns:a="http://schemas.openxmlformats.org/drawingml/2006/main" noGrp="1"/>
          </p:cNvSpPr>
          <p:nvPr/>
        </p:nvSpPr>
        <p:spPr>
          <a:xfrm xmlns:a="http://schemas.openxmlformats.org/drawingml/2006/main">
            <a:off x="6362700" y="4657725"/>
            <a:ext cx="4810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0252C"/>
                </a:solidFill>
                <a:latin typeface="Aptos"/>
                <a:ea typeface="Aptos"/>
                <a:cs typeface="Aptos"/>
              </a:defRPr>
            </a:pPr>
            <a:r>
              <a:rPr sz="1575" b="0">
                <a:solidFill>
                  <a:srgbClr val="20252C"/>
                </a:solidFill>
                <a:latin typeface="Aptos"/>
                <a:ea typeface="Aptos"/>
                <a:cs typeface="Aptos"/>
              </a:rPr>
              <a:t>medir tráfico y fases semafóricas antes de proponer cambios de señalización</a:t>
            </a:r>
          </a:p>
        </p:txBody>
      </p:sp>
      <p:sp>
        <p:nvSpPr>
          <p:cNvPr id="12" name="">
            <a:extLst xmlns:a="http://schemas.openxmlformats.org/drawingml/2006/main">
              <a:ext uri="{FF2B5EF4-FFF2-40B4-BE49-F238E27FC236}">
                <a16:creationId xmlns:a16="http://schemas.microsoft.com/office/drawing/2014/main" id="{4EC0D8A6-7A5C-4FE0-B0CB-48A3F5557F98}"/>
              </a:ext>
            </a:extLst>
          </p:cNvPr>
          <p:cNvSpPr>
            <a:spLocks xmlns:a="http://schemas.openxmlformats.org/drawingml/2006/main" noGrp="1"/>
          </p:cNvSpPr>
          <p:nvPr/>
        </p:nvSpPr>
        <p:spPr>
          <a:xfrm xmlns:a="http://schemas.openxmlformats.org/drawingml/2006/main">
            <a:off x="571500" y="6210300"/>
            <a:ext cx="11001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5B6572"/>
                </a:solidFill>
                <a:latin typeface="Aptos"/>
                <a:ea typeface="Aptos"/>
                <a:cs typeface="Aptos"/>
              </a:defRPr>
            </a:pPr>
            <a:r>
              <a:rPr sz="975" b="0">
                <a:solidFill>
                  <a:srgbClr val="5B6572"/>
                </a:solidFill>
                <a:latin typeface="Aptos"/>
                <a:ea typeface="Aptos"/>
                <a:cs typeface="Aptos"/>
              </a:rPr>
              <a:t>Referencia [3]: PDU, ocupación temporal de vías; [5]: calendario de Puriy.</a:t>
            </a:r>
          </a:p>
        </p:txBody>
      </p:sp>
    </p:spTree>
    <p:extLst>
      <p:ext uri="{BB962C8B-B14F-4D97-AF65-F5344CB8AC3E}">
        <p14:creationId xmlns:p14="http://schemas.microsoft.com/office/powerpoint/2010/main" val="162729607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34D1A47-84AE-48AC-85DD-DFD12B9537CF}"/>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Quién usaría Puriy y para qué</a:t>
            </a:r>
          </a:p>
        </p:txBody>
      </p:sp>
      <p:sp>
        <p:nvSpPr>
          <p:cNvPr id="2" name="">
            <a:extLst xmlns:a="http://schemas.openxmlformats.org/drawingml/2006/main">
              <a:ext uri="{FF2B5EF4-FFF2-40B4-BE49-F238E27FC236}">
                <a16:creationId xmlns:a16="http://schemas.microsoft.com/office/drawing/2014/main" id="{8D8A0DBB-3CE8-48AF-976A-8852AF52B49B}"/>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19</a:t>
            </a:r>
          </a:p>
        </p:txBody>
      </p:sp>
      <p:sp>
        <p:nvSpPr>
          <p:cNvPr id="3" name="">
            <a:extLst xmlns:a="http://schemas.openxmlformats.org/drawingml/2006/main">
              <a:ext uri="{FF2B5EF4-FFF2-40B4-BE49-F238E27FC236}">
                <a16:creationId xmlns:a16="http://schemas.microsoft.com/office/drawing/2014/main" id="{ABDAFCBB-169F-4303-8352-C7ED609B85CB}"/>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FC8461C9-3E3D-47AB-BBD7-4ECF75461A8E}"/>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
            <a:extLst xmlns:a="http://schemas.openxmlformats.org/drawingml/2006/main">
              <a:ext uri="{FF2B5EF4-FFF2-40B4-BE49-F238E27FC236}">
                <a16:creationId xmlns:a16="http://schemas.microsoft.com/office/drawing/2014/main" id="{9D3BBA06-5365-497C-AD64-0BB5A3DD5DDB}"/>
              </a:ext>
            </a:extLst>
          </p:cNvPr>
          <p:cNvSpPr>
            <a:spLocks xmlns:a="http://schemas.openxmlformats.org/drawingml/2006/main" noGrp="1"/>
          </p:cNvSpPr>
          <p:nvPr/>
        </p:nvSpPr>
        <p:spPr>
          <a:xfrm xmlns:a="http://schemas.openxmlformats.org/drawingml/2006/main">
            <a:off x="571500" y="144780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275CBA"/>
                </a:solidFill>
                <a:latin typeface="Aptos"/>
                <a:ea typeface="Aptos"/>
                <a:cs typeface="Aptos"/>
              </a:defRPr>
            </a:pPr>
            <a:r>
              <a:rPr sz="2025" b="1">
                <a:solidFill>
                  <a:srgbClr val="275CBA"/>
                </a:solidFill>
                <a:latin typeface="Aptos"/>
                <a:ea typeface="Aptos"/>
                <a:cs typeface="Aptos"/>
              </a:rPr>
              <a:t>Pasajeros</a:t>
            </a:r>
          </a:p>
        </p:txBody>
      </p:sp>
      <p:sp>
        <p:nvSpPr>
          <p:cNvPr id="6" name="">
            <a:extLst xmlns:a="http://schemas.openxmlformats.org/drawingml/2006/main">
              <a:ext uri="{FF2B5EF4-FFF2-40B4-BE49-F238E27FC236}">
                <a16:creationId xmlns:a16="http://schemas.microsoft.com/office/drawing/2014/main" id="{A9C7EFD3-E4E0-4E3B-8812-5344953A3E88}"/>
              </a:ext>
            </a:extLst>
          </p:cNvPr>
          <p:cNvSpPr>
            <a:spLocks xmlns:a="http://schemas.openxmlformats.org/drawingml/2006/main" noGrp="1"/>
          </p:cNvSpPr>
          <p:nvPr/>
        </p:nvSpPr>
        <p:spPr>
          <a:xfrm xmlns:a="http://schemas.openxmlformats.org/drawingml/2006/main">
            <a:off x="3524250" y="1447800"/>
            <a:ext cx="776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20252C"/>
                </a:solidFill>
                <a:latin typeface="Aptos"/>
                <a:ea typeface="Aptos"/>
                <a:cs typeface="Aptos"/>
              </a:defRPr>
            </a:pPr>
            <a:r>
              <a:rPr sz="1725" b="0">
                <a:solidFill>
                  <a:srgbClr val="20252C"/>
                </a:solidFill>
                <a:latin typeface="Aptos"/>
                <a:ea typeface="Aptos"/>
                <a:cs typeface="Aptos"/>
              </a:rPr>
              <a:t>Saber qué recorrido tomar y cuánto implica caminar y esperar.</a:t>
            </a:r>
          </a:p>
        </p:txBody>
      </p:sp>
      <p:sp>
        <p:nvSpPr>
          <p:cNvPr id="7" name="">
            <a:extLst xmlns:a="http://schemas.openxmlformats.org/drawingml/2006/main">
              <a:ext uri="{FF2B5EF4-FFF2-40B4-BE49-F238E27FC236}">
                <a16:creationId xmlns:a16="http://schemas.microsoft.com/office/drawing/2014/main" id="{79F2A806-4C8A-4D81-8B0B-BA61419990A8}"/>
              </a:ext>
            </a:extLst>
          </p:cNvPr>
          <p:cNvSpPr>
            <a:spLocks xmlns:a="http://schemas.openxmlformats.org/drawingml/2006/main" noGrp="1"/>
          </p:cNvSpPr>
          <p:nvPr/>
        </p:nvSpPr>
        <p:spPr>
          <a:xfrm xmlns:a="http://schemas.openxmlformats.org/drawingml/2006/main">
            <a:off x="571500" y="2505075"/>
            <a:ext cx="11010900" cy="0"/>
          </a:xfrm>
          <a:prstGeom xmlns:a="http://schemas.openxmlformats.org/drawingml/2006/main" prst="line">
            <a:avLst/>
          </a:prstGeom>
          <a:noFill xmlns:a="http://schemas.openxmlformats.org/drawingml/2006/main"/>
          <a:ln xmlns:a="http://schemas.openxmlformats.org/drawingml/2006/main" w="9525">
            <a:solidFill>
              <a:srgbClr val="DDE3EA"/>
            </a:solidFill>
            <a:prstDash val="solid"/>
          </a:ln>
        </p:spPr>
      </p:sp>
      <p:sp>
        <p:nvSpPr>
          <p:cNvPr id="8" name="">
            <a:extLst xmlns:a="http://schemas.openxmlformats.org/drawingml/2006/main">
              <a:ext uri="{FF2B5EF4-FFF2-40B4-BE49-F238E27FC236}">
                <a16:creationId xmlns:a16="http://schemas.microsoft.com/office/drawing/2014/main" id="{E6C8B50D-2949-482B-B4ED-82106760572D}"/>
              </a:ext>
            </a:extLst>
          </p:cNvPr>
          <p:cNvSpPr>
            <a:spLocks xmlns:a="http://schemas.openxmlformats.org/drawingml/2006/main" noGrp="1"/>
          </p:cNvSpPr>
          <p:nvPr/>
        </p:nvSpPr>
        <p:spPr>
          <a:xfrm xmlns:a="http://schemas.openxmlformats.org/drawingml/2006/main">
            <a:off x="571500" y="2886075"/>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275CBA"/>
                </a:solidFill>
                <a:latin typeface="Aptos"/>
                <a:ea typeface="Aptos"/>
                <a:cs typeface="Aptos"/>
              </a:defRPr>
            </a:pPr>
            <a:r>
              <a:rPr sz="2025" b="1">
                <a:solidFill>
                  <a:srgbClr val="275CBA"/>
                </a:solidFill>
                <a:latin typeface="Aptos"/>
                <a:ea typeface="Aptos"/>
                <a:cs typeface="Aptos"/>
              </a:rPr>
              <a:t>Transportistas</a:t>
            </a:r>
          </a:p>
        </p:txBody>
      </p:sp>
      <p:sp>
        <p:nvSpPr>
          <p:cNvPr id="9" name="">
            <a:extLst xmlns:a="http://schemas.openxmlformats.org/drawingml/2006/main">
              <a:ext uri="{FF2B5EF4-FFF2-40B4-BE49-F238E27FC236}">
                <a16:creationId xmlns:a16="http://schemas.microsoft.com/office/drawing/2014/main" id="{6AD3DAC1-CE8F-481F-BB6F-2D970A6E520D}"/>
              </a:ext>
            </a:extLst>
          </p:cNvPr>
          <p:cNvSpPr>
            <a:spLocks xmlns:a="http://schemas.openxmlformats.org/drawingml/2006/main" noGrp="1"/>
          </p:cNvSpPr>
          <p:nvPr/>
        </p:nvSpPr>
        <p:spPr>
          <a:xfrm xmlns:a="http://schemas.openxmlformats.org/drawingml/2006/main">
            <a:off x="3524250" y="2886075"/>
            <a:ext cx="776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20252C"/>
                </a:solidFill>
                <a:latin typeface="Aptos"/>
                <a:ea typeface="Aptos"/>
                <a:cs typeface="Aptos"/>
              </a:defRPr>
            </a:pPr>
            <a:r>
              <a:rPr sz="1725" b="0">
                <a:solidFill>
                  <a:srgbClr val="20252C"/>
                </a:solidFill>
                <a:latin typeface="Aptos"/>
                <a:ea typeface="Aptos"/>
                <a:cs typeface="Aptos"/>
              </a:rPr>
              <a:t>Comprobar si la frecuencia solicitada cabe en su flota activa.</a:t>
            </a:r>
          </a:p>
        </p:txBody>
      </p:sp>
      <p:sp>
        <p:nvSpPr>
          <p:cNvPr id="10" name="">
            <a:extLst xmlns:a="http://schemas.openxmlformats.org/drawingml/2006/main">
              <a:ext uri="{FF2B5EF4-FFF2-40B4-BE49-F238E27FC236}">
                <a16:creationId xmlns:a16="http://schemas.microsoft.com/office/drawing/2014/main" id="{EA04558B-8701-4671-9062-687BF3470573}"/>
              </a:ext>
            </a:extLst>
          </p:cNvPr>
          <p:cNvSpPr>
            <a:spLocks xmlns:a="http://schemas.openxmlformats.org/drawingml/2006/main" noGrp="1"/>
          </p:cNvSpPr>
          <p:nvPr/>
        </p:nvSpPr>
        <p:spPr>
          <a:xfrm xmlns:a="http://schemas.openxmlformats.org/drawingml/2006/main">
            <a:off x="571500" y="3943350"/>
            <a:ext cx="11010900" cy="0"/>
          </a:xfrm>
          <a:prstGeom xmlns:a="http://schemas.openxmlformats.org/drawingml/2006/main" prst="line">
            <a:avLst/>
          </a:prstGeom>
          <a:noFill xmlns:a="http://schemas.openxmlformats.org/drawingml/2006/main"/>
          <a:ln xmlns:a="http://schemas.openxmlformats.org/drawingml/2006/main" w="9525">
            <a:solidFill>
              <a:srgbClr val="DDE3EA"/>
            </a:solidFill>
            <a:prstDash val="solid"/>
          </a:ln>
        </p:spPr>
      </p:sp>
      <p:sp>
        <p:nvSpPr>
          <p:cNvPr id="11" name="">
            <a:extLst xmlns:a="http://schemas.openxmlformats.org/drawingml/2006/main">
              <a:ext uri="{FF2B5EF4-FFF2-40B4-BE49-F238E27FC236}">
                <a16:creationId xmlns:a16="http://schemas.microsoft.com/office/drawing/2014/main" id="{8EB5F0BB-A253-446B-9256-7D54FCB83CD1}"/>
              </a:ext>
            </a:extLst>
          </p:cNvPr>
          <p:cNvSpPr>
            <a:spLocks xmlns:a="http://schemas.openxmlformats.org/drawingml/2006/main" noGrp="1"/>
          </p:cNvSpPr>
          <p:nvPr/>
        </p:nvSpPr>
        <p:spPr>
          <a:xfrm xmlns:a="http://schemas.openxmlformats.org/drawingml/2006/main">
            <a:off x="571500" y="432435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275CBA"/>
                </a:solidFill>
                <a:latin typeface="Aptos"/>
                <a:ea typeface="Aptos"/>
                <a:cs typeface="Aptos"/>
              </a:defRPr>
            </a:pPr>
            <a:r>
              <a:rPr sz="2025" b="1">
                <a:solidFill>
                  <a:srgbClr val="275CBA"/>
                </a:solidFill>
                <a:latin typeface="Aptos"/>
                <a:ea typeface="Aptos"/>
                <a:cs typeface="Aptos"/>
              </a:rPr>
              <a:t>Municipalidad</a:t>
            </a:r>
          </a:p>
        </p:txBody>
      </p:sp>
      <p:sp>
        <p:nvSpPr>
          <p:cNvPr id="12" name="">
            <a:extLst xmlns:a="http://schemas.openxmlformats.org/drawingml/2006/main">
              <a:ext uri="{FF2B5EF4-FFF2-40B4-BE49-F238E27FC236}">
                <a16:creationId xmlns:a16="http://schemas.microsoft.com/office/drawing/2014/main" id="{39925739-43A8-4912-84A6-B0C0036FE6C9}"/>
              </a:ext>
            </a:extLst>
          </p:cNvPr>
          <p:cNvSpPr>
            <a:spLocks xmlns:a="http://schemas.openxmlformats.org/drawingml/2006/main" noGrp="1"/>
          </p:cNvSpPr>
          <p:nvPr/>
        </p:nvSpPr>
        <p:spPr>
          <a:xfrm xmlns:a="http://schemas.openxmlformats.org/drawingml/2006/main">
            <a:off x="3524250" y="4324350"/>
            <a:ext cx="776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20252C"/>
                </a:solidFill>
                <a:latin typeface="Aptos"/>
                <a:ea typeface="Aptos"/>
                <a:cs typeface="Aptos"/>
              </a:defRPr>
            </a:pPr>
            <a:r>
              <a:rPr sz="1725" b="0">
                <a:solidFill>
                  <a:srgbClr val="20252C"/>
                </a:solidFill>
                <a:latin typeface="Aptos"/>
                <a:ea typeface="Aptos"/>
                <a:cs typeface="Aptos"/>
              </a:rPr>
              <a:t>Comparar cobertura y detectar zonas que pierden acceso antes de aprobar un cambio.</a:t>
            </a:r>
          </a:p>
        </p:txBody>
      </p:sp>
      <p:sp>
        <p:nvSpPr>
          <p:cNvPr id="13" name="">
            <a:extLst xmlns:a="http://schemas.openxmlformats.org/drawingml/2006/main">
              <a:ext uri="{FF2B5EF4-FFF2-40B4-BE49-F238E27FC236}">
                <a16:creationId xmlns:a16="http://schemas.microsoft.com/office/drawing/2014/main" id="{C1AF90BF-AC44-4F3F-8836-6318D833C35C}"/>
              </a:ext>
            </a:extLst>
          </p:cNvPr>
          <p:cNvSpPr>
            <a:spLocks xmlns:a="http://schemas.openxmlformats.org/drawingml/2006/main" noGrp="1"/>
          </p:cNvSpPr>
          <p:nvPr/>
        </p:nvSpPr>
        <p:spPr>
          <a:xfrm xmlns:a="http://schemas.openxmlformats.org/drawingml/2006/main">
            <a:off x="571500" y="5772150"/>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A9373D"/>
                </a:solidFill>
                <a:latin typeface="Aptos"/>
                <a:ea typeface="Aptos"/>
                <a:cs typeface="Aptos"/>
              </a:defRPr>
            </a:pPr>
            <a:r>
              <a:rPr sz="1350" b="1">
                <a:solidFill>
                  <a:srgbClr val="A9373D"/>
                </a:solidFill>
                <a:latin typeface="Aptos"/>
                <a:ea typeface="Aptos"/>
                <a:cs typeface="Aptos"/>
              </a:rPr>
              <a:t>El beneficio se mide en un piloto: menos tiempo de viaje, mejor regularidad o mejor acceso. Todavía no se presenta como resultado logrado.</a:t>
            </a:r>
          </a:p>
        </p:txBody>
      </p:sp>
    </p:spTree>
    <p:extLst>
      <p:ext uri="{BB962C8B-B14F-4D97-AF65-F5344CB8AC3E}">
        <p14:creationId xmlns:p14="http://schemas.microsoft.com/office/powerpoint/2010/main" val="117674373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B4120C1-2C86-4F43-8C51-B202A1DDDEF4}"/>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Cómo demostrar que una mejora funciona</a:t>
            </a:r>
          </a:p>
        </p:txBody>
      </p:sp>
      <p:sp>
        <p:nvSpPr>
          <p:cNvPr id="2" name="">
            <a:extLst xmlns:a="http://schemas.openxmlformats.org/drawingml/2006/main">
              <a:ext uri="{FF2B5EF4-FFF2-40B4-BE49-F238E27FC236}">
                <a16:creationId xmlns:a16="http://schemas.microsoft.com/office/drawing/2014/main" id="{A7498C07-97BF-4F07-AEBB-856B622811F2}"/>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20</a:t>
            </a:r>
          </a:p>
        </p:txBody>
      </p:sp>
      <p:sp>
        <p:nvSpPr>
          <p:cNvPr id="3" name="">
            <a:extLst xmlns:a="http://schemas.openxmlformats.org/drawingml/2006/main">
              <a:ext uri="{FF2B5EF4-FFF2-40B4-BE49-F238E27FC236}">
                <a16:creationId xmlns:a16="http://schemas.microsoft.com/office/drawing/2014/main" id="{0BF34523-BF20-463F-A3E9-9DDDB3F0E68F}"/>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C3328C1F-4C25-45C6-9B77-472DFF9FCE8F}"/>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
            <a:extLst xmlns:a="http://schemas.openxmlformats.org/drawingml/2006/main">
              <a:ext uri="{FF2B5EF4-FFF2-40B4-BE49-F238E27FC236}">
                <a16:creationId xmlns:a16="http://schemas.microsoft.com/office/drawing/2014/main" id="{518D16F5-4804-4EDC-9877-416AC68A1A6C}"/>
              </a:ext>
            </a:extLst>
          </p:cNvPr>
          <p:cNvSpPr>
            <a:spLocks xmlns:a="http://schemas.openxmlformats.org/drawingml/2006/main" noGrp="1"/>
          </p:cNvSpPr>
          <p:nvPr/>
        </p:nvSpPr>
        <p:spPr>
          <a:xfrm xmlns:a="http://schemas.openxmlformats.org/drawingml/2006/main">
            <a:off x="571500" y="1533525"/>
            <a:ext cx="3752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275CBA"/>
                </a:solidFill>
                <a:latin typeface="Aptos"/>
                <a:ea typeface="Aptos"/>
                <a:cs typeface="Aptos"/>
              </a:defRPr>
            </a:pPr>
            <a:r>
              <a:rPr sz="3525" b="1">
                <a:solidFill>
                  <a:srgbClr val="275CBA"/>
                </a:solidFill>
                <a:latin typeface="Aptos"/>
                <a:ea typeface="Aptos"/>
                <a:cs typeface="Aptos"/>
              </a:rPr>
              <a:t>Antes</a:t>
            </a:r>
          </a:p>
        </p:txBody>
      </p:sp>
      <p:sp>
        <p:nvSpPr>
          <p:cNvPr id="6" name="">
            <a:extLst xmlns:a="http://schemas.openxmlformats.org/drawingml/2006/main">
              <a:ext uri="{FF2B5EF4-FFF2-40B4-BE49-F238E27FC236}">
                <a16:creationId xmlns:a16="http://schemas.microsoft.com/office/drawing/2014/main" id="{99C19724-CA83-4AD9-89D5-0699F9E97565}"/>
              </a:ext>
            </a:extLst>
          </p:cNvPr>
          <p:cNvSpPr>
            <a:spLocks xmlns:a="http://schemas.openxmlformats.org/drawingml/2006/main" noGrp="1"/>
          </p:cNvSpPr>
          <p:nvPr/>
        </p:nvSpPr>
        <p:spPr>
          <a:xfrm xmlns:a="http://schemas.openxmlformats.org/drawingml/2006/main">
            <a:off x="571500" y="2257425"/>
            <a:ext cx="46577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0252C"/>
                </a:solidFill>
                <a:latin typeface="Aptos"/>
                <a:ea typeface="Aptos"/>
                <a:cs typeface="Aptos"/>
              </a:defRPr>
            </a:pPr>
            <a:r>
              <a:rPr sz="1650" b="0">
                <a:solidFill>
                  <a:srgbClr val="20252C"/>
                </a:solidFill>
                <a:latin typeface="Aptos"/>
                <a:ea typeface="Aptos"/>
                <a:cs typeface="Aptos"/>
              </a:rPr>
              <a:t>medir el recorrido, la espera y los ascensos durante dos semanas comparables</a:t>
            </a:r>
          </a:p>
        </p:txBody>
      </p:sp>
      <p:sp>
        <p:nvSpPr>
          <p:cNvPr id="7" name="">
            <a:extLst xmlns:a="http://schemas.openxmlformats.org/drawingml/2006/main">
              <a:ext uri="{FF2B5EF4-FFF2-40B4-BE49-F238E27FC236}">
                <a16:creationId xmlns:a16="http://schemas.microsoft.com/office/drawing/2014/main" id="{B74B836F-EA1C-412B-9574-86D0ABB79F3C}"/>
              </a:ext>
            </a:extLst>
          </p:cNvPr>
          <p:cNvSpPr>
            <a:spLocks xmlns:a="http://schemas.openxmlformats.org/drawingml/2006/main" noGrp="1"/>
          </p:cNvSpPr>
          <p:nvPr/>
        </p:nvSpPr>
        <p:spPr>
          <a:xfrm xmlns:a="http://schemas.openxmlformats.org/drawingml/2006/main">
            <a:off x="6000750" y="1466850"/>
            <a:ext cx="19050" cy="2305050"/>
          </a:xfrm>
          <a:prstGeom xmlns:a="http://schemas.openxmlformats.org/drawingml/2006/main" prst="rect">
            <a:avLst/>
          </a:prstGeom>
          <a:solidFill xmlns:a="http://schemas.openxmlformats.org/drawingml/2006/main">
            <a:srgbClr val="DDE3E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EAAF85F-C78E-4161-AD38-1D88B50C63C8}"/>
              </a:ext>
            </a:extLst>
          </p:cNvPr>
          <p:cNvSpPr>
            <a:spLocks xmlns:a="http://schemas.openxmlformats.org/drawingml/2006/main" noGrp="1"/>
          </p:cNvSpPr>
          <p:nvPr/>
        </p:nvSpPr>
        <p:spPr>
          <a:xfrm xmlns:a="http://schemas.openxmlformats.org/drawingml/2006/main">
            <a:off x="6486525" y="1533525"/>
            <a:ext cx="4029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167B62"/>
                </a:solidFill>
                <a:latin typeface="Aptos"/>
                <a:ea typeface="Aptos"/>
                <a:cs typeface="Aptos"/>
              </a:defRPr>
            </a:pPr>
            <a:r>
              <a:rPr sz="3525" b="1">
                <a:solidFill>
                  <a:srgbClr val="167B62"/>
                </a:solidFill>
                <a:latin typeface="Aptos"/>
                <a:ea typeface="Aptos"/>
                <a:cs typeface="Aptos"/>
              </a:rPr>
              <a:t>Piloto</a:t>
            </a:r>
          </a:p>
        </p:txBody>
      </p:sp>
      <p:sp>
        <p:nvSpPr>
          <p:cNvPr id="9" name="">
            <a:extLst xmlns:a="http://schemas.openxmlformats.org/drawingml/2006/main">
              <a:ext uri="{FF2B5EF4-FFF2-40B4-BE49-F238E27FC236}">
                <a16:creationId xmlns:a16="http://schemas.microsoft.com/office/drawing/2014/main" id="{0A7B1A51-F2CB-4424-AD7C-6D304ACA4B66}"/>
              </a:ext>
            </a:extLst>
          </p:cNvPr>
          <p:cNvSpPr>
            <a:spLocks xmlns:a="http://schemas.openxmlformats.org/drawingml/2006/main" noGrp="1"/>
          </p:cNvSpPr>
          <p:nvPr/>
        </p:nvSpPr>
        <p:spPr>
          <a:xfrm xmlns:a="http://schemas.openxmlformats.org/drawingml/2006/main">
            <a:off x="6486525" y="2257425"/>
            <a:ext cx="4667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0252C"/>
                </a:solidFill>
                <a:latin typeface="Aptos"/>
                <a:ea typeface="Aptos"/>
                <a:cs typeface="Aptos"/>
              </a:defRPr>
            </a:pPr>
            <a:r>
              <a:rPr sz="1650" b="0">
                <a:solidFill>
                  <a:srgbClr val="20252C"/>
                </a:solidFill>
                <a:latin typeface="Aptos"/>
                <a:ea typeface="Aptos"/>
                <a:cs typeface="Aptos"/>
              </a:rPr>
              <a:t>probar durante tres a cuatro semanas con el operador y medir lo mismo</a:t>
            </a:r>
          </a:p>
        </p:txBody>
      </p:sp>
      <p:sp>
        <p:nvSpPr>
          <p:cNvPr id="10" name="">
            <a:extLst xmlns:a="http://schemas.openxmlformats.org/drawingml/2006/main">
              <a:ext uri="{FF2B5EF4-FFF2-40B4-BE49-F238E27FC236}">
                <a16:creationId xmlns:a16="http://schemas.microsoft.com/office/drawing/2014/main" id="{6474DCD3-9854-4CBC-B753-2B7BD5355ECD}"/>
              </a:ext>
            </a:extLst>
          </p:cNvPr>
          <p:cNvSpPr>
            <a:spLocks xmlns:a="http://schemas.openxmlformats.org/drawingml/2006/main" noGrp="1"/>
          </p:cNvSpPr>
          <p:nvPr/>
        </p:nvSpPr>
        <p:spPr>
          <a:xfrm xmlns:a="http://schemas.openxmlformats.org/drawingml/2006/main">
            <a:off x="571500" y="4171950"/>
            <a:ext cx="1101090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11" name="">
            <a:extLst xmlns:a="http://schemas.openxmlformats.org/drawingml/2006/main">
              <a:ext uri="{FF2B5EF4-FFF2-40B4-BE49-F238E27FC236}">
                <a16:creationId xmlns:a16="http://schemas.microsoft.com/office/drawing/2014/main" id="{1906BCAF-8D13-4BF1-B58C-EB20B4D0A4BC}"/>
              </a:ext>
            </a:extLst>
          </p:cNvPr>
          <p:cNvSpPr>
            <a:spLocks xmlns:a="http://schemas.openxmlformats.org/drawingml/2006/main" noGrp="1"/>
          </p:cNvSpPr>
          <p:nvPr/>
        </p:nvSpPr>
        <p:spPr>
          <a:xfrm xmlns:a="http://schemas.openxmlformats.org/drawingml/2006/main">
            <a:off x="571500" y="4638675"/>
            <a:ext cx="108489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20252C"/>
                </a:solidFill>
                <a:latin typeface="Aptos"/>
                <a:ea typeface="Aptos"/>
                <a:cs typeface="Aptos"/>
              </a:defRPr>
            </a:pPr>
            <a:r>
              <a:rPr sz="1875" b="1">
                <a:solidFill>
                  <a:srgbClr val="20252C"/>
                </a:solidFill>
                <a:latin typeface="Aptos"/>
                <a:ea typeface="Aptos"/>
                <a:cs typeface="Aptos"/>
              </a:rPr>
              <a:t>Se comparan el mismo sentido, día y hora. También se anota si algún barrio pierde acceso o si un corredor vecino empeora.</a:t>
            </a:r>
          </a:p>
        </p:txBody>
      </p:sp>
      <p:sp>
        <p:nvSpPr>
          <p:cNvPr id="12" name="">
            <a:extLst xmlns:a="http://schemas.openxmlformats.org/drawingml/2006/main">
              <a:ext uri="{FF2B5EF4-FFF2-40B4-BE49-F238E27FC236}">
                <a16:creationId xmlns:a16="http://schemas.microsoft.com/office/drawing/2014/main" id="{F844E87C-E55E-488B-BF55-BAB0BF3E5B15}"/>
              </a:ext>
            </a:extLst>
          </p:cNvPr>
          <p:cNvSpPr>
            <a:spLocks xmlns:a="http://schemas.openxmlformats.org/drawingml/2006/main" noGrp="1"/>
          </p:cNvSpPr>
          <p:nvPr/>
        </p:nvSpPr>
        <p:spPr>
          <a:xfrm xmlns:a="http://schemas.openxmlformats.org/drawingml/2006/main">
            <a:off x="571500" y="6210300"/>
            <a:ext cx="11001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5B6572"/>
                </a:solidFill>
                <a:latin typeface="Aptos"/>
                <a:ea typeface="Aptos"/>
                <a:cs typeface="Aptos"/>
              </a:defRPr>
            </a:pPr>
            <a:r>
              <a:rPr sz="975" b="0">
                <a:solidFill>
                  <a:srgbClr val="5B6572"/>
                </a:solidFill>
                <a:latin typeface="Aptos"/>
                <a:ea typeface="Aptos"/>
                <a:cs typeface="Aptos"/>
              </a:rPr>
              <a:t>Diseño de evaluación propuesto por ASEDIC; indicadores definidos en Puriy [5].</a:t>
            </a:r>
          </a:p>
        </p:txBody>
      </p:sp>
    </p:spTree>
    <p:extLst>
      <p:ext uri="{BB962C8B-B14F-4D97-AF65-F5344CB8AC3E}">
        <p14:creationId xmlns:p14="http://schemas.microsoft.com/office/powerpoint/2010/main" val="1718689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CAA90C1-6A99-4E76-BF91-8B5EAAA59777}"/>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Cómo pasaría de prototipo a servicio público</a:t>
            </a:r>
          </a:p>
        </p:txBody>
      </p:sp>
      <p:sp>
        <p:nvSpPr>
          <p:cNvPr id="2" name="">
            <a:extLst xmlns:a="http://schemas.openxmlformats.org/drawingml/2006/main">
              <a:ext uri="{FF2B5EF4-FFF2-40B4-BE49-F238E27FC236}">
                <a16:creationId xmlns:a16="http://schemas.microsoft.com/office/drawing/2014/main" id="{2FD3386C-3EAE-47C3-B1E5-3A82754BC6BB}"/>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21</a:t>
            </a:r>
          </a:p>
        </p:txBody>
      </p:sp>
      <p:sp>
        <p:nvSpPr>
          <p:cNvPr id="3" name="">
            <a:extLst xmlns:a="http://schemas.openxmlformats.org/drawingml/2006/main">
              <a:ext uri="{FF2B5EF4-FFF2-40B4-BE49-F238E27FC236}">
                <a16:creationId xmlns:a16="http://schemas.microsoft.com/office/drawing/2014/main" id="{8B0414D4-26FE-4A8B-9A85-F418248A5AD5}"/>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571E988F-1437-42CD-A3E1-8F6B43BA323C}"/>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PURIY · ASEDIC · JULIACA</a:t>
            </a:r>
          </a:p>
        </p:txBody>
      </p:sp>
      <p:sp>
        <p:nvSpPr>
          <p:cNvPr id="5" name="">
            <a:extLst xmlns:a="http://schemas.openxmlformats.org/drawingml/2006/main">
              <a:ext uri="{FF2B5EF4-FFF2-40B4-BE49-F238E27FC236}">
                <a16:creationId xmlns:a16="http://schemas.microsoft.com/office/drawing/2014/main" id="{87BC0642-8A9A-4894-9076-535D6144C739}"/>
              </a:ext>
            </a:extLst>
          </p:cNvPr>
          <p:cNvSpPr>
            <a:spLocks xmlns:a="http://schemas.openxmlformats.org/drawingml/2006/main" noGrp="1"/>
          </p:cNvSpPr>
          <p:nvPr/>
        </p:nvSpPr>
        <p:spPr>
          <a:xfrm xmlns:a="http://schemas.openxmlformats.org/drawingml/2006/main">
            <a:off x="571500" y="1419225"/>
            <a:ext cx="2838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275CBA"/>
                </a:solidFill>
                <a:latin typeface="Aptos"/>
                <a:ea typeface="Aptos"/>
                <a:cs typeface="Aptos"/>
              </a:defRPr>
            </a:pPr>
            <a:r>
              <a:rPr sz="2025" b="1">
                <a:solidFill>
                  <a:srgbClr val="275CBA"/>
                </a:solidFill>
                <a:latin typeface="Aptos"/>
                <a:ea typeface="Aptos"/>
                <a:cs typeface="Aptos"/>
              </a:rPr>
              <a:t>Hoy</a:t>
            </a:r>
          </a:p>
        </p:txBody>
      </p:sp>
      <p:sp>
        <p:nvSpPr>
          <p:cNvPr id="6" name="">
            <a:extLst xmlns:a="http://schemas.openxmlformats.org/drawingml/2006/main">
              <a:ext uri="{FF2B5EF4-FFF2-40B4-BE49-F238E27FC236}">
                <a16:creationId xmlns:a16="http://schemas.microsoft.com/office/drawing/2014/main" id="{32E375F8-15AD-4989-A4C2-46CB1083892E}"/>
              </a:ext>
            </a:extLst>
          </p:cNvPr>
          <p:cNvSpPr>
            <a:spLocks xmlns:a="http://schemas.openxmlformats.org/drawingml/2006/main" noGrp="1"/>
          </p:cNvSpPr>
          <p:nvPr/>
        </p:nvSpPr>
        <p:spPr>
          <a:xfrm xmlns:a="http://schemas.openxmlformats.org/drawingml/2006/main">
            <a:off x="3276600" y="1419225"/>
            <a:ext cx="79152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0252C"/>
                </a:solidFill>
                <a:latin typeface="Aptos"/>
                <a:ea typeface="Aptos"/>
                <a:cs typeface="Aptos"/>
              </a:defRPr>
            </a:pPr>
            <a:r>
              <a:rPr sz="1650" b="0">
                <a:solidFill>
                  <a:srgbClr val="20252C"/>
                </a:solidFill>
                <a:latin typeface="Aptos"/>
                <a:ea typeface="Aptos"/>
                <a:cs typeface="Aptos"/>
              </a:rPr>
              <a:t>Mapa, planificador y laboratorio para estudiar propuestas.</a:t>
            </a:r>
          </a:p>
        </p:txBody>
      </p:sp>
      <p:sp>
        <p:nvSpPr>
          <p:cNvPr id="7" name="">
            <a:extLst xmlns:a="http://schemas.openxmlformats.org/drawingml/2006/main">
              <a:ext uri="{FF2B5EF4-FFF2-40B4-BE49-F238E27FC236}">
                <a16:creationId xmlns:a16="http://schemas.microsoft.com/office/drawing/2014/main" id="{6DE53DAF-0ED0-49A2-B6B6-5493E5E1BC1B}"/>
              </a:ext>
            </a:extLst>
          </p:cNvPr>
          <p:cNvSpPr>
            <a:spLocks xmlns:a="http://schemas.openxmlformats.org/drawingml/2006/main" noGrp="1"/>
          </p:cNvSpPr>
          <p:nvPr/>
        </p:nvSpPr>
        <p:spPr>
          <a:xfrm xmlns:a="http://schemas.openxmlformats.org/drawingml/2006/main">
            <a:off x="571500" y="2409825"/>
            <a:ext cx="11010900" cy="0"/>
          </a:xfrm>
          <a:prstGeom xmlns:a="http://schemas.openxmlformats.org/drawingml/2006/main" prst="line">
            <a:avLst/>
          </a:prstGeom>
          <a:noFill xmlns:a="http://schemas.openxmlformats.org/drawingml/2006/main"/>
          <a:ln xmlns:a="http://schemas.openxmlformats.org/drawingml/2006/main" w="9525">
            <a:solidFill>
              <a:srgbClr val="DDE3EA"/>
            </a:solidFill>
            <a:prstDash val="solid"/>
          </a:ln>
        </p:spPr>
      </p:sp>
      <p:sp>
        <p:nvSpPr>
          <p:cNvPr id="8" name="">
            <a:extLst xmlns:a="http://schemas.openxmlformats.org/drawingml/2006/main">
              <a:ext uri="{FF2B5EF4-FFF2-40B4-BE49-F238E27FC236}">
                <a16:creationId xmlns:a16="http://schemas.microsoft.com/office/drawing/2014/main" id="{D8D16391-E34D-4686-BF8B-BC1C094BE349}"/>
              </a:ext>
            </a:extLst>
          </p:cNvPr>
          <p:cNvSpPr>
            <a:spLocks xmlns:a="http://schemas.openxmlformats.org/drawingml/2006/main" noGrp="1"/>
          </p:cNvSpPr>
          <p:nvPr/>
        </p:nvSpPr>
        <p:spPr>
          <a:xfrm xmlns:a="http://schemas.openxmlformats.org/drawingml/2006/main">
            <a:off x="571500" y="2686050"/>
            <a:ext cx="2838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275CBA"/>
                </a:solidFill>
                <a:latin typeface="Aptos"/>
                <a:ea typeface="Aptos"/>
                <a:cs typeface="Aptos"/>
              </a:defRPr>
            </a:pPr>
            <a:r>
              <a:rPr sz="2025" b="1">
                <a:solidFill>
                  <a:srgbClr val="275CBA"/>
                </a:solidFill>
                <a:latin typeface="Aptos"/>
                <a:ea typeface="Aptos"/>
                <a:cs typeface="Aptos"/>
              </a:rPr>
              <a:t>Primer corredor</a:t>
            </a:r>
          </a:p>
        </p:txBody>
      </p:sp>
      <p:sp>
        <p:nvSpPr>
          <p:cNvPr id="9" name="">
            <a:extLst xmlns:a="http://schemas.openxmlformats.org/drawingml/2006/main">
              <a:ext uri="{FF2B5EF4-FFF2-40B4-BE49-F238E27FC236}">
                <a16:creationId xmlns:a16="http://schemas.microsoft.com/office/drawing/2014/main" id="{076F8302-3124-4DB0-8867-D7C88EBD7308}"/>
              </a:ext>
            </a:extLst>
          </p:cNvPr>
          <p:cNvSpPr>
            <a:spLocks xmlns:a="http://schemas.openxmlformats.org/drawingml/2006/main" noGrp="1"/>
          </p:cNvSpPr>
          <p:nvPr/>
        </p:nvSpPr>
        <p:spPr>
          <a:xfrm xmlns:a="http://schemas.openxmlformats.org/drawingml/2006/main">
            <a:off x="3276600" y="2686050"/>
            <a:ext cx="79152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0252C"/>
                </a:solidFill>
                <a:latin typeface="Aptos"/>
                <a:ea typeface="Aptos"/>
                <a:cs typeface="Aptos"/>
              </a:defRPr>
            </a:pPr>
            <a:r>
              <a:rPr sz="1650" b="0">
                <a:solidFill>
                  <a:srgbClr val="20252C"/>
                </a:solidFill>
                <a:latin typeface="Aptos"/>
                <a:ea typeface="Aptos"/>
                <a:cs typeface="Aptos"/>
              </a:rPr>
              <a:t>Recorrido, abordajes, intervalos y GPS comprobados con un operador.</a:t>
            </a:r>
          </a:p>
        </p:txBody>
      </p:sp>
      <p:sp>
        <p:nvSpPr>
          <p:cNvPr id="10" name="">
            <a:extLst xmlns:a="http://schemas.openxmlformats.org/drawingml/2006/main">
              <a:ext uri="{FF2B5EF4-FFF2-40B4-BE49-F238E27FC236}">
                <a16:creationId xmlns:a16="http://schemas.microsoft.com/office/drawing/2014/main" id="{A5395F12-42F3-40F5-B6D8-1C73BDE1D90A}"/>
              </a:ext>
            </a:extLst>
          </p:cNvPr>
          <p:cNvSpPr>
            <a:spLocks xmlns:a="http://schemas.openxmlformats.org/drawingml/2006/main" noGrp="1"/>
          </p:cNvSpPr>
          <p:nvPr/>
        </p:nvSpPr>
        <p:spPr>
          <a:xfrm xmlns:a="http://schemas.openxmlformats.org/drawingml/2006/main">
            <a:off x="571500" y="3676650"/>
            <a:ext cx="11010900" cy="0"/>
          </a:xfrm>
          <a:prstGeom xmlns:a="http://schemas.openxmlformats.org/drawingml/2006/main" prst="line">
            <a:avLst/>
          </a:prstGeom>
          <a:noFill xmlns:a="http://schemas.openxmlformats.org/drawingml/2006/main"/>
          <a:ln xmlns:a="http://schemas.openxmlformats.org/drawingml/2006/main" w="9525">
            <a:solidFill>
              <a:srgbClr val="DDE3EA"/>
            </a:solidFill>
            <a:prstDash val="solid"/>
          </a:ln>
        </p:spPr>
      </p:sp>
      <p:sp>
        <p:nvSpPr>
          <p:cNvPr id="11" name="">
            <a:extLst xmlns:a="http://schemas.openxmlformats.org/drawingml/2006/main">
              <a:ext uri="{FF2B5EF4-FFF2-40B4-BE49-F238E27FC236}">
                <a16:creationId xmlns:a16="http://schemas.microsoft.com/office/drawing/2014/main" id="{EC8AC517-A8F6-4D7F-9151-246C9AC92797}"/>
              </a:ext>
            </a:extLst>
          </p:cNvPr>
          <p:cNvSpPr>
            <a:spLocks xmlns:a="http://schemas.openxmlformats.org/drawingml/2006/main" noGrp="1"/>
          </p:cNvSpPr>
          <p:nvPr/>
        </p:nvSpPr>
        <p:spPr>
          <a:xfrm xmlns:a="http://schemas.openxmlformats.org/drawingml/2006/main">
            <a:off x="571500" y="3952875"/>
            <a:ext cx="2838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275CBA"/>
                </a:solidFill>
                <a:latin typeface="Aptos"/>
                <a:ea typeface="Aptos"/>
                <a:cs typeface="Aptos"/>
              </a:defRPr>
            </a:pPr>
            <a:r>
              <a:rPr sz="2025" b="1">
                <a:solidFill>
                  <a:srgbClr val="275CBA"/>
                </a:solidFill>
                <a:latin typeface="Aptos"/>
                <a:ea typeface="Aptos"/>
                <a:cs typeface="Aptos"/>
              </a:rPr>
              <a:t>Ampliación</a:t>
            </a:r>
          </a:p>
        </p:txBody>
      </p:sp>
      <p:sp>
        <p:nvSpPr>
          <p:cNvPr id="12" name="">
            <a:extLst xmlns:a="http://schemas.openxmlformats.org/drawingml/2006/main">
              <a:ext uri="{FF2B5EF4-FFF2-40B4-BE49-F238E27FC236}">
                <a16:creationId xmlns:a16="http://schemas.microsoft.com/office/drawing/2014/main" id="{AFE0D792-D06E-4216-916A-801EF3913B0E}"/>
              </a:ext>
            </a:extLst>
          </p:cNvPr>
          <p:cNvSpPr>
            <a:spLocks xmlns:a="http://schemas.openxmlformats.org/drawingml/2006/main" noGrp="1"/>
          </p:cNvSpPr>
          <p:nvPr/>
        </p:nvSpPr>
        <p:spPr>
          <a:xfrm xmlns:a="http://schemas.openxmlformats.org/drawingml/2006/main">
            <a:off x="3276600" y="3952875"/>
            <a:ext cx="79152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0252C"/>
                </a:solidFill>
                <a:latin typeface="Aptos"/>
                <a:ea typeface="Aptos"/>
                <a:cs typeface="Aptos"/>
              </a:defRPr>
            </a:pPr>
            <a:r>
              <a:rPr sz="1650" b="0">
                <a:solidFill>
                  <a:srgbClr val="20252C"/>
                </a:solidFill>
                <a:latin typeface="Aptos"/>
                <a:ea typeface="Aptos"/>
                <a:cs typeface="Aptos"/>
              </a:rPr>
              <a:t>Más líneas verificadas y avisos al pasajero; después, análisis de toda la red.</a:t>
            </a:r>
          </a:p>
        </p:txBody>
      </p:sp>
      <p:sp>
        <p:nvSpPr>
          <p:cNvPr id="13" name="">
            <a:extLst xmlns:a="http://schemas.openxmlformats.org/drawingml/2006/main">
              <a:ext uri="{FF2B5EF4-FFF2-40B4-BE49-F238E27FC236}">
                <a16:creationId xmlns:a16="http://schemas.microsoft.com/office/drawing/2014/main" id="{0DA7A642-F298-4DBC-A243-2F0ADEC57299}"/>
              </a:ext>
            </a:extLst>
          </p:cNvPr>
          <p:cNvSpPr>
            <a:spLocks xmlns:a="http://schemas.openxmlformats.org/drawingml/2006/main" noGrp="1"/>
          </p:cNvSpPr>
          <p:nvPr/>
        </p:nvSpPr>
        <p:spPr>
          <a:xfrm xmlns:a="http://schemas.openxmlformats.org/drawingml/2006/main">
            <a:off x="571500" y="5334000"/>
            <a:ext cx="1101090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14" name="">
            <a:extLst xmlns:a="http://schemas.openxmlformats.org/drawingml/2006/main">
              <a:ext uri="{FF2B5EF4-FFF2-40B4-BE49-F238E27FC236}">
                <a16:creationId xmlns:a16="http://schemas.microsoft.com/office/drawing/2014/main" id="{2616885D-8D36-4831-AD12-176E6E51C00D}"/>
              </a:ext>
            </a:extLst>
          </p:cNvPr>
          <p:cNvSpPr>
            <a:spLocks xmlns:a="http://schemas.openxmlformats.org/drawingml/2006/main" noGrp="1"/>
          </p:cNvSpPr>
          <p:nvPr/>
        </p:nvSpPr>
        <p:spPr>
          <a:xfrm xmlns:a="http://schemas.openxmlformats.org/drawingml/2006/main">
            <a:off x="571500" y="5619750"/>
            <a:ext cx="107918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0252C"/>
                </a:solidFill>
                <a:latin typeface="Aptos"/>
                <a:ea typeface="Aptos"/>
                <a:cs typeface="Aptos"/>
              </a:defRPr>
            </a:pPr>
            <a:r>
              <a:rPr sz="1500" b="1">
                <a:solidFill>
                  <a:srgbClr val="20252C"/>
                </a:solidFill>
                <a:latin typeface="Aptos"/>
                <a:ea typeface="Aptos"/>
                <a:cs typeface="Aptos"/>
              </a:rPr>
              <a:t>Para operarlo hacen falta alojamiento web y base de datos, dominio, respaldo, soporte técnico y jornadas de medición.</a:t>
            </a:r>
          </a:p>
        </p:txBody>
      </p:sp>
    </p:spTree>
    <p:extLst>
      <p:ext uri="{BB962C8B-B14F-4D97-AF65-F5344CB8AC3E}">
        <p14:creationId xmlns:p14="http://schemas.microsoft.com/office/powerpoint/2010/main" val="1185187586"/>
      </p:ext>
    </p:extLst>
  </p:cSld>
</p:sld>
</file>

<file path=ppt/slides/slide22.xml><?xml version="1.0" encoding="utf-8"?>
<p:sld xmlns:p="http://schemas.openxmlformats.org/presentationml/2006/main">
  <p:cSld>
    <p:bg>
      <p:bgPr>
        <a:solidFill xmlns:a="http://schemas.openxmlformats.org/drawingml/2006/main">
          <a:srgbClr val="17202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5DE206E-0CF0-4339-9C04-9938F5384036}"/>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FFFFFF"/>
                </a:solidFill>
                <a:latin typeface="Aptos"/>
                <a:ea typeface="Aptos"/>
                <a:cs typeface="Aptos"/>
              </a:defRPr>
            </a:pPr>
            <a:r>
              <a:rPr sz="2325" b="1">
                <a:solidFill>
                  <a:srgbClr val="FFFFFF"/>
                </a:solidFill>
                <a:latin typeface="Aptos"/>
                <a:ea typeface="Aptos"/>
                <a:cs typeface="Aptos"/>
              </a:rPr>
              <a:t>Equipo ASEDIC y siguiente paso</a:t>
            </a:r>
          </a:p>
        </p:txBody>
      </p:sp>
      <p:sp>
        <p:nvSpPr>
          <p:cNvPr id="2" name="">
            <a:extLst xmlns:a="http://schemas.openxmlformats.org/drawingml/2006/main">
              <a:ext uri="{FF2B5EF4-FFF2-40B4-BE49-F238E27FC236}">
                <a16:creationId xmlns:a16="http://schemas.microsoft.com/office/drawing/2014/main" id="{C99A8080-C02B-450D-B739-19E685D31C47}"/>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B9CDF5"/>
                </a:solidFill>
                <a:latin typeface="Aptos"/>
                <a:ea typeface="Aptos"/>
                <a:cs typeface="Aptos"/>
              </a:defRPr>
            </a:pPr>
            <a:r>
              <a:rPr sz="1200" b="1">
                <a:solidFill>
                  <a:srgbClr val="B9CDF5"/>
                </a:solidFill>
                <a:latin typeface="Aptos"/>
                <a:ea typeface="Aptos"/>
                <a:cs typeface="Aptos"/>
              </a:rPr>
              <a:t>22</a:t>
            </a:r>
          </a:p>
        </p:txBody>
      </p:sp>
      <p:sp>
        <p:nvSpPr>
          <p:cNvPr id="3" name="">
            <a:extLst xmlns:a="http://schemas.openxmlformats.org/drawingml/2006/main">
              <a:ext uri="{FF2B5EF4-FFF2-40B4-BE49-F238E27FC236}">
                <a16:creationId xmlns:a16="http://schemas.microsoft.com/office/drawing/2014/main" id="{827695B4-73FF-4E3E-8D89-7F983C773BFF}"/>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465467"/>
            </a:solidFill>
            <a:prstDash val="solid"/>
          </a:ln>
        </p:spPr>
      </p:sp>
      <p:sp>
        <p:nvSpPr>
          <p:cNvPr id="4" name="">
            <a:extLst xmlns:a="http://schemas.openxmlformats.org/drawingml/2006/main">
              <a:ext uri="{FF2B5EF4-FFF2-40B4-BE49-F238E27FC236}">
                <a16:creationId xmlns:a16="http://schemas.microsoft.com/office/drawing/2014/main" id="{971B4328-B5B2-40D1-A707-34387A87341B}"/>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AAB8C8"/>
                </a:solidFill>
                <a:latin typeface="Aptos"/>
                <a:ea typeface="Aptos"/>
                <a:cs typeface="Aptos"/>
              </a:defRPr>
            </a:pPr>
            <a:r>
              <a:rPr sz="825" b="0">
                <a:solidFill>
                  <a:srgbClr val="AAB8C8"/>
                </a:solidFill>
                <a:latin typeface="Aptos"/>
                <a:ea typeface="Aptos"/>
                <a:cs typeface="Aptos"/>
              </a:rPr>
              <a:t>PURIY · ASEDIC · JULIACA</a:t>
            </a:r>
          </a:p>
        </p:txBody>
      </p:sp>
      <p:sp>
        <p:nvSpPr>
          <p:cNvPr id="5" name="">
            <a:extLst xmlns:a="http://schemas.openxmlformats.org/drawingml/2006/main">
              <a:ext uri="{FF2B5EF4-FFF2-40B4-BE49-F238E27FC236}">
                <a16:creationId xmlns:a16="http://schemas.microsoft.com/office/drawing/2014/main" id="{115C81A3-B100-451A-8560-86EA7A0E341C}"/>
              </a:ext>
            </a:extLst>
          </p:cNvPr>
          <p:cNvSpPr>
            <a:spLocks xmlns:a="http://schemas.openxmlformats.org/drawingml/2006/main" noGrp="1"/>
          </p:cNvSpPr>
          <p:nvPr/>
        </p:nvSpPr>
        <p:spPr>
          <a:xfrm xmlns:a="http://schemas.openxmlformats.org/drawingml/2006/main">
            <a:off x="571500" y="15621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Ivan Antony Mamani Guevara</a:t>
            </a:r>
          </a:p>
        </p:txBody>
      </p:sp>
      <p:sp>
        <p:nvSpPr>
          <p:cNvPr id="6" name="">
            <a:extLst xmlns:a="http://schemas.openxmlformats.org/drawingml/2006/main">
              <a:ext uri="{FF2B5EF4-FFF2-40B4-BE49-F238E27FC236}">
                <a16:creationId xmlns:a16="http://schemas.microsoft.com/office/drawing/2014/main" id="{C4D1118F-4D9D-4F78-B953-18D6E7087A28}"/>
              </a:ext>
            </a:extLst>
          </p:cNvPr>
          <p:cNvSpPr>
            <a:spLocks xmlns:a="http://schemas.openxmlformats.org/drawingml/2006/main" noGrp="1"/>
          </p:cNvSpPr>
          <p:nvPr/>
        </p:nvSpPr>
        <p:spPr>
          <a:xfrm xmlns:a="http://schemas.openxmlformats.org/drawingml/2006/main">
            <a:off x="571500" y="2695575"/>
            <a:ext cx="33147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D4DFED"/>
                </a:solidFill>
                <a:latin typeface="Aptos"/>
                <a:ea typeface="Aptos"/>
                <a:cs typeface="Aptos"/>
              </a:defRPr>
            </a:pPr>
            <a:r>
              <a:rPr sz="1425" b="0">
                <a:solidFill>
                  <a:srgbClr val="D4DFED"/>
                </a:solidFill>
                <a:latin typeface="Aptos"/>
                <a:ea typeface="Aptos"/>
                <a:cs typeface="Aptos"/>
              </a:rPr>
              <a:t>Lidera el desarrollo y coordina el piloto.</a:t>
            </a:r>
          </a:p>
        </p:txBody>
      </p:sp>
      <p:sp>
        <p:nvSpPr>
          <p:cNvPr id="7" name="">
            <a:extLst xmlns:a="http://schemas.openxmlformats.org/drawingml/2006/main">
              <a:ext uri="{FF2B5EF4-FFF2-40B4-BE49-F238E27FC236}">
                <a16:creationId xmlns:a16="http://schemas.microsoft.com/office/drawing/2014/main" id="{8B8EC359-0026-403D-8F71-DEE42D773D50}"/>
              </a:ext>
            </a:extLst>
          </p:cNvPr>
          <p:cNvSpPr>
            <a:spLocks xmlns:a="http://schemas.openxmlformats.org/drawingml/2006/main" noGrp="1"/>
          </p:cNvSpPr>
          <p:nvPr/>
        </p:nvSpPr>
        <p:spPr>
          <a:xfrm xmlns:a="http://schemas.openxmlformats.org/drawingml/2006/main">
            <a:off x="4057650" y="1495425"/>
            <a:ext cx="19050" cy="2447925"/>
          </a:xfrm>
          <a:prstGeom xmlns:a="http://schemas.openxmlformats.org/drawingml/2006/main" prst="rect">
            <a:avLst/>
          </a:prstGeom>
          <a:solidFill xmlns:a="http://schemas.openxmlformats.org/drawingml/2006/main">
            <a:srgbClr val="49596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A581B07-8776-4EC2-9B0D-E3D8E2A5DFBE}"/>
              </a:ext>
            </a:extLst>
          </p:cNvPr>
          <p:cNvSpPr>
            <a:spLocks xmlns:a="http://schemas.openxmlformats.org/drawingml/2006/main" noGrp="1"/>
          </p:cNvSpPr>
          <p:nvPr/>
        </p:nvSpPr>
        <p:spPr>
          <a:xfrm xmlns:a="http://schemas.openxmlformats.org/drawingml/2006/main">
            <a:off x="4295775" y="15621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Josue Isaac Coila Belizario</a:t>
            </a:r>
          </a:p>
        </p:txBody>
      </p:sp>
      <p:sp>
        <p:nvSpPr>
          <p:cNvPr id="9" name="">
            <a:extLst xmlns:a="http://schemas.openxmlformats.org/drawingml/2006/main">
              <a:ext uri="{FF2B5EF4-FFF2-40B4-BE49-F238E27FC236}">
                <a16:creationId xmlns:a16="http://schemas.microsoft.com/office/drawing/2014/main" id="{48C08B18-1154-4C8D-A5B1-FBB9F340417A}"/>
              </a:ext>
            </a:extLst>
          </p:cNvPr>
          <p:cNvSpPr>
            <a:spLocks xmlns:a="http://schemas.openxmlformats.org/drawingml/2006/main" noGrp="1"/>
          </p:cNvSpPr>
          <p:nvPr/>
        </p:nvSpPr>
        <p:spPr>
          <a:xfrm xmlns:a="http://schemas.openxmlformats.org/drawingml/2006/main">
            <a:off x="4295775" y="2695575"/>
            <a:ext cx="33147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D4DFED"/>
                </a:solidFill>
                <a:latin typeface="Aptos"/>
                <a:ea typeface="Aptos"/>
                <a:cs typeface="Aptos"/>
              </a:defRPr>
            </a:pPr>
            <a:r>
              <a:rPr sz="1425" b="0">
                <a:solidFill>
                  <a:srgbClr val="D4DFED"/>
                </a:solidFill>
                <a:latin typeface="Aptos"/>
                <a:ea typeface="Aptos"/>
                <a:cs typeface="Aptos"/>
              </a:rPr>
              <a:t>Consolida fuentes y diseña mediciones.</a:t>
            </a:r>
          </a:p>
        </p:txBody>
      </p:sp>
      <p:sp>
        <p:nvSpPr>
          <p:cNvPr id="10" name="">
            <a:extLst xmlns:a="http://schemas.openxmlformats.org/drawingml/2006/main">
              <a:ext uri="{FF2B5EF4-FFF2-40B4-BE49-F238E27FC236}">
                <a16:creationId xmlns:a16="http://schemas.microsoft.com/office/drawing/2014/main" id="{6E51ADDF-AF75-4079-8709-549AC1C0F4A4}"/>
              </a:ext>
            </a:extLst>
          </p:cNvPr>
          <p:cNvSpPr>
            <a:spLocks xmlns:a="http://schemas.openxmlformats.org/drawingml/2006/main" noGrp="1"/>
          </p:cNvSpPr>
          <p:nvPr/>
        </p:nvSpPr>
        <p:spPr>
          <a:xfrm xmlns:a="http://schemas.openxmlformats.org/drawingml/2006/main">
            <a:off x="7781925" y="1495425"/>
            <a:ext cx="19050" cy="2447925"/>
          </a:xfrm>
          <a:prstGeom xmlns:a="http://schemas.openxmlformats.org/drawingml/2006/main" prst="rect">
            <a:avLst/>
          </a:prstGeom>
          <a:solidFill xmlns:a="http://schemas.openxmlformats.org/drawingml/2006/main">
            <a:srgbClr val="49596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AE3AF66-A69D-46D7-B03A-C51C41E10405}"/>
              </a:ext>
            </a:extLst>
          </p:cNvPr>
          <p:cNvSpPr>
            <a:spLocks xmlns:a="http://schemas.openxmlformats.org/drawingml/2006/main" noGrp="1"/>
          </p:cNvSpPr>
          <p:nvPr/>
        </p:nvSpPr>
        <p:spPr>
          <a:xfrm xmlns:a="http://schemas.openxmlformats.org/drawingml/2006/main">
            <a:off x="8020050" y="15621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Franklin Diosdado Palomino Quispe</a:t>
            </a:r>
          </a:p>
        </p:txBody>
      </p:sp>
      <p:sp>
        <p:nvSpPr>
          <p:cNvPr id="12" name="">
            <a:extLst xmlns:a="http://schemas.openxmlformats.org/drawingml/2006/main">
              <a:ext uri="{FF2B5EF4-FFF2-40B4-BE49-F238E27FC236}">
                <a16:creationId xmlns:a16="http://schemas.microsoft.com/office/drawing/2014/main" id="{70D0E3CA-D02A-4AA0-9C10-1FC3FC8B0CA7}"/>
              </a:ext>
            </a:extLst>
          </p:cNvPr>
          <p:cNvSpPr>
            <a:spLocks xmlns:a="http://schemas.openxmlformats.org/drawingml/2006/main" noGrp="1"/>
          </p:cNvSpPr>
          <p:nvPr/>
        </p:nvSpPr>
        <p:spPr>
          <a:xfrm xmlns:a="http://schemas.openxmlformats.org/drawingml/2006/main">
            <a:off x="8020050" y="2695575"/>
            <a:ext cx="33147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D4DFED"/>
                </a:solidFill>
                <a:latin typeface="Aptos"/>
                <a:ea typeface="Aptos"/>
                <a:cs typeface="Aptos"/>
              </a:defRPr>
            </a:pPr>
            <a:r>
              <a:rPr sz="1425" b="0">
                <a:solidFill>
                  <a:srgbClr val="D4DFED"/>
                </a:solidFill>
                <a:latin typeface="Aptos"/>
                <a:ea typeface="Aptos"/>
                <a:cs typeface="Aptos"/>
              </a:rPr>
              <a:t>Expone la propuesta y comunica resultados.</a:t>
            </a:r>
          </a:p>
        </p:txBody>
      </p:sp>
      <p:sp>
        <p:nvSpPr>
          <p:cNvPr id="13" name="">
            <a:extLst xmlns:a="http://schemas.openxmlformats.org/drawingml/2006/main">
              <a:ext uri="{FF2B5EF4-FFF2-40B4-BE49-F238E27FC236}">
                <a16:creationId xmlns:a16="http://schemas.microsoft.com/office/drawing/2014/main" id="{11636949-AE91-4918-A179-C940DFB31357}"/>
              </a:ext>
            </a:extLst>
          </p:cNvPr>
          <p:cNvSpPr>
            <a:spLocks xmlns:a="http://schemas.openxmlformats.org/drawingml/2006/main" noGrp="1"/>
          </p:cNvSpPr>
          <p:nvPr/>
        </p:nvSpPr>
        <p:spPr>
          <a:xfrm xmlns:a="http://schemas.openxmlformats.org/drawingml/2006/main">
            <a:off x="571500" y="4533900"/>
            <a:ext cx="11010900" cy="0"/>
          </a:xfrm>
          <a:prstGeom xmlns:a="http://schemas.openxmlformats.org/drawingml/2006/main" prst="line">
            <a:avLst/>
          </a:prstGeom>
          <a:noFill xmlns:a="http://schemas.openxmlformats.org/drawingml/2006/main"/>
          <a:ln xmlns:a="http://schemas.openxmlformats.org/drawingml/2006/main" w="19050">
            <a:solidFill>
              <a:srgbClr val="49596B"/>
            </a:solidFill>
            <a:prstDash val="solid"/>
          </a:ln>
        </p:spPr>
      </p:sp>
      <p:sp>
        <p:nvSpPr>
          <p:cNvPr id="14" name="">
            <a:extLst xmlns:a="http://schemas.openxmlformats.org/drawingml/2006/main">
              <a:ext uri="{FF2B5EF4-FFF2-40B4-BE49-F238E27FC236}">
                <a16:creationId xmlns:a16="http://schemas.microsoft.com/office/drawing/2014/main" id="{BE18FD41-28C5-4BA2-9260-DB516F5CE34D}"/>
              </a:ext>
            </a:extLst>
          </p:cNvPr>
          <p:cNvSpPr>
            <a:spLocks xmlns:a="http://schemas.openxmlformats.org/drawingml/2006/main" noGrp="1"/>
          </p:cNvSpPr>
          <p:nvPr/>
        </p:nvSpPr>
        <p:spPr>
          <a:xfrm xmlns:a="http://schemas.openxmlformats.org/drawingml/2006/main">
            <a:off x="571500" y="4886325"/>
            <a:ext cx="609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B9CDF5"/>
                </a:solidFill>
                <a:latin typeface="Aptos"/>
                <a:ea typeface="Aptos"/>
                <a:cs typeface="Aptos"/>
              </a:defRPr>
            </a:pPr>
            <a:r>
              <a:rPr sz="1650" b="1">
                <a:solidFill>
                  <a:srgbClr val="B9CDF5"/>
                </a:solidFill>
                <a:latin typeface="Aptos"/>
                <a:ea typeface="Aptos"/>
                <a:cs typeface="Aptos"/>
              </a:rPr>
              <a:t>Lo que proponemos acordar</a:t>
            </a:r>
          </a:p>
        </p:txBody>
      </p:sp>
      <p:sp>
        <p:nvSpPr>
          <p:cNvPr id="15" name="">
            <a:extLst xmlns:a="http://schemas.openxmlformats.org/drawingml/2006/main">
              <a:ext uri="{FF2B5EF4-FFF2-40B4-BE49-F238E27FC236}">
                <a16:creationId xmlns:a16="http://schemas.microsoft.com/office/drawing/2014/main" id="{A52A84BD-D8F9-4575-B543-4D13792171E1}"/>
              </a:ext>
            </a:extLst>
          </p:cNvPr>
          <p:cNvSpPr>
            <a:spLocks xmlns:a="http://schemas.openxmlformats.org/drawingml/2006/main" noGrp="1"/>
          </p:cNvSpPr>
          <p:nvPr/>
        </p:nvSpPr>
        <p:spPr>
          <a:xfrm xmlns:a="http://schemas.openxmlformats.org/drawingml/2006/main">
            <a:off x="571500" y="5381625"/>
            <a:ext cx="108489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Aptos"/>
                <a:ea typeface="Aptos"/>
                <a:cs typeface="Aptos"/>
              </a:defRPr>
            </a:pPr>
            <a:r>
              <a:rPr sz="2025" b="1">
                <a:solidFill>
                  <a:srgbClr val="FFFFFF"/>
                </a:solidFill>
                <a:latin typeface="Aptos"/>
                <a:ea typeface="Aptos"/>
                <a:cs typeface="Aptos"/>
              </a:rPr>
              <a:t>Elegir un corredor, validar la información y medir un piloto con transportistas, municipio y pasajeros.</a:t>
            </a:r>
          </a:p>
        </p:txBody>
      </p:sp>
    </p:spTree>
    <p:extLst>
      <p:ext uri="{BB962C8B-B14F-4D97-AF65-F5344CB8AC3E}">
        <p14:creationId xmlns:p14="http://schemas.microsoft.com/office/powerpoint/2010/main" val="77608187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84E09C7-7C4B-4AC0-8158-9FDE4914E81D}"/>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Referencias para sustentar la exposición</a:t>
            </a:r>
          </a:p>
        </p:txBody>
      </p:sp>
      <p:sp>
        <p:nvSpPr>
          <p:cNvPr id="2" name="">
            <a:extLst xmlns:a="http://schemas.openxmlformats.org/drawingml/2006/main">
              <a:ext uri="{FF2B5EF4-FFF2-40B4-BE49-F238E27FC236}">
                <a16:creationId xmlns:a16="http://schemas.microsoft.com/office/drawing/2014/main" id="{4EE8C164-AF08-49C6-AE0A-BF17C4161CF1}"/>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23</a:t>
            </a:r>
          </a:p>
        </p:txBody>
      </p:sp>
      <p:sp>
        <p:nvSpPr>
          <p:cNvPr id="3" name="">
            <a:extLst xmlns:a="http://schemas.openxmlformats.org/drawingml/2006/main">
              <a:ext uri="{FF2B5EF4-FFF2-40B4-BE49-F238E27FC236}">
                <a16:creationId xmlns:a16="http://schemas.microsoft.com/office/drawing/2014/main" id="{5B860BF2-4835-48D4-944D-5E74E4D5E75B}"/>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B78A78E1-849E-4B6A-8F29-EC0115367C6E}"/>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MATERIAL DE APOYO · ASEDIC</a:t>
            </a:r>
          </a:p>
        </p:txBody>
      </p:sp>
      <p:sp>
        <p:nvSpPr>
          <p:cNvPr id="5" name="">
            <a:extLst xmlns:a="http://schemas.openxmlformats.org/drawingml/2006/main">
              <a:ext uri="{FF2B5EF4-FFF2-40B4-BE49-F238E27FC236}">
                <a16:creationId xmlns:a16="http://schemas.microsoft.com/office/drawing/2014/main" id="{D2514C1B-1F9B-4766-AC4E-BA64181BA618}"/>
              </a:ext>
            </a:extLst>
          </p:cNvPr>
          <p:cNvSpPr>
            <a:spLocks xmlns:a="http://schemas.openxmlformats.org/drawingml/2006/main" noGrp="1"/>
          </p:cNvSpPr>
          <p:nvPr/>
        </p:nvSpPr>
        <p:spPr>
          <a:xfrm xmlns:a="http://schemas.openxmlformats.org/drawingml/2006/main">
            <a:off x="571500" y="1266825"/>
            <a:ext cx="685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[1]</a:t>
            </a:r>
          </a:p>
        </p:txBody>
      </p:sp>
      <p:sp>
        <p:nvSpPr>
          <p:cNvPr id="6" name="">
            <a:extLst xmlns:a="http://schemas.openxmlformats.org/drawingml/2006/main">
              <a:ext uri="{FF2B5EF4-FFF2-40B4-BE49-F238E27FC236}">
                <a16:creationId xmlns:a16="http://schemas.microsoft.com/office/drawing/2014/main" id="{C9B35232-B522-4BB0-8097-7E7D5A1FB6FF}"/>
              </a:ext>
            </a:extLst>
          </p:cNvPr>
          <p:cNvSpPr>
            <a:spLocks xmlns:a="http://schemas.openxmlformats.org/drawingml/2006/main" noGrp="1"/>
          </p:cNvSpPr>
          <p:nvPr/>
        </p:nvSpPr>
        <p:spPr>
          <a:xfrm xmlns:a="http://schemas.openxmlformats.org/drawingml/2006/main">
            <a:off x="1304925" y="1266825"/>
            <a:ext cx="9982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Bases de la Ideatón por el Transporte Urbano de Juliaca</a:t>
            </a:r>
          </a:p>
        </p:txBody>
      </p:sp>
      <p:sp>
        <p:nvSpPr>
          <p:cNvPr id="7" name="">
            <a:extLst xmlns:a="http://schemas.openxmlformats.org/drawingml/2006/main">
              <a:ext uri="{FF2B5EF4-FFF2-40B4-BE49-F238E27FC236}">
                <a16:creationId xmlns:a16="http://schemas.microsoft.com/office/drawing/2014/main" id="{3C0F5190-C20C-4290-9865-9FD6CF4B5CC3}"/>
              </a:ext>
            </a:extLst>
          </p:cNvPr>
          <p:cNvSpPr>
            <a:spLocks xmlns:a="http://schemas.openxmlformats.org/drawingml/2006/main" noGrp="1"/>
          </p:cNvSpPr>
          <p:nvPr/>
        </p:nvSpPr>
        <p:spPr>
          <a:xfrm xmlns:a="http://schemas.openxmlformats.org/drawingml/2006/main">
            <a:off x="1304925" y="1647825"/>
            <a:ext cx="9982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B6572"/>
                </a:solidFill>
                <a:latin typeface="Aptos"/>
                <a:ea typeface="Aptos"/>
                <a:cs typeface="Aptos"/>
              </a:defRPr>
            </a:pPr>
            <a:r>
              <a:rPr sz="1275" b="0">
                <a:solidFill>
                  <a:srgbClr val="5B6572"/>
                </a:solidFill>
                <a:latin typeface="Aptos"/>
                <a:ea typeface="Aptos"/>
                <a:cs typeface="Aptos"/>
              </a:rPr>
              <a:t>Desafío 2, pitch y criterios de evaluación.</a:t>
            </a:r>
          </a:p>
        </p:txBody>
      </p:sp>
      <p:sp>
        <p:nvSpPr>
          <p:cNvPr id="8" name="">
            <a:extLst xmlns:a="http://schemas.openxmlformats.org/drawingml/2006/main">
              <a:ext uri="{FF2B5EF4-FFF2-40B4-BE49-F238E27FC236}">
                <a16:creationId xmlns:a16="http://schemas.microsoft.com/office/drawing/2014/main" id="{FBCACEF7-9916-4913-9B7F-43513C78BD2A}"/>
              </a:ext>
            </a:extLst>
          </p:cNvPr>
          <p:cNvSpPr>
            <a:spLocks xmlns:a="http://schemas.openxmlformats.org/drawingml/2006/main" noGrp="1"/>
          </p:cNvSpPr>
          <p:nvPr/>
        </p:nvSpPr>
        <p:spPr>
          <a:xfrm xmlns:a="http://schemas.openxmlformats.org/drawingml/2006/main">
            <a:off x="571500" y="2095500"/>
            <a:ext cx="11010900" cy="0"/>
          </a:xfrm>
          <a:prstGeom xmlns:a="http://schemas.openxmlformats.org/drawingml/2006/main" prst="line">
            <a:avLst/>
          </a:prstGeom>
          <a:noFill xmlns:a="http://schemas.openxmlformats.org/drawingml/2006/main"/>
          <a:ln xmlns:a="http://schemas.openxmlformats.org/drawingml/2006/main" w="9525">
            <a:solidFill>
              <a:srgbClr val="DDE3EA"/>
            </a:solidFill>
            <a:prstDash val="solid"/>
          </a:ln>
        </p:spPr>
      </p:sp>
      <p:sp>
        <p:nvSpPr>
          <p:cNvPr id="9" name="">
            <a:extLst xmlns:a="http://schemas.openxmlformats.org/drawingml/2006/main">
              <a:ext uri="{FF2B5EF4-FFF2-40B4-BE49-F238E27FC236}">
                <a16:creationId xmlns:a16="http://schemas.microsoft.com/office/drawing/2014/main" id="{612C7F98-3F5B-45DC-9928-6486123D4CCC}"/>
              </a:ext>
            </a:extLst>
          </p:cNvPr>
          <p:cNvSpPr>
            <a:spLocks xmlns:a="http://schemas.openxmlformats.org/drawingml/2006/main" noGrp="1"/>
          </p:cNvSpPr>
          <p:nvPr/>
        </p:nvSpPr>
        <p:spPr>
          <a:xfrm xmlns:a="http://schemas.openxmlformats.org/drawingml/2006/main">
            <a:off x="571500" y="2228850"/>
            <a:ext cx="685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2F65B6D0-D262-4176-8D82-4A33CF0B0222}"/>
              </a:ext>
            </a:extLst>
          </p:cNvPr>
          <p:cNvSpPr>
            <a:spLocks xmlns:a="http://schemas.openxmlformats.org/drawingml/2006/main" noGrp="1"/>
          </p:cNvSpPr>
          <p:nvPr/>
        </p:nvSpPr>
        <p:spPr>
          <a:xfrm xmlns:a="http://schemas.openxmlformats.org/drawingml/2006/main">
            <a:off x="1304925" y="2228850"/>
            <a:ext cx="9982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INEI: cartografía WFS y Censo 2017 (REDATAM)</a:t>
            </a:r>
          </a:p>
        </p:txBody>
      </p:sp>
      <p:sp>
        <p:nvSpPr>
          <p:cNvPr id="11" name="">
            <a:extLst xmlns:a="http://schemas.openxmlformats.org/drawingml/2006/main">
              <a:ext uri="{FF2B5EF4-FFF2-40B4-BE49-F238E27FC236}">
                <a16:creationId xmlns:a16="http://schemas.microsoft.com/office/drawing/2014/main" id="{DD8EBE43-9088-4E55-9237-5F90721F8818}"/>
              </a:ext>
            </a:extLst>
          </p:cNvPr>
          <p:cNvSpPr>
            <a:spLocks xmlns:a="http://schemas.openxmlformats.org/drawingml/2006/main" noGrp="1"/>
          </p:cNvSpPr>
          <p:nvPr/>
        </p:nvSpPr>
        <p:spPr>
          <a:xfrm xmlns:a="http://schemas.openxmlformats.org/drawingml/2006/main">
            <a:off x="1304925" y="2609850"/>
            <a:ext cx="9982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B6572"/>
                </a:solidFill>
                <a:latin typeface="Aptos"/>
                <a:ea typeface="Aptos"/>
                <a:cs typeface="Aptos"/>
              </a:defRPr>
            </a:pPr>
            <a:r>
              <a:rPr sz="1275" b="0">
                <a:solidFill>
                  <a:srgbClr val="5B6572"/>
                </a:solidFill>
                <a:latin typeface="Aptos"/>
                <a:ea typeface="Aptos"/>
                <a:cs typeface="Aptos"/>
              </a:rPr>
              <a:t>Población asociada a manzanas usada en Puriy.</a:t>
            </a:r>
          </a:p>
        </p:txBody>
      </p:sp>
      <p:sp>
        <p:nvSpPr>
          <p:cNvPr id="12" name="">
            <a:extLst xmlns:a="http://schemas.openxmlformats.org/drawingml/2006/main">
              <a:ext uri="{FF2B5EF4-FFF2-40B4-BE49-F238E27FC236}">
                <a16:creationId xmlns:a16="http://schemas.microsoft.com/office/drawing/2014/main" id="{A58780E8-EABB-4ACA-A442-3125061461FA}"/>
              </a:ext>
            </a:extLst>
          </p:cNvPr>
          <p:cNvSpPr>
            <a:spLocks xmlns:a="http://schemas.openxmlformats.org/drawingml/2006/main" noGrp="1"/>
          </p:cNvSpPr>
          <p:nvPr/>
        </p:nvSpPr>
        <p:spPr>
          <a:xfrm xmlns:a="http://schemas.openxmlformats.org/drawingml/2006/main">
            <a:off x="571500" y="3057525"/>
            <a:ext cx="11010900" cy="0"/>
          </a:xfrm>
          <a:prstGeom xmlns:a="http://schemas.openxmlformats.org/drawingml/2006/main" prst="line">
            <a:avLst/>
          </a:prstGeom>
          <a:noFill xmlns:a="http://schemas.openxmlformats.org/drawingml/2006/main"/>
          <a:ln xmlns:a="http://schemas.openxmlformats.org/drawingml/2006/main" w="9525">
            <a:solidFill>
              <a:srgbClr val="DDE3EA"/>
            </a:solidFill>
            <a:prstDash val="solid"/>
          </a:ln>
        </p:spPr>
      </p:sp>
      <p:sp>
        <p:nvSpPr>
          <p:cNvPr id="13" name="">
            <a:extLst xmlns:a="http://schemas.openxmlformats.org/drawingml/2006/main">
              <a:ext uri="{FF2B5EF4-FFF2-40B4-BE49-F238E27FC236}">
                <a16:creationId xmlns:a16="http://schemas.microsoft.com/office/drawing/2014/main" id="{8BB4E4DF-2D65-460B-BA6B-2C03B3B1CEA8}"/>
              </a:ext>
            </a:extLst>
          </p:cNvPr>
          <p:cNvSpPr>
            <a:spLocks xmlns:a="http://schemas.openxmlformats.org/drawingml/2006/main" noGrp="1"/>
          </p:cNvSpPr>
          <p:nvPr/>
        </p:nvSpPr>
        <p:spPr>
          <a:xfrm xmlns:a="http://schemas.openxmlformats.org/drawingml/2006/main">
            <a:off x="571500" y="3190875"/>
            <a:ext cx="685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EE36A76F-CF32-40F2-B254-730B7DA261F3}"/>
              </a:ext>
            </a:extLst>
          </p:cNvPr>
          <p:cNvSpPr>
            <a:spLocks xmlns:a="http://schemas.openxmlformats.org/drawingml/2006/main" noGrp="1"/>
          </p:cNvSpPr>
          <p:nvPr/>
        </p:nvSpPr>
        <p:spPr>
          <a:xfrm xmlns:a="http://schemas.openxmlformats.org/drawingml/2006/main">
            <a:off x="1304925" y="3190875"/>
            <a:ext cx="9982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Municipalidad e IMP: diagnóstico PDU Juliaca 2026–2035</a:t>
            </a:r>
          </a:p>
        </p:txBody>
      </p:sp>
      <p:sp>
        <p:nvSpPr>
          <p:cNvPr id="15" name="">
            <a:extLst xmlns:a="http://schemas.openxmlformats.org/drawingml/2006/main">
              <a:ext uri="{FF2B5EF4-FFF2-40B4-BE49-F238E27FC236}">
                <a16:creationId xmlns:a16="http://schemas.microsoft.com/office/drawing/2014/main" id="{9F6580BF-B821-483A-B020-03B11D05A7C0}"/>
              </a:ext>
            </a:extLst>
          </p:cNvPr>
          <p:cNvSpPr>
            <a:spLocks xmlns:a="http://schemas.openxmlformats.org/drawingml/2006/main" noGrp="1"/>
          </p:cNvSpPr>
          <p:nvPr/>
        </p:nvSpPr>
        <p:spPr>
          <a:xfrm xmlns:a="http://schemas.openxmlformats.org/drawingml/2006/main">
            <a:off x="1304925" y="3571875"/>
            <a:ext cx="9982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B6572"/>
                </a:solidFill>
                <a:latin typeface="Aptos"/>
                <a:ea typeface="Aptos"/>
                <a:cs typeface="Aptos"/>
              </a:defRPr>
            </a:pPr>
            <a:r>
              <a:rPr sz="1275" b="0">
                <a:solidFill>
                  <a:srgbClr val="5B6572"/>
                </a:solidFill>
                <a:latin typeface="Aptos"/>
                <a:ea typeface="Aptos"/>
                <a:cs typeface="Aptos"/>
              </a:rPr>
              <a:t>Red vial y transporte, pp. 162, 173–185 y 192–195.</a:t>
            </a:r>
          </a:p>
        </p:txBody>
      </p:sp>
      <p:sp>
        <p:nvSpPr>
          <p:cNvPr id="16" name="">
            <a:extLst xmlns:a="http://schemas.openxmlformats.org/drawingml/2006/main">
              <a:ext uri="{FF2B5EF4-FFF2-40B4-BE49-F238E27FC236}">
                <a16:creationId xmlns:a16="http://schemas.microsoft.com/office/drawing/2014/main" id="{DED478AF-AB71-44BA-B2B0-D4BA2093915D}"/>
              </a:ext>
            </a:extLst>
          </p:cNvPr>
          <p:cNvSpPr>
            <a:spLocks xmlns:a="http://schemas.openxmlformats.org/drawingml/2006/main" noGrp="1"/>
          </p:cNvSpPr>
          <p:nvPr/>
        </p:nvSpPr>
        <p:spPr>
          <a:xfrm xmlns:a="http://schemas.openxmlformats.org/drawingml/2006/main">
            <a:off x="571500" y="4019550"/>
            <a:ext cx="11010900" cy="0"/>
          </a:xfrm>
          <a:prstGeom xmlns:a="http://schemas.openxmlformats.org/drawingml/2006/main" prst="line">
            <a:avLst/>
          </a:prstGeom>
          <a:noFill xmlns:a="http://schemas.openxmlformats.org/drawingml/2006/main"/>
          <a:ln xmlns:a="http://schemas.openxmlformats.org/drawingml/2006/main" w="9525">
            <a:solidFill>
              <a:srgbClr val="DDE3EA"/>
            </a:solidFill>
            <a:prstDash val="solid"/>
          </a:ln>
        </p:spPr>
      </p:sp>
      <p:sp>
        <p:nvSpPr>
          <p:cNvPr id="17" name="">
            <a:extLst xmlns:a="http://schemas.openxmlformats.org/drawingml/2006/main">
              <a:ext uri="{FF2B5EF4-FFF2-40B4-BE49-F238E27FC236}">
                <a16:creationId xmlns:a16="http://schemas.microsoft.com/office/drawing/2014/main" id="{E0F67E53-9DBE-4A2A-93DC-BDD9FA3BE6B4}"/>
              </a:ext>
            </a:extLst>
          </p:cNvPr>
          <p:cNvSpPr>
            <a:spLocks xmlns:a="http://schemas.openxmlformats.org/drawingml/2006/main" noGrp="1"/>
          </p:cNvSpPr>
          <p:nvPr/>
        </p:nvSpPr>
        <p:spPr>
          <a:xfrm xmlns:a="http://schemas.openxmlformats.org/drawingml/2006/main">
            <a:off x="571500" y="4152900"/>
            <a:ext cx="685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[4]</a:t>
            </a:r>
          </a:p>
        </p:txBody>
      </p:sp>
      <p:sp>
        <p:nvSpPr>
          <p:cNvPr id="18" name="">
            <a:extLst xmlns:a="http://schemas.openxmlformats.org/drawingml/2006/main">
              <a:ext uri="{FF2B5EF4-FFF2-40B4-BE49-F238E27FC236}">
                <a16:creationId xmlns:a16="http://schemas.microsoft.com/office/drawing/2014/main" id="{BB25ED30-C359-45FF-9C0E-67496A5F2BE2}"/>
              </a:ext>
            </a:extLst>
          </p:cNvPr>
          <p:cNvSpPr>
            <a:spLocks xmlns:a="http://schemas.openxmlformats.org/drawingml/2006/main" noGrp="1"/>
          </p:cNvSpPr>
          <p:nvPr/>
        </p:nvSpPr>
        <p:spPr>
          <a:xfrm xmlns:a="http://schemas.openxmlformats.org/drawingml/2006/main">
            <a:off x="1304925" y="4152900"/>
            <a:ext cx="9982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MTC y Municipalidad: diagnóstico de movilidad PMUS</a:t>
            </a:r>
          </a:p>
        </p:txBody>
      </p:sp>
      <p:sp>
        <p:nvSpPr>
          <p:cNvPr id="19" name="">
            <a:extLst xmlns:a="http://schemas.openxmlformats.org/drawingml/2006/main">
              <a:ext uri="{FF2B5EF4-FFF2-40B4-BE49-F238E27FC236}">
                <a16:creationId xmlns:a16="http://schemas.microsoft.com/office/drawing/2014/main" id="{FCC021D6-81D0-4934-8C8D-3DB4F99E4AED}"/>
              </a:ext>
            </a:extLst>
          </p:cNvPr>
          <p:cNvSpPr>
            <a:spLocks xmlns:a="http://schemas.openxmlformats.org/drawingml/2006/main" noGrp="1"/>
          </p:cNvSpPr>
          <p:nvPr/>
        </p:nvSpPr>
        <p:spPr>
          <a:xfrm xmlns:a="http://schemas.openxmlformats.org/drawingml/2006/main">
            <a:off x="1304925" y="4533900"/>
            <a:ext cx="9982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B6572"/>
                </a:solidFill>
                <a:latin typeface="Aptos"/>
                <a:ea typeface="Aptos"/>
                <a:cs typeface="Aptos"/>
              </a:defRPr>
            </a:pPr>
            <a:r>
              <a:rPr sz="1275" b="0">
                <a:solidFill>
                  <a:srgbClr val="5B6572"/>
                </a:solidFill>
                <a:latin typeface="Aptos"/>
                <a:ea typeface="Aptos"/>
                <a:cs typeface="Aptos"/>
              </a:rPr>
              <a:t>Notas oficiales sobre viajes, modos y trabajo de campo.</a:t>
            </a:r>
          </a:p>
        </p:txBody>
      </p:sp>
      <p:sp>
        <p:nvSpPr>
          <p:cNvPr id="20" name="">
            <a:extLst xmlns:a="http://schemas.openxmlformats.org/drawingml/2006/main">
              <a:ext uri="{FF2B5EF4-FFF2-40B4-BE49-F238E27FC236}">
                <a16:creationId xmlns:a16="http://schemas.microsoft.com/office/drawing/2014/main" id="{A49AC72E-DB57-43B0-ACC1-3A06725C98B7}"/>
              </a:ext>
            </a:extLst>
          </p:cNvPr>
          <p:cNvSpPr>
            <a:spLocks xmlns:a="http://schemas.openxmlformats.org/drawingml/2006/main" noGrp="1"/>
          </p:cNvSpPr>
          <p:nvPr/>
        </p:nvSpPr>
        <p:spPr>
          <a:xfrm xmlns:a="http://schemas.openxmlformats.org/drawingml/2006/main">
            <a:off x="571500" y="4981575"/>
            <a:ext cx="11010900" cy="0"/>
          </a:xfrm>
          <a:prstGeom xmlns:a="http://schemas.openxmlformats.org/drawingml/2006/main" prst="line">
            <a:avLst/>
          </a:prstGeom>
          <a:noFill xmlns:a="http://schemas.openxmlformats.org/drawingml/2006/main"/>
          <a:ln xmlns:a="http://schemas.openxmlformats.org/drawingml/2006/main" w="9525">
            <a:solidFill>
              <a:srgbClr val="DDE3EA"/>
            </a:solidFill>
            <a:prstDash val="solid"/>
          </a:ln>
        </p:spPr>
      </p:sp>
      <p:sp>
        <p:nvSpPr>
          <p:cNvPr id="21" name="">
            <a:extLst xmlns:a="http://schemas.openxmlformats.org/drawingml/2006/main">
              <a:ext uri="{FF2B5EF4-FFF2-40B4-BE49-F238E27FC236}">
                <a16:creationId xmlns:a16="http://schemas.microsoft.com/office/drawing/2014/main" id="{033748A3-9D68-4AE8-96C6-FAB699AF6E55}"/>
              </a:ext>
            </a:extLst>
          </p:cNvPr>
          <p:cNvSpPr>
            <a:spLocks xmlns:a="http://schemas.openxmlformats.org/drawingml/2006/main" noGrp="1"/>
          </p:cNvSpPr>
          <p:nvPr/>
        </p:nvSpPr>
        <p:spPr>
          <a:xfrm xmlns:a="http://schemas.openxmlformats.org/drawingml/2006/main">
            <a:off x="571500" y="5114925"/>
            <a:ext cx="685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75CBA"/>
                </a:solidFill>
                <a:latin typeface="Aptos"/>
                <a:ea typeface="Aptos"/>
                <a:cs typeface="Aptos"/>
              </a:defRPr>
            </a:pPr>
            <a:r>
              <a:rPr sz="1500" b="1">
                <a:solidFill>
                  <a:srgbClr val="275CBA"/>
                </a:solidFill>
                <a:latin typeface="Aptos"/>
                <a:ea typeface="Aptos"/>
                <a:cs typeface="Aptos"/>
              </a:rPr>
              <a:t>[5]</a:t>
            </a:r>
          </a:p>
        </p:txBody>
      </p:sp>
      <p:sp>
        <p:nvSpPr>
          <p:cNvPr id="22" name="">
            <a:extLst xmlns:a="http://schemas.openxmlformats.org/drawingml/2006/main">
              <a:ext uri="{FF2B5EF4-FFF2-40B4-BE49-F238E27FC236}">
                <a16:creationId xmlns:a16="http://schemas.microsoft.com/office/drawing/2014/main" id="{89FE98B9-D15C-42FA-8439-053822C33697}"/>
              </a:ext>
            </a:extLst>
          </p:cNvPr>
          <p:cNvSpPr>
            <a:spLocks xmlns:a="http://schemas.openxmlformats.org/drawingml/2006/main" noGrp="1"/>
          </p:cNvSpPr>
          <p:nvPr/>
        </p:nvSpPr>
        <p:spPr>
          <a:xfrm xmlns:a="http://schemas.openxmlformats.org/drawingml/2006/main">
            <a:off x="1304925" y="5114925"/>
            <a:ext cx="9982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0252C"/>
                </a:solidFill>
                <a:latin typeface="Aptos"/>
                <a:ea typeface="Aptos"/>
                <a:cs typeface="Aptos"/>
              </a:defRPr>
            </a:pPr>
            <a:r>
              <a:rPr sz="1575" b="1">
                <a:solidFill>
                  <a:srgbClr val="20252C"/>
                </a:solidFill>
                <a:latin typeface="Aptos"/>
                <a:ea typeface="Aptos"/>
                <a:cs typeface="Aptos"/>
              </a:rPr>
              <a:t>Puriy: laboratorio y módulos del prototipo</a:t>
            </a:r>
          </a:p>
        </p:txBody>
      </p:sp>
      <p:sp>
        <p:nvSpPr>
          <p:cNvPr id="23" name="">
            <a:extLst xmlns:a="http://schemas.openxmlformats.org/drawingml/2006/main">
              <a:ext uri="{FF2B5EF4-FFF2-40B4-BE49-F238E27FC236}">
                <a16:creationId xmlns:a16="http://schemas.microsoft.com/office/drawing/2014/main" id="{6338D193-5871-4CE5-9591-23BB0936EE95}"/>
              </a:ext>
            </a:extLst>
          </p:cNvPr>
          <p:cNvSpPr>
            <a:spLocks xmlns:a="http://schemas.openxmlformats.org/drawingml/2006/main" noGrp="1"/>
          </p:cNvSpPr>
          <p:nvPr/>
        </p:nvSpPr>
        <p:spPr>
          <a:xfrm xmlns:a="http://schemas.openxmlformats.org/drawingml/2006/main">
            <a:off x="1304925" y="5495925"/>
            <a:ext cx="9982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B6572"/>
                </a:solidFill>
                <a:latin typeface="Aptos"/>
                <a:ea typeface="Aptos"/>
                <a:cs typeface="Aptos"/>
              </a:defRPr>
            </a:pPr>
            <a:r>
              <a:rPr sz="1275" b="0">
                <a:solidFill>
                  <a:srgbClr val="5B6572"/>
                </a:solidFill>
                <a:latin typeface="Aptos"/>
                <a:ea typeface="Aptos"/>
                <a:cs typeface="Aptos"/>
              </a:rPr>
              <a:t>Método de comparación y estado de funciones.</a:t>
            </a:r>
          </a:p>
        </p:txBody>
      </p:sp>
    </p:spTree>
    <p:extLst>
      <p:ext uri="{BB962C8B-B14F-4D97-AF65-F5344CB8AC3E}">
        <p14:creationId xmlns:p14="http://schemas.microsoft.com/office/powerpoint/2010/main" val="211350020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65B1B6B-EC19-4872-83F4-06D86CD37618}"/>
              </a:ext>
            </a:extLst>
          </p:cNvPr>
          <p:cNvSpPr>
            <a:spLocks xmlns:a="http://schemas.openxmlformats.org/drawingml/2006/main" noGrp="1"/>
          </p:cNvSpPr>
          <p:nvPr/>
        </p:nvSpPr>
        <p:spPr>
          <a:xfrm xmlns:a="http://schemas.openxmlformats.org/drawingml/2006/main">
            <a:off x="571500" y="3524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20252C"/>
                </a:solidFill>
                <a:latin typeface="Aptos"/>
                <a:ea typeface="Aptos"/>
                <a:cs typeface="Aptos"/>
              </a:defRPr>
            </a:pPr>
            <a:r>
              <a:rPr sz="2325" b="1">
                <a:solidFill>
                  <a:srgbClr val="20252C"/>
                </a:solidFill>
                <a:latin typeface="Aptos"/>
                <a:ea typeface="Aptos"/>
                <a:cs typeface="Aptos"/>
              </a:rPr>
              <a:t>Preguntas que conviene tener preparadas</a:t>
            </a:r>
          </a:p>
        </p:txBody>
      </p:sp>
      <p:sp>
        <p:nvSpPr>
          <p:cNvPr id="2" name="">
            <a:extLst xmlns:a="http://schemas.openxmlformats.org/drawingml/2006/main">
              <a:ext uri="{FF2B5EF4-FFF2-40B4-BE49-F238E27FC236}">
                <a16:creationId xmlns:a16="http://schemas.microsoft.com/office/drawing/2014/main" id="{8F07CB62-A7BE-49FE-8709-FCB8B9BE8634}"/>
              </a:ext>
            </a:extLst>
          </p:cNvPr>
          <p:cNvSpPr>
            <a:spLocks xmlns:a="http://schemas.openxmlformats.org/drawingml/2006/main" noGrp="1"/>
          </p:cNvSpPr>
          <p:nvPr/>
        </p:nvSpPr>
        <p:spPr>
          <a:xfrm xmlns:a="http://schemas.openxmlformats.org/drawingml/2006/main">
            <a:off x="11096625" y="457200"/>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275CBA"/>
                </a:solidFill>
                <a:latin typeface="Aptos"/>
                <a:ea typeface="Aptos"/>
                <a:cs typeface="Aptos"/>
              </a:defRPr>
            </a:pPr>
            <a:r>
              <a:rPr sz="1200" b="1">
                <a:solidFill>
                  <a:srgbClr val="275CBA"/>
                </a:solidFill>
                <a:latin typeface="Aptos"/>
                <a:ea typeface="Aptos"/>
                <a:cs typeface="Aptos"/>
              </a:rPr>
              <a:t>24</a:t>
            </a:r>
          </a:p>
        </p:txBody>
      </p:sp>
      <p:sp>
        <p:nvSpPr>
          <p:cNvPr id="3" name="">
            <a:extLst xmlns:a="http://schemas.openxmlformats.org/drawingml/2006/main">
              <a:ext uri="{FF2B5EF4-FFF2-40B4-BE49-F238E27FC236}">
                <a16:creationId xmlns:a16="http://schemas.microsoft.com/office/drawing/2014/main" id="{B8A042D3-5489-465D-A465-ED159BE2E15E}"/>
              </a:ext>
            </a:extLst>
          </p:cNvPr>
          <p:cNvSpPr>
            <a:spLocks xmlns:a="http://schemas.openxmlformats.org/drawingml/2006/main" noGrp="1"/>
          </p:cNvSpPr>
          <p:nvPr/>
        </p:nvSpPr>
        <p:spPr>
          <a:xfrm xmlns:a="http://schemas.openxmlformats.org/drawingml/2006/main">
            <a:off x="571500" y="990600"/>
            <a:ext cx="11029950" cy="0"/>
          </a:xfrm>
          <a:prstGeom xmlns:a="http://schemas.openxmlformats.org/drawingml/2006/main" prst="line">
            <a:avLst/>
          </a:prstGeom>
          <a:noFill xmlns:a="http://schemas.openxmlformats.org/drawingml/2006/main"/>
          <a:ln xmlns:a="http://schemas.openxmlformats.org/drawingml/2006/main" w="19050">
            <a:solidFill>
              <a:srgbClr val="DDE3EA"/>
            </a:solidFill>
            <a:prstDash val="solid"/>
          </a:ln>
        </p:spPr>
      </p:sp>
      <p:sp>
        <p:nvSpPr>
          <p:cNvPr id="4" name="">
            <a:extLst xmlns:a="http://schemas.openxmlformats.org/drawingml/2006/main">
              <a:ext uri="{FF2B5EF4-FFF2-40B4-BE49-F238E27FC236}">
                <a16:creationId xmlns:a16="http://schemas.microsoft.com/office/drawing/2014/main" id="{32018BB6-6610-4D2F-868C-CFD3358C39AC}"/>
              </a:ext>
            </a:extLst>
          </p:cNvPr>
          <p:cNvSpPr>
            <a:spLocks xmlns:a="http://schemas.openxmlformats.org/drawingml/2006/main" noGrp="1"/>
          </p:cNvSpPr>
          <p:nvPr/>
        </p:nvSpPr>
        <p:spPr>
          <a:xfrm xmlns:a="http://schemas.openxmlformats.org/drawingml/2006/main">
            <a:off x="571500" y="6515100"/>
            <a:ext cx="666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7C8795"/>
                </a:solidFill>
                <a:latin typeface="Aptos"/>
                <a:ea typeface="Aptos"/>
                <a:cs typeface="Aptos"/>
              </a:defRPr>
            </a:pPr>
            <a:r>
              <a:rPr sz="825" b="0">
                <a:solidFill>
                  <a:srgbClr val="7C8795"/>
                </a:solidFill>
                <a:latin typeface="Aptos"/>
                <a:ea typeface="Aptos"/>
                <a:cs typeface="Aptos"/>
              </a:rPr>
              <a:t>MATERIAL DE APOYO · ASEDIC</a:t>
            </a:r>
          </a:p>
        </p:txBody>
      </p:sp>
      <p:sp>
        <p:nvSpPr>
          <p:cNvPr id="5" name="">
            <a:extLst xmlns:a="http://schemas.openxmlformats.org/drawingml/2006/main">
              <a:ext uri="{FF2B5EF4-FFF2-40B4-BE49-F238E27FC236}">
                <a16:creationId xmlns:a16="http://schemas.microsoft.com/office/drawing/2014/main" id="{6E25A7DD-5BF7-4FD6-B5AC-680645114F01}"/>
              </a:ext>
            </a:extLst>
          </p:cNvPr>
          <p:cNvSpPr>
            <a:spLocks xmlns:a="http://schemas.openxmlformats.org/drawingml/2006/main" noGrp="1"/>
          </p:cNvSpPr>
          <p:nvPr/>
        </p:nvSpPr>
        <p:spPr>
          <a:xfrm xmlns:a="http://schemas.openxmlformats.org/drawingml/2006/main">
            <a:off x="571500" y="1333500"/>
            <a:ext cx="4800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¿Ya están las 40 líneas en el mapa?</a:t>
            </a:r>
          </a:p>
        </p:txBody>
      </p:sp>
      <p:sp>
        <p:nvSpPr>
          <p:cNvPr id="6" name="">
            <a:extLst xmlns:a="http://schemas.openxmlformats.org/drawingml/2006/main">
              <a:ext uri="{FF2B5EF4-FFF2-40B4-BE49-F238E27FC236}">
                <a16:creationId xmlns:a16="http://schemas.microsoft.com/office/drawing/2014/main" id="{547AF4D9-A437-4853-995B-47A07C47ACF7}"/>
              </a:ext>
            </a:extLst>
          </p:cNvPr>
          <p:cNvSpPr>
            <a:spLocks xmlns:a="http://schemas.openxmlformats.org/drawingml/2006/main" noGrp="1"/>
          </p:cNvSpPr>
          <p:nvPr/>
        </p:nvSpPr>
        <p:spPr>
          <a:xfrm xmlns:a="http://schemas.openxmlformats.org/drawingml/2006/main">
            <a:off x="5305425" y="1333500"/>
            <a:ext cx="5857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0252C"/>
                </a:solidFill>
                <a:latin typeface="Aptos"/>
                <a:ea typeface="Aptos"/>
                <a:cs typeface="Aptos"/>
              </a:defRPr>
            </a:pPr>
            <a:r>
              <a:rPr sz="1500" b="0">
                <a:solidFill>
                  <a:srgbClr val="20252C"/>
                </a:solidFill>
                <a:latin typeface="Aptos"/>
                <a:ea typeface="Aptos"/>
                <a:cs typeface="Aptos"/>
              </a:rPr>
              <a:t>No. El PDU las registra; el mapa público tiene una ruta de prueba.</a:t>
            </a:r>
          </a:p>
        </p:txBody>
      </p:sp>
      <p:sp>
        <p:nvSpPr>
          <p:cNvPr id="7" name="">
            <a:extLst xmlns:a="http://schemas.openxmlformats.org/drawingml/2006/main">
              <a:ext uri="{FF2B5EF4-FFF2-40B4-BE49-F238E27FC236}">
                <a16:creationId xmlns:a16="http://schemas.microsoft.com/office/drawing/2014/main" id="{A04769D1-95EB-4EA9-A648-252C995E4168}"/>
              </a:ext>
            </a:extLst>
          </p:cNvPr>
          <p:cNvSpPr>
            <a:spLocks xmlns:a="http://schemas.openxmlformats.org/drawingml/2006/main" noGrp="1"/>
          </p:cNvSpPr>
          <p:nvPr/>
        </p:nvSpPr>
        <p:spPr>
          <a:xfrm xmlns:a="http://schemas.openxmlformats.org/drawingml/2006/main">
            <a:off x="571500" y="2266950"/>
            <a:ext cx="11010900" cy="0"/>
          </a:xfrm>
          <a:prstGeom xmlns:a="http://schemas.openxmlformats.org/drawingml/2006/main" prst="line">
            <a:avLst/>
          </a:prstGeom>
          <a:noFill xmlns:a="http://schemas.openxmlformats.org/drawingml/2006/main"/>
          <a:ln xmlns:a="http://schemas.openxmlformats.org/drawingml/2006/main" w="9525">
            <a:solidFill>
              <a:srgbClr val="DDE3EA"/>
            </a:solidFill>
            <a:prstDash val="solid"/>
          </a:ln>
        </p:spPr>
      </p:sp>
      <p:sp>
        <p:nvSpPr>
          <p:cNvPr id="8" name="">
            <a:extLst xmlns:a="http://schemas.openxmlformats.org/drawingml/2006/main">
              <a:ext uri="{FF2B5EF4-FFF2-40B4-BE49-F238E27FC236}">
                <a16:creationId xmlns:a16="http://schemas.microsoft.com/office/drawing/2014/main" id="{A961DDF4-E2E4-46F1-842D-E6BDE8D66C62}"/>
              </a:ext>
            </a:extLst>
          </p:cNvPr>
          <p:cNvSpPr>
            <a:spLocks xmlns:a="http://schemas.openxmlformats.org/drawingml/2006/main" noGrp="1"/>
          </p:cNvSpPr>
          <p:nvPr/>
        </p:nvSpPr>
        <p:spPr>
          <a:xfrm xmlns:a="http://schemas.openxmlformats.org/drawingml/2006/main">
            <a:off x="571500" y="2505075"/>
            <a:ext cx="4800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¿La densidad predice pasajeros?</a:t>
            </a:r>
          </a:p>
        </p:txBody>
      </p:sp>
      <p:sp>
        <p:nvSpPr>
          <p:cNvPr id="9" name="">
            <a:extLst xmlns:a="http://schemas.openxmlformats.org/drawingml/2006/main">
              <a:ext uri="{FF2B5EF4-FFF2-40B4-BE49-F238E27FC236}">
                <a16:creationId xmlns:a16="http://schemas.microsoft.com/office/drawing/2014/main" id="{62C1823D-1862-4C1D-BDC6-E579FC3C0071}"/>
              </a:ext>
            </a:extLst>
          </p:cNvPr>
          <p:cNvSpPr>
            <a:spLocks xmlns:a="http://schemas.openxmlformats.org/drawingml/2006/main" noGrp="1"/>
          </p:cNvSpPr>
          <p:nvPr/>
        </p:nvSpPr>
        <p:spPr>
          <a:xfrm xmlns:a="http://schemas.openxmlformats.org/drawingml/2006/main">
            <a:off x="5305425" y="2505075"/>
            <a:ext cx="5857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0252C"/>
                </a:solidFill>
                <a:latin typeface="Aptos"/>
                <a:ea typeface="Aptos"/>
                <a:cs typeface="Aptos"/>
              </a:defRPr>
            </a:pPr>
            <a:r>
              <a:rPr sz="1500" b="0">
                <a:solidFill>
                  <a:srgbClr val="20252C"/>
                </a:solidFill>
                <a:latin typeface="Aptos"/>
                <a:ea typeface="Aptos"/>
                <a:cs typeface="Aptos"/>
              </a:rPr>
              <a:t>No. Ayuda a medir cobertura residencial; los viajes se observan en campo.</a:t>
            </a:r>
          </a:p>
        </p:txBody>
      </p:sp>
      <p:sp>
        <p:nvSpPr>
          <p:cNvPr id="10" name="">
            <a:extLst xmlns:a="http://schemas.openxmlformats.org/drawingml/2006/main">
              <a:ext uri="{FF2B5EF4-FFF2-40B4-BE49-F238E27FC236}">
                <a16:creationId xmlns:a16="http://schemas.microsoft.com/office/drawing/2014/main" id="{DFB21B8D-D8A6-4326-8C62-B24D89A4EFD7}"/>
              </a:ext>
            </a:extLst>
          </p:cNvPr>
          <p:cNvSpPr>
            <a:spLocks xmlns:a="http://schemas.openxmlformats.org/drawingml/2006/main" noGrp="1"/>
          </p:cNvSpPr>
          <p:nvPr/>
        </p:nvSpPr>
        <p:spPr>
          <a:xfrm xmlns:a="http://schemas.openxmlformats.org/drawingml/2006/main">
            <a:off x="571500" y="3438525"/>
            <a:ext cx="11010900" cy="0"/>
          </a:xfrm>
          <a:prstGeom xmlns:a="http://schemas.openxmlformats.org/drawingml/2006/main" prst="line">
            <a:avLst/>
          </a:prstGeom>
          <a:noFill xmlns:a="http://schemas.openxmlformats.org/drawingml/2006/main"/>
          <a:ln xmlns:a="http://schemas.openxmlformats.org/drawingml/2006/main" w="9525">
            <a:solidFill>
              <a:srgbClr val="DDE3EA"/>
            </a:solidFill>
            <a:prstDash val="solid"/>
          </a:ln>
        </p:spPr>
      </p:sp>
      <p:sp>
        <p:nvSpPr>
          <p:cNvPr id="11" name="">
            <a:extLst xmlns:a="http://schemas.openxmlformats.org/drawingml/2006/main">
              <a:ext uri="{FF2B5EF4-FFF2-40B4-BE49-F238E27FC236}">
                <a16:creationId xmlns:a16="http://schemas.microsoft.com/office/drawing/2014/main" id="{3E71B654-4C4B-45E9-9FBE-A2738B0DC59D}"/>
              </a:ext>
            </a:extLst>
          </p:cNvPr>
          <p:cNvSpPr>
            <a:spLocks xmlns:a="http://schemas.openxmlformats.org/drawingml/2006/main" noGrp="1"/>
          </p:cNvSpPr>
          <p:nvPr/>
        </p:nvSpPr>
        <p:spPr>
          <a:xfrm xmlns:a="http://schemas.openxmlformats.org/drawingml/2006/main">
            <a:off x="571500" y="3676650"/>
            <a:ext cx="4800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¿Ya funciona el tráfico en tiempo real?</a:t>
            </a:r>
          </a:p>
        </p:txBody>
      </p:sp>
      <p:sp>
        <p:nvSpPr>
          <p:cNvPr id="12" name="">
            <a:extLst xmlns:a="http://schemas.openxmlformats.org/drawingml/2006/main">
              <a:ext uri="{FF2B5EF4-FFF2-40B4-BE49-F238E27FC236}">
                <a16:creationId xmlns:a16="http://schemas.microsoft.com/office/drawing/2014/main" id="{F0D2A826-6C05-40C8-A299-B960C3AC3E23}"/>
              </a:ext>
            </a:extLst>
          </p:cNvPr>
          <p:cNvSpPr>
            <a:spLocks xmlns:a="http://schemas.openxmlformats.org/drawingml/2006/main" noGrp="1"/>
          </p:cNvSpPr>
          <p:nvPr/>
        </p:nvSpPr>
        <p:spPr>
          <a:xfrm xmlns:a="http://schemas.openxmlformats.org/drawingml/2006/main">
            <a:off x="5305425" y="3676650"/>
            <a:ext cx="5857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0252C"/>
                </a:solidFill>
                <a:latin typeface="Aptos"/>
                <a:ea typeface="Aptos"/>
                <a:cs typeface="Aptos"/>
              </a:defRPr>
            </a:pPr>
            <a:r>
              <a:rPr sz="1500" b="0">
                <a:solidFill>
                  <a:srgbClr val="20252C"/>
                </a:solidFill>
                <a:latin typeface="Aptos"/>
                <a:ea typeface="Aptos"/>
                <a:cs typeface="Aptos"/>
              </a:rPr>
              <a:t>Aún no con GPS validado. El método se probará con operadores.</a:t>
            </a:r>
          </a:p>
        </p:txBody>
      </p:sp>
      <p:sp>
        <p:nvSpPr>
          <p:cNvPr id="13" name="">
            <a:extLst xmlns:a="http://schemas.openxmlformats.org/drawingml/2006/main">
              <a:ext uri="{FF2B5EF4-FFF2-40B4-BE49-F238E27FC236}">
                <a16:creationId xmlns:a16="http://schemas.microsoft.com/office/drawing/2014/main" id="{F6A33614-A58C-4BEA-88ED-61FB8B1EDCC1}"/>
              </a:ext>
            </a:extLst>
          </p:cNvPr>
          <p:cNvSpPr>
            <a:spLocks xmlns:a="http://schemas.openxmlformats.org/drawingml/2006/main" noGrp="1"/>
          </p:cNvSpPr>
          <p:nvPr/>
        </p:nvSpPr>
        <p:spPr>
          <a:xfrm xmlns:a="http://schemas.openxmlformats.org/drawingml/2006/main">
            <a:off x="571500" y="4610100"/>
            <a:ext cx="11010900" cy="0"/>
          </a:xfrm>
          <a:prstGeom xmlns:a="http://schemas.openxmlformats.org/drawingml/2006/main" prst="line">
            <a:avLst/>
          </a:prstGeom>
          <a:noFill xmlns:a="http://schemas.openxmlformats.org/drawingml/2006/main"/>
          <a:ln xmlns:a="http://schemas.openxmlformats.org/drawingml/2006/main" w="9525">
            <a:solidFill>
              <a:srgbClr val="DDE3EA"/>
            </a:solidFill>
            <a:prstDash val="solid"/>
          </a:ln>
        </p:spPr>
      </p:sp>
      <p:sp>
        <p:nvSpPr>
          <p:cNvPr id="14" name="">
            <a:extLst xmlns:a="http://schemas.openxmlformats.org/drawingml/2006/main">
              <a:ext uri="{FF2B5EF4-FFF2-40B4-BE49-F238E27FC236}">
                <a16:creationId xmlns:a16="http://schemas.microsoft.com/office/drawing/2014/main" id="{ED9E4C06-8B1B-439F-8021-DF7CFF21991E}"/>
              </a:ext>
            </a:extLst>
          </p:cNvPr>
          <p:cNvSpPr>
            <a:spLocks xmlns:a="http://schemas.openxmlformats.org/drawingml/2006/main" noGrp="1"/>
          </p:cNvSpPr>
          <p:nvPr/>
        </p:nvSpPr>
        <p:spPr>
          <a:xfrm xmlns:a="http://schemas.openxmlformats.org/drawingml/2006/main">
            <a:off x="571500" y="4848225"/>
            <a:ext cx="4800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75CBA"/>
                </a:solidFill>
                <a:latin typeface="Aptos"/>
                <a:ea typeface="Aptos"/>
                <a:cs typeface="Aptos"/>
              </a:defRPr>
            </a:pPr>
            <a:r>
              <a:rPr sz="1575" b="1">
                <a:solidFill>
                  <a:srgbClr val="275CBA"/>
                </a:solidFill>
                <a:latin typeface="Aptos"/>
                <a:ea typeface="Aptos"/>
                <a:cs typeface="Aptos"/>
              </a:rPr>
              <a:t>¿Cómo sabrán si mejoró?</a:t>
            </a:r>
          </a:p>
        </p:txBody>
      </p:sp>
      <p:sp>
        <p:nvSpPr>
          <p:cNvPr id="15" name="">
            <a:extLst xmlns:a="http://schemas.openxmlformats.org/drawingml/2006/main">
              <a:ext uri="{FF2B5EF4-FFF2-40B4-BE49-F238E27FC236}">
                <a16:creationId xmlns:a16="http://schemas.microsoft.com/office/drawing/2014/main" id="{2034655E-EE38-4F41-B63E-FA8926FACFE8}"/>
              </a:ext>
            </a:extLst>
          </p:cNvPr>
          <p:cNvSpPr>
            <a:spLocks xmlns:a="http://schemas.openxmlformats.org/drawingml/2006/main" noGrp="1"/>
          </p:cNvSpPr>
          <p:nvPr/>
        </p:nvSpPr>
        <p:spPr>
          <a:xfrm xmlns:a="http://schemas.openxmlformats.org/drawingml/2006/main">
            <a:off x="5305425" y="4848225"/>
            <a:ext cx="5857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0252C"/>
                </a:solidFill>
                <a:latin typeface="Aptos"/>
                <a:ea typeface="Aptos"/>
                <a:cs typeface="Aptos"/>
              </a:defRPr>
            </a:pPr>
            <a:r>
              <a:rPr sz="1500" b="0">
                <a:solidFill>
                  <a:srgbClr val="20252C"/>
                </a:solidFill>
                <a:latin typeface="Aptos"/>
                <a:ea typeface="Aptos"/>
                <a:cs typeface="Aptos"/>
              </a:rPr>
              <a:t>Comparando viaje, espera, cobertura y operación antes y después del piloto.</a:t>
            </a:r>
          </a:p>
        </p:txBody>
      </p:sp>
    </p:spTree>
    <p:extLst>
      <p:ext uri="{BB962C8B-B14F-4D97-AF65-F5344CB8AC3E}">
        <p14:creationId xmlns:p14="http://schemas.microsoft.com/office/powerpoint/2010/main" val="1092279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2026-09-23T02:18:21.6180000Z</dcterms:created>
  <dcterms:modified xsi:type="dcterms:W3CDTF">2026-09-23T02:18:21.6180000Z</dcterms:modified>
</coreProperties>
</file>