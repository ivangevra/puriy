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033964d3fb2460b" /><Relationship Type="http://schemas.openxmlformats.org/officeDocument/2006/relationships/extended-properties" Target="/docProps/app.xml" Id="Rca516a7c06864f9d" /><Relationship Type="http://schemas.openxmlformats.org/officeDocument/2006/relationships/officeDocument" Target="/ppt/presentation.xml" Id="Rd88690624a814af4" /></Relationships>
</file>

<file path=ppt/presentation.xml><?xml version="1.0" encoding="utf-8"?>
<p:presentation xmlns:p="http://schemas.openxmlformats.org/presentationml/2006/main">
  <p:sldMasterIdLst>
    <p:sldMasterId xmlns:r="http://schemas.openxmlformats.org/officeDocument/2006/relationships" id="2147483648" r:id="R04dc552cdc934444"/>
  </p:sldMasterIdLst>
  <p:notesMasterIdLst>
    <p:notesMasterId xmlns:r="http://schemas.openxmlformats.org/officeDocument/2006/relationships" r:id="Rcc02d2750c154f43"/>
  </p:notesMasterIdLst>
  <p:sldIdLst>
    <p:sldId xmlns:r="http://schemas.openxmlformats.org/officeDocument/2006/relationships" id="256" r:id="Rcb5b845d07444331"/>
    <p:sldId xmlns:r="http://schemas.openxmlformats.org/officeDocument/2006/relationships" id="257" r:id="R9cf8cf0c6540423f"/>
    <p:sldId xmlns:r="http://schemas.openxmlformats.org/officeDocument/2006/relationships" id="258" r:id="R8410f02db10e4f4f"/>
    <p:sldId xmlns:r="http://schemas.openxmlformats.org/officeDocument/2006/relationships" id="259" r:id="R718766ccb2a4422b"/>
    <p:sldId xmlns:r="http://schemas.openxmlformats.org/officeDocument/2006/relationships" id="260" r:id="Rb406239b3943403d"/>
    <p:sldId xmlns:r="http://schemas.openxmlformats.org/officeDocument/2006/relationships" id="261" r:id="R483337c78dde463f"/>
    <p:sldId xmlns:r="http://schemas.openxmlformats.org/officeDocument/2006/relationships" id="262" r:id="R08170cdf8f9d4c97"/>
    <p:sldId xmlns:r="http://schemas.openxmlformats.org/officeDocument/2006/relationships" id="263" r:id="R0e606378eebd4720"/>
    <p:sldId xmlns:r="http://schemas.openxmlformats.org/officeDocument/2006/relationships" id="264" r:id="Raff994d7602b4e1e"/>
    <p:sldId xmlns:r="http://schemas.openxmlformats.org/officeDocument/2006/relationships" id="265" r:id="Rad435f08641f4d0c"/>
    <p:sldId xmlns:r="http://schemas.openxmlformats.org/officeDocument/2006/relationships" id="266" r:id="Rd4524a1e457e4c9d"/>
    <p:sldId xmlns:r="http://schemas.openxmlformats.org/officeDocument/2006/relationships" id="267" r:id="R36dbc5d3e5214f42"/>
    <p:sldId xmlns:r="http://schemas.openxmlformats.org/officeDocument/2006/relationships" id="268" r:id="R330ea2478246476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5104b152beb462b" /><Relationship Type="http://schemas.openxmlformats.org/officeDocument/2006/relationships/slideMaster" Target="/ppt/slideMasters/slideMaster1.xml" Id="R04dc552cdc934444" /><Relationship Type="http://schemas.openxmlformats.org/officeDocument/2006/relationships/notesMaster" Target="/ppt/notesMasters/notesMaster1.xml" Id="Rcc02d2750c154f43" /><Relationship Type="http://schemas.openxmlformats.org/officeDocument/2006/relationships/presProps" Target="/ppt/presProps.xml" Id="R4022c1223e924785" /><Relationship Type="http://schemas.openxmlformats.org/officeDocument/2006/relationships/tableStyles" Target="/ppt/tableStyles.xml" Id="Rca594540de5048b7" /><Relationship Type="http://schemas.openxmlformats.org/officeDocument/2006/relationships/slide" Target="/ppt/slides/slide1.xml" Id="Rcb5b845d07444331" /><Relationship Type="http://schemas.openxmlformats.org/officeDocument/2006/relationships/slide" Target="/ppt/slides/slide2.xml" Id="R9cf8cf0c6540423f" /><Relationship Type="http://schemas.openxmlformats.org/officeDocument/2006/relationships/slide" Target="/ppt/slides/slide3.xml" Id="R8410f02db10e4f4f" /><Relationship Type="http://schemas.openxmlformats.org/officeDocument/2006/relationships/slide" Target="/ppt/slides/slide4.xml" Id="R718766ccb2a4422b" /><Relationship Type="http://schemas.openxmlformats.org/officeDocument/2006/relationships/slide" Target="/ppt/slides/slide5.xml" Id="Rb406239b3943403d" /><Relationship Type="http://schemas.openxmlformats.org/officeDocument/2006/relationships/slide" Target="/ppt/slides/slide6.xml" Id="R483337c78dde463f" /><Relationship Type="http://schemas.openxmlformats.org/officeDocument/2006/relationships/slide" Target="/ppt/slides/slide7.xml" Id="R08170cdf8f9d4c97" /><Relationship Type="http://schemas.openxmlformats.org/officeDocument/2006/relationships/slide" Target="/ppt/slides/slide8.xml" Id="R0e606378eebd4720" /><Relationship Type="http://schemas.openxmlformats.org/officeDocument/2006/relationships/slide" Target="/ppt/slides/slide9.xml" Id="Raff994d7602b4e1e" /><Relationship Type="http://schemas.openxmlformats.org/officeDocument/2006/relationships/slide" Target="/ppt/slides/slide10.xml" Id="Rad435f08641f4d0c" /><Relationship Type="http://schemas.openxmlformats.org/officeDocument/2006/relationships/slide" Target="/ppt/slides/slide11.xml" Id="Rd4524a1e457e4c9d" /><Relationship Type="http://schemas.openxmlformats.org/officeDocument/2006/relationships/slide" Target="/ppt/slides/slide12.xml" Id="R36dbc5d3e5214f42" /><Relationship Type="http://schemas.openxmlformats.org/officeDocument/2006/relationships/slide" Target="/ppt/slides/slide13.xml" Id="R330ea247824647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e34e4346ea4492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fd41546b19409a" /><Relationship Type="http://schemas.openxmlformats.org/officeDocument/2006/relationships/notesMaster" Target="/ppt/notesMasters/notesMaster1.xml" Id="R5f3d18d78b234b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ba11b5b6be48ab" /><Relationship Type="http://schemas.openxmlformats.org/officeDocument/2006/relationships/notesMaster" Target="/ppt/notesMasters/notesMaster1.xml" Id="R28e448a352a94ce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493b38a1d64dd4" /><Relationship Type="http://schemas.openxmlformats.org/officeDocument/2006/relationships/notesMaster" Target="/ppt/notesMasters/notesMaster1.xml" Id="R9a700611d0fe49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84e790544b4e10" /><Relationship Type="http://schemas.openxmlformats.org/officeDocument/2006/relationships/notesMaster" Target="/ppt/notesMasters/notesMaster1.xml" Id="R17b93873b6fc4ea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9325a425b34d41" /><Relationship Type="http://schemas.openxmlformats.org/officeDocument/2006/relationships/notesMaster" Target="/ppt/notesMasters/notesMaster1.xml" Id="R12a8a8a225a64b7c"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6b72db78d64d0a" /><Relationship Type="http://schemas.openxmlformats.org/officeDocument/2006/relationships/notesMaster" Target="/ppt/notesMasters/notesMaster1.xml" Id="Rd1af16b870ef4573" /></Relationships>
</file>

<file path=ppt/notesSlides/_rels/notesSlide7.xml.rels>&#65279;<?xml version="1.0" encoding="utf-8"?><Relationships xmlns="http://schemas.openxmlformats.org/package/2006/relationships"><Relationship Type="http://schemas.openxmlformats.org/officeDocument/2006/relationships/slide" Target="/ppt/slides/slide7.xml" Id="Ra379f8c58f6f40cd" /><Relationship Type="http://schemas.openxmlformats.org/officeDocument/2006/relationships/notesMaster" Target="/ppt/notesMasters/notesMaster1.xml" Id="R56d4d17c3a234b27" /></Relationships>
</file>

<file path=ppt/notesSlides/_rels/notesSlide8.xml.rels>&#65279;<?xml version="1.0" encoding="utf-8"?><Relationships xmlns="http://schemas.openxmlformats.org/package/2006/relationships"><Relationship Type="http://schemas.openxmlformats.org/officeDocument/2006/relationships/slide" Target="/ppt/slides/slide8.xml" Id="R30927227d9634aaf" /><Relationship Type="http://schemas.openxmlformats.org/officeDocument/2006/relationships/notesMaster" Target="/ppt/notesMasters/notesMaster1.xml" Id="Rf7e56ba212d14811" /></Relationships>
</file>

<file path=ppt/notesSlides/_rels/notesSlide9.xml.rels>&#65279;<?xml version="1.0" encoding="utf-8"?><Relationships xmlns="http://schemas.openxmlformats.org/package/2006/relationships"><Relationship Type="http://schemas.openxmlformats.org/officeDocument/2006/relationships/slide" Target="/ppt/slides/slide9.xml" Id="R5eb83e8daef94790" /><Relationship Type="http://schemas.openxmlformats.org/officeDocument/2006/relationships/notesMaster" Target="/ppt/notesMasters/notesMaster1.xml" Id="Ra30a393bd46a41c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f5925b1a1c34036" /><Relationship Type="http://schemas.openxmlformats.org/officeDocument/2006/relationships/notesMaster" Target="/ppt/notesMasters/notesMaster1.xml" Id="Rdf6742f22cf2434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476b5002c5642f3" /><Relationship Type="http://schemas.openxmlformats.org/officeDocument/2006/relationships/notesMaster" Target="/ppt/notesMasters/notesMaster1.xml" Id="R940b989dc1214ce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c7c63bea6f64d59" /><Relationship Type="http://schemas.openxmlformats.org/officeDocument/2006/relationships/notesMaster" Target="/ppt/notesMasters/notesMaster1.xml" Id="R3d666ae359c54ca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7cc79a438e942da" /><Relationship Type="http://schemas.openxmlformats.org/officeDocument/2006/relationships/notesMaster" Target="/ppt/notesMasters/notesMaster1.xml" Id="Rbbcafd18db5b45d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Pitch de cinco minutos, con tres anexos técnicos para preguntas. Título y desafío conforme a la solicitud del equipo. Captura: versión local de Puriy, 22/09/2026. Abrir con la pregunta: ¿cómo orientar a un pasajero y planificar una ruta cuando población, recorridos y condiciones de circulación están en fuentes distintas?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https://www.gob.pe/institucion/munisanroman/noticias/1410103-culminamos-el-diagnostico-del-plan-de-movilidad-urbana-sostenible-pmus-en-juliaca-que-registra-mas-de-800-mil-viajes-diarios; https://www.gob.pe/institucion/mtc/noticias/1410015-promovilidad-culmina-diagnostico-de-movilidad-de-juliaca-como-parte-de-la-formulacion-del-pmus; E:/TEST MCP/juliaca-censos/PDU_Juliaca_2026-2035_Diagnostico.pdf, pp. 177–179, tabla 95. La nota municipal expresa 62,3% como proporción de viajes, mientras la del MTC lo formula como uso diario de la población. Evitar combinarlos en cálculos sin conocer denominadores. El diagnóstico PMUS cubre Juliaca, San Miguel y Caracoto; las cifras censales de la app no cubren Caracoto.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Enfoque de investigación aplicada. Unidades de análisis: manzana censal, punto de abordaje, ruta, tramo vial y franja día-hora. Los objetivos específicos son integrar datos, medir cobertura/accesibilidad, evaluar operación y contrastar escenarios. No se presume que la densidad residencial sea demanda observada. La validación requiere aforos, intervalos y viajes observados.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E:/PROYECTO JULIACA/web/public/data/manzanas-puntos.geojson; E:/TEST MCP/juliaca-censos/PDU_Juliaca_2026-2035_Diagnostico.pdf, pp. 177–185; documentación técnica local E:/PROYECTO JULIACA/docs/LABORATORIO_MOVILIDAD.md y AUDITORIA_PDU_MOVILIDAD.md. En el filtro Juliaca del mapa: 5.204 manzanas y 194.694 habitantes 2017 asociados. Conjunto Juliaca+San Miguel del laboratorio: 6.929 manzanas, 246.911 habitantes asociados, 3.728 registros sin población. El PDU imprime 1.808 combis + 155 microbuses = 1.963, pero la suma de las 40 filas da 1.814+155=1.969. Mantener la discrepancia hasta conciliación. Una ruta de prueba N40 está visible en la página pública local al 22/09/2026; no equivale a la red de 40 líneas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Capturas tomadas de http://localhost:5173 el 22/09/2026. La página actual tiene una ruta pública N40 denominada PRUEBA, con geometría visible y cero puntos de abordaje. La frecuencia y tarifa de esa ficha requieren verificación. El laboratorio de movilidad sí integra censo, catálogo PDU, destinos, calendario, comparador base/propuesta y trabajo de campo; el cálculo es exploratorio hasta validar datos. No mostrar la ruta N40 como una de las 40 líneas documentadas en el PDU.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implementada en el laboratorio de movilidad. El comparador estudia una línea base y una alternativa, conservando ida y vuelta, abordajes explícitos y flota disponible. Las fórmulas del ciclo, flota y oferta están documentadas en E:/PROYECTO JULIACA/docs/LABORATORIO_MOVILIDAD.md. Ejemplo hipotético: 13 km/15 km/h*60+10=62 min, techo(62/8)=8 vehículos y 60/8*16=120 plazas/h por sentido. No corresponde a una línea real. La densidad censal no se convierte automáticamente en demanda. No hay optimización de toda la red ni asignación OD calibrada todavía.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función es una propuesta de siguiente etapa. La API de Puriy acepta posiciones normalizadas y retira posiciones antiguas del mapa después de 90 segundos, pero no hay una serie GPS real validada ni tiempos de llegada en tiempo real. Los 100 m son una unidad de análisis ilustrativa que deberá calibrarse según GPS, calidad de mapa y longitud de cuadras. El ejemplo de 25 a 10 km/h produce 10/25 = 0,40 de la velocidad habitual; no demuestra por sí solo la causa de la caída. Se requiere map matching, limpieza de saltos, mínimo de vehículos y periodos, contraste con incidencias y capacidad vial. Una alternativa de ruta requiere validar giros, ancho, paraderos y autorización.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beneficios son hipótesis, no resultados ya observados. Diseñar medición pre y posintervención en la misma ruta con al menos dos semanas de línea base, tres a cuatro de piloto, ventanas comparables por día y hora, y un corredor de control cuando sea viable. Indicadores: mediana/P90 de tiempo completo, intervalo observado y su variación, cobertura de población conocida, acceso a destino abierto, carga crítica, vehículo-km/hora, zonas con pérdida de acceso. Seguridad: inspeccionar paradas, documentar desvíos e incidentes, sin atribuir causalidad a un piloto corto. Segmentar por estudiantes, sectores periféricos y otros grupos cuando la muestra lo permita. Un menor tiempo en una ruta no prueba reducción total de congestión; medir el efecto sobre corredores vecinos.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cifras monetarias deben surgir de cotizaciones locales y número definitivo de vehículos. En términos técnicos, la web y la API ya existen, con almacenamiento local en demostración y persistencia privada cuando se conecta la API. El despliegue requiere servidor para backend y base de datos, frontend, copias, dominio, monitoreo y mantenimiento. La ruta crítica es operacional: confirmar ruta, abordajes, frecuencia real, capacidad autorizada, acceso GPS, permisos y trabajo de campo. La secuencia suma 10–11 semanas. No presentar una ruta de prueba como servicio autorizado.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Cerrar el pitch en cinco minutos aquí. Roles aportados por el equipo: Ivan Antony Mamani Guevara (líder), Josue Isaac Coila Belizario (investigador), Franklin Diosdado Palomino Quispe (expositor). Los DNI se conservan en el Anexo 01 administrativo, no en la presentación pública. Solicitud concreta: seleccionar corredor piloto, acceso a datos de ruta y GPS, cooperación de operadores, y medición antes/después. Los anexos siguientes son soporte para preguntas del jurado.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https://www.gob.pe/institucion/mtc/noticias/1410015-promovilidad-culmina-diagnostico-de-movilidad-de-juliaca-como-parte-de-la-formulacion-del-pmus; https://www.gob.pe/institucion/munisanroman/noticias/1410103-culminamos-el-diagnostico-del-plan-de-movilidad-urbana-sostenible-pmus-en-juliaca-que-registra-mas-de-800-mil-viajes-diarios; E:/TEST MCP/juliaca-censos/PDU_Juliaca_2026-2035_Diagnostico.pdf; E:/PROYECTO JULIACA/web/public/data/manzanas-puntos.geojson. El PDU es documento de consulta pública. El 62,3% tiene diferencias de formulación entre la nota del MTC y la municipal; usarlo como contexto y pedir el denominador técnico. La suma aritmética de la flota se audita en E:/PROYECTO JULIACA/docs/AUDITORIA_PDU_MOVILIDAD.md.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Definiciones para que el jurado pueda preguntar cómo se medirá el impacto. Los valores de 400 m y 45 min son parámetros propuestos para el piloto y deben someterse a sensibilidad, por ejemplo 300/400/500 m y 30/45/60 min. En modo proximidad en línea recta, Puriy advierte que no equivale a caminar por calles; la red peatonal validada debe sustituir la aproximación para indicadores definitivos. Una baja velocidad GPS aislada no demuestra congestión causada por micros.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Este anexo documenta condiciones y límites. El prototipo incluye una ruta pública de prueba, orientación en mapa y comparador de escenarios, pero no una red operativa completa validada. GPS real de operadores aún no está integrado. El PDU no da frecuencias por línea. El censo residencial no representa por sí solo viajes. El uso público de rutas y alertas requiere validación técnica y acuerdos institucionales. Evitar prometer reducción de tráfico hasta realizar la evaluación.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e7c2533f0a4c2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a46923ada849f4" /><Relationship Type="http://schemas.openxmlformats.org/officeDocument/2006/relationships/slideLayout" Target="/ppt/slideLayouts/slideLayout1.xml" Id="Ra099debe9d584ce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099debe9d584c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6a913c5eeda468f" /><Relationship Type="http://schemas.openxmlformats.org/officeDocument/2006/relationships/image" Target="/ppt/media/image.png" Id="Rbeab881546224416" /><Relationship Type="http://schemas.openxmlformats.org/officeDocument/2006/relationships/image" Target="/ppt/media/image2.png" Id="Rdc82eaf28248488b" /><Relationship Type="http://schemas.openxmlformats.org/officeDocument/2006/relationships/notesSlide" Target="/ppt/notesSlides/notesSlide1.xml" Id="R139e89821aa545e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2aa84de64de45ac" /><Relationship Type="http://schemas.openxmlformats.org/officeDocument/2006/relationships/notesSlide" Target="/ppt/notesSlides/notesSlide2.xml" Id="R96de2c52f977475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86d7a37b2644272" /><Relationship Type="http://schemas.openxmlformats.org/officeDocument/2006/relationships/notesSlide" Target="/ppt/notesSlides/notesSlide3.xml" Id="Rf2a062bc9d3043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f3b558a32044ce7" /><Relationship Type="http://schemas.openxmlformats.org/officeDocument/2006/relationships/notesSlide" Target="/ppt/notesSlides/notesSlide4.xml" Id="Rac95545350c74f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8ef15705bbc448f" /><Relationship Type="http://schemas.openxmlformats.org/officeDocument/2006/relationships/image" Target="/ppt/media/image3.png" Id="R6b4be06e490e4b54" /><Relationship Type="http://schemas.openxmlformats.org/officeDocument/2006/relationships/image" Target="/ppt/media/image4.png" Id="Ra7f7397190ea4d27" /><Relationship Type="http://schemas.openxmlformats.org/officeDocument/2006/relationships/notesSlide" Target="/ppt/notesSlides/notesSlide5.xml" Id="Re8a1e267bcee4c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1661b40555a4c49" /><Relationship Type="http://schemas.openxmlformats.org/officeDocument/2006/relationships/notesSlide" Target="/ppt/notesSlides/notesSlide6.xml" Id="Rb119e8cf5a684d7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ffca6d903f549bd" /><Relationship Type="http://schemas.openxmlformats.org/officeDocument/2006/relationships/notesSlide" Target="/ppt/notesSlides/notesSlide7.xml" Id="R951912af4a1446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bde8e0881ab4372" /><Relationship Type="http://schemas.openxmlformats.org/officeDocument/2006/relationships/notesSlide" Target="/ppt/notesSlides/notesSlide8.xml" Id="R90f9fab3d20f4b1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493c0e29ba64f49" /><Relationship Type="http://schemas.openxmlformats.org/officeDocument/2006/relationships/notesSlide" Target="/ppt/notesSlides/notesSlide9.xml" Id="Rec7ee708c78e4f2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4991758e7c64c6f" /><Relationship Type="http://schemas.openxmlformats.org/officeDocument/2006/relationships/notesSlide" Target="/ppt/notesSlides/notesSlide10.xml" Id="Rb118fd78a9bb41b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1d675f46338446b" /><Relationship Type="http://schemas.openxmlformats.org/officeDocument/2006/relationships/notesSlide" Target="/ppt/notesSlides/notesSlide11.xml" Id="Reafd9425d0e94dc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d6553f140874642" /><Relationship Type="http://schemas.openxmlformats.org/officeDocument/2006/relationships/notesSlide" Target="/ppt/notesSlides/notesSlide12.xml" Id="R635f7ed20c8d424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cc52f38e37241e6" /><Relationship Type="http://schemas.openxmlformats.org/officeDocument/2006/relationships/notesSlide" Target="/ppt/notesSlides/notesSlide13.xml" Id="Rf2c8445bc48a4098" /></Relationships>
</file>

<file path=ppt/slides/slide1.xml><?xml version="1.0" encoding="utf-8"?>
<p:sld xmlns:p="http://schemas.openxmlformats.org/presentationml/2006/main">
  <p:cSld>
    <p:bg>
      <p:bgPr>
        <a:solidFill xmlns:a="http://schemas.openxmlformats.org/drawingml/2006/main">
          <a:srgbClr val="1720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D21B439-E9BB-4F7F-A313-F02FF0289345}"/>
              </a:ext>
            </a:extLst>
          </p:cNvPr>
          <p:cNvSpPr>
            <a:spLocks xmlns:a="http://schemas.openxmlformats.org/drawingml/2006/main" noGrp="1"/>
          </p:cNvSpPr>
          <p:nvPr/>
        </p:nvSpPr>
        <p:spPr>
          <a:xfrm xmlns:a="http://schemas.openxmlformats.org/drawingml/2006/main">
            <a:off x="0" y="0"/>
            <a:ext cx="7429500" cy="6858000"/>
          </a:xfrm>
          <a:prstGeom xmlns:a="http://schemas.openxmlformats.org/drawingml/2006/main" prst="rect">
            <a:avLst/>
          </a:prstGeom>
          <a:solidFill xmlns:a="http://schemas.openxmlformats.org/drawingml/2006/main">
            <a:srgbClr val="17202B"/>
          </a:solidFill>
          <a:ln xmlns:a="http://schemas.openxmlformats.org/drawingml/2006/main" w="0">
            <a:noFill/>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eab881546224416"/>
          <a:srcRect xmlns:a="http://schemas.openxmlformats.org/drawingml/2006/main" l="28299" t="0" r="28299" b="0"/>
          <a:stretch xmlns:a="http://schemas.openxmlformats.org/drawingml/2006/main">
            <a:fillRect l="0" t="0" r="0" b="0"/>
          </a:stretch>
        </p:blipFill>
        <p:spPr>
          <a:xfrm xmlns:a="http://schemas.openxmlformats.org/drawingml/2006/main">
            <a:off x="7429500" y="0"/>
            <a:ext cx="47625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59E3722-8C25-4583-A545-BBDD47B5C555}"/>
              </a:ext>
            </a:extLst>
          </p:cNvPr>
          <p:cNvSpPr>
            <a:spLocks xmlns:a="http://schemas.openxmlformats.org/drawingml/2006/main" noGrp="1"/>
          </p:cNvSpPr>
          <p:nvPr/>
        </p:nvSpPr>
        <p:spPr>
          <a:xfrm xmlns:a="http://schemas.openxmlformats.org/drawingml/2006/main">
            <a:off x="7124700" y="0"/>
            <a:ext cx="685800" cy="6858000"/>
          </a:xfrm>
          <a:prstGeom xmlns:a="http://schemas.openxmlformats.org/drawingml/2006/main" prst="rect">
            <a:avLst/>
          </a:prstGeom>
          <a:solidFill xmlns:a="http://schemas.openxmlformats.org/drawingml/2006/main">
            <a:srgbClr val="17202B"/>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c82eaf28248488b"/>
          <a:stretch xmlns:a="http://schemas.openxmlformats.org/drawingml/2006/main"/>
        </p:blipFill>
        <p:spPr>
          <a:xfrm xmlns:a="http://schemas.openxmlformats.org/drawingml/2006/main">
            <a:off x="590550" y="476250"/>
            <a:ext cx="723900" cy="7239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88C9389-4695-46AA-8ACB-BCAE6E8BC997}"/>
              </a:ext>
            </a:extLst>
          </p:cNvPr>
          <p:cNvSpPr>
            <a:spLocks xmlns:a="http://schemas.openxmlformats.org/drawingml/2006/main" noGrp="1"/>
          </p:cNvSpPr>
          <p:nvPr/>
        </p:nvSpPr>
        <p:spPr>
          <a:xfrm xmlns:a="http://schemas.openxmlformats.org/drawingml/2006/main">
            <a:off x="590550" y="1514475"/>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FFFF"/>
                </a:solidFill>
                <a:latin typeface="Aptos"/>
                <a:ea typeface="Aptos"/>
                <a:cs typeface="Aptos"/>
              </a:defRPr>
            </a:pPr>
            <a:r>
              <a:rPr sz="4350" b="1">
                <a:solidFill>
                  <a:srgbClr val="FFFFFF"/>
                </a:solidFill>
                <a:latin typeface="Aptos"/>
                <a:ea typeface="Aptos"/>
                <a:cs typeface="Aptos"/>
              </a:rPr>
              <a:t>PURIY</a:t>
            </a:r>
          </a:p>
        </p:txBody>
      </p:sp>
      <p:sp>
        <p:nvSpPr>
          <p:cNvPr id="6" name="">
            <a:extLst xmlns:a="http://schemas.openxmlformats.org/drawingml/2006/main">
              <a:ext uri="{FF2B5EF4-FFF2-40B4-BE49-F238E27FC236}">
                <a16:creationId xmlns:a16="http://schemas.microsoft.com/office/drawing/2014/main" id="{55B1C182-A621-4900-9EB3-8F64B764E92C}"/>
              </a:ext>
            </a:extLst>
          </p:cNvPr>
          <p:cNvSpPr>
            <a:spLocks xmlns:a="http://schemas.openxmlformats.org/drawingml/2006/main" noGrp="1"/>
          </p:cNvSpPr>
          <p:nvPr/>
        </p:nvSpPr>
        <p:spPr>
          <a:xfrm xmlns:a="http://schemas.openxmlformats.org/drawingml/2006/main">
            <a:off x="590550" y="2381250"/>
            <a:ext cx="61912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FFFFFF"/>
                </a:solidFill>
                <a:latin typeface="Aptos"/>
                <a:ea typeface="Aptos"/>
                <a:cs typeface="Aptos"/>
              </a:defRPr>
            </a:pPr>
            <a:r>
              <a:rPr sz="2400" b="1">
                <a:solidFill>
                  <a:srgbClr val="FFFFFF"/>
                </a:solidFill>
                <a:latin typeface="Aptos"/>
                <a:ea typeface="Aptos"/>
                <a:cs typeface="Aptos"/>
              </a:rPr>
              <a:t>Plataforma Inteligente para la Optimización de Rutas de Transporte Urbano</a:t>
            </a:r>
          </a:p>
        </p:txBody>
      </p:sp>
      <p:sp>
        <p:nvSpPr>
          <p:cNvPr id="7" name="">
            <a:extLst xmlns:a="http://schemas.openxmlformats.org/drawingml/2006/main">
              <a:ext uri="{FF2B5EF4-FFF2-40B4-BE49-F238E27FC236}">
                <a16:creationId xmlns:a16="http://schemas.microsoft.com/office/drawing/2014/main" id="{3342151C-F871-4B7F-907A-40C6EE842350}"/>
              </a:ext>
            </a:extLst>
          </p:cNvPr>
          <p:cNvSpPr>
            <a:spLocks xmlns:a="http://schemas.openxmlformats.org/drawingml/2006/main" noGrp="1"/>
          </p:cNvSpPr>
          <p:nvPr/>
        </p:nvSpPr>
        <p:spPr>
          <a:xfrm xmlns:a="http://schemas.openxmlformats.org/drawingml/2006/main">
            <a:off x="590550" y="4229100"/>
            <a:ext cx="1714500" cy="0"/>
          </a:xfrm>
          <a:prstGeom xmlns:a="http://schemas.openxmlformats.org/drawingml/2006/main" prst="line">
            <a:avLst/>
          </a:prstGeom>
          <a:noFill xmlns:a="http://schemas.openxmlformats.org/drawingml/2006/main"/>
          <a:ln xmlns:a="http://schemas.openxmlformats.org/drawingml/2006/main" w="57150">
            <a:solidFill>
              <a:srgbClr val="6F9EF1"/>
            </a:solidFill>
            <a:prstDash val="solid"/>
          </a:ln>
        </p:spPr>
      </p:sp>
      <p:sp>
        <p:nvSpPr>
          <p:cNvPr id="8" name="">
            <a:extLst xmlns:a="http://schemas.openxmlformats.org/drawingml/2006/main">
              <a:ext uri="{FF2B5EF4-FFF2-40B4-BE49-F238E27FC236}">
                <a16:creationId xmlns:a16="http://schemas.microsoft.com/office/drawing/2014/main" id="{985344D9-A0C9-401F-A92B-9F4BBEA6EF1A}"/>
              </a:ext>
            </a:extLst>
          </p:cNvPr>
          <p:cNvSpPr>
            <a:spLocks xmlns:a="http://schemas.openxmlformats.org/drawingml/2006/main" noGrp="1"/>
          </p:cNvSpPr>
          <p:nvPr/>
        </p:nvSpPr>
        <p:spPr>
          <a:xfrm xmlns:a="http://schemas.openxmlformats.org/drawingml/2006/main">
            <a:off x="590550" y="4476750"/>
            <a:ext cx="552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CBD8E8"/>
                </a:solidFill>
                <a:latin typeface="Aptos"/>
                <a:ea typeface="Aptos"/>
                <a:cs typeface="Aptos"/>
              </a:defRPr>
            </a:pPr>
            <a:r>
              <a:rPr sz="1650" b="0">
                <a:solidFill>
                  <a:srgbClr val="CBD8E8"/>
                </a:solidFill>
                <a:latin typeface="Aptos"/>
                <a:ea typeface="Aptos"/>
                <a:cs typeface="Aptos"/>
              </a:rPr>
              <a:t>Propuesta de investigación aplicada y piloto de movilidad urbana</a:t>
            </a:r>
          </a:p>
        </p:txBody>
      </p:sp>
      <p:sp>
        <p:nvSpPr>
          <p:cNvPr id="9" name="">
            <a:extLst xmlns:a="http://schemas.openxmlformats.org/drawingml/2006/main">
              <a:ext uri="{FF2B5EF4-FFF2-40B4-BE49-F238E27FC236}">
                <a16:creationId xmlns:a16="http://schemas.microsoft.com/office/drawing/2014/main" id="{5A5E6C5C-C247-43A3-B9BF-AAD48BC0E633}"/>
              </a:ext>
            </a:extLst>
          </p:cNvPr>
          <p:cNvSpPr>
            <a:spLocks xmlns:a="http://schemas.openxmlformats.org/drawingml/2006/main" noGrp="1"/>
          </p:cNvSpPr>
          <p:nvPr/>
        </p:nvSpPr>
        <p:spPr>
          <a:xfrm xmlns:a="http://schemas.openxmlformats.org/drawingml/2006/main">
            <a:off x="590550" y="5505450"/>
            <a:ext cx="600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AFC7FF"/>
                </a:solidFill>
                <a:latin typeface="Aptos"/>
                <a:ea typeface="Aptos"/>
                <a:cs typeface="Aptos"/>
              </a:defRPr>
            </a:pPr>
            <a:r>
              <a:rPr sz="1200" b="1">
                <a:solidFill>
                  <a:srgbClr val="AFC7FF"/>
                </a:solidFill>
                <a:latin typeface="Aptos"/>
                <a:ea typeface="Aptos"/>
                <a:cs typeface="Aptos"/>
              </a:rPr>
              <a:t>DESAFÍO 2 · MOVILIDAD SOSTENIBLE Y SEGURA</a:t>
            </a:r>
          </a:p>
        </p:txBody>
      </p:sp>
      <p:sp>
        <p:nvSpPr>
          <p:cNvPr id="10" name="">
            <a:extLst xmlns:a="http://schemas.openxmlformats.org/drawingml/2006/main">
              <a:ext uri="{FF2B5EF4-FFF2-40B4-BE49-F238E27FC236}">
                <a16:creationId xmlns:a16="http://schemas.microsoft.com/office/drawing/2014/main" id="{4CBB4114-9BC0-4BD8-B342-C89335DDDD6C}"/>
              </a:ext>
            </a:extLst>
          </p:cNvPr>
          <p:cNvSpPr>
            <a:spLocks xmlns:a="http://schemas.openxmlformats.org/drawingml/2006/main" noGrp="1"/>
          </p:cNvSpPr>
          <p:nvPr/>
        </p:nvSpPr>
        <p:spPr>
          <a:xfrm xmlns:a="http://schemas.openxmlformats.org/drawingml/2006/main">
            <a:off x="590550" y="595312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FFFFFF"/>
                </a:solidFill>
                <a:latin typeface="Aptos"/>
                <a:ea typeface="Aptos"/>
                <a:cs typeface="Aptos"/>
              </a:defRPr>
            </a:pPr>
            <a:r>
              <a:rPr sz="1425" b="0">
                <a:solidFill>
                  <a:srgbClr val="FFFFFF"/>
                </a:solidFill>
                <a:latin typeface="Aptos"/>
                <a:ea typeface="Aptos"/>
                <a:cs typeface="Aptos"/>
              </a:rPr>
              <a:t>Equipo ASEDIC · Juliaca, 2026</a:t>
            </a:r>
          </a:p>
        </p:txBody>
      </p:sp>
    </p:spTree>
    <p:extLst>
      <p:ext uri="{BB962C8B-B14F-4D97-AF65-F5344CB8AC3E}">
        <p14:creationId xmlns:p14="http://schemas.microsoft.com/office/powerpoint/2010/main" val="100383153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37EFA2C-62A1-488A-8C9D-B6C79A2D5ACA}"/>
              </a:ext>
            </a:extLst>
          </p:cNvPr>
          <p:cNvSpPr>
            <a:spLocks xmlns:a="http://schemas.openxmlformats.org/drawingml/2006/main" noGrp="1"/>
          </p:cNvSpPr>
          <p:nvPr/>
        </p:nvSpPr>
        <p:spPr>
          <a:xfrm xmlns:a="http://schemas.openxmlformats.org/drawingml/2006/main">
            <a:off x="571500" y="3238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Problema de movilidad y evidencia disponible</a:t>
            </a:r>
          </a:p>
        </p:txBody>
      </p:sp>
      <p:sp>
        <p:nvSpPr>
          <p:cNvPr id="2" name="">
            <a:extLst xmlns:a="http://schemas.openxmlformats.org/drawingml/2006/main">
              <a:ext uri="{FF2B5EF4-FFF2-40B4-BE49-F238E27FC236}">
                <a16:creationId xmlns:a16="http://schemas.microsoft.com/office/drawing/2014/main" id="{52D6BBAE-FDC1-4AB0-B837-7B433F79DC8D}"/>
              </a:ext>
            </a:extLst>
          </p:cNvPr>
          <p:cNvSpPr>
            <a:spLocks xmlns:a="http://schemas.openxmlformats.org/drawingml/2006/main" noGrp="1"/>
          </p:cNvSpPr>
          <p:nvPr/>
        </p:nvSpPr>
        <p:spPr>
          <a:xfrm xmlns:a="http://schemas.openxmlformats.org/drawingml/2006/main">
            <a:off x="11125200" y="4476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02</a:t>
            </a:r>
          </a:p>
        </p:txBody>
      </p:sp>
      <p:sp>
        <p:nvSpPr>
          <p:cNvPr id="3" name="">
            <a:extLst xmlns:a="http://schemas.openxmlformats.org/drawingml/2006/main">
              <a:ext uri="{FF2B5EF4-FFF2-40B4-BE49-F238E27FC236}">
                <a16:creationId xmlns:a16="http://schemas.microsoft.com/office/drawing/2014/main" id="{7D9E31F2-69D8-42EE-B832-FC300429F520}"/>
              </a:ext>
            </a:extLst>
          </p:cNvPr>
          <p:cNvSpPr>
            <a:spLocks xmlns:a="http://schemas.openxmlformats.org/drawingml/2006/main" noGrp="1"/>
          </p:cNvSpPr>
          <p:nvPr/>
        </p:nvSpPr>
        <p:spPr>
          <a:xfrm xmlns:a="http://schemas.openxmlformats.org/drawingml/2006/main">
            <a:off x="571500" y="981075"/>
            <a:ext cx="11029950" cy="0"/>
          </a:xfrm>
          <a:prstGeom xmlns:a="http://schemas.openxmlformats.org/drawingml/2006/main" prst="line">
            <a:avLst/>
          </a:prstGeom>
          <a:noFill xmlns:a="http://schemas.openxmlformats.org/drawingml/2006/main"/>
          <a:ln xmlns:a="http://schemas.openxmlformats.org/drawingml/2006/main" w="19050">
            <a:solidFill>
              <a:srgbClr val="DFE4EA"/>
            </a:solidFill>
            <a:prstDash val="solid"/>
          </a:ln>
        </p:spPr>
      </p:sp>
      <p:sp>
        <p:nvSpPr>
          <p:cNvPr id="4" name="">
            <a:extLst xmlns:a="http://schemas.openxmlformats.org/drawingml/2006/main">
              <a:ext uri="{FF2B5EF4-FFF2-40B4-BE49-F238E27FC236}">
                <a16:creationId xmlns:a16="http://schemas.microsoft.com/office/drawing/2014/main" id="{08BBC733-A221-44CC-A215-CC027F3DEE90}"/>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7A838F"/>
                </a:solidFill>
                <a:latin typeface="Aptos"/>
                <a:ea typeface="Aptos"/>
                <a:cs typeface="Aptos"/>
              </a:defRPr>
            </a:pPr>
            <a:r>
              <a:rPr sz="825" b="0">
                <a:solidFill>
                  <a:srgbClr val="7A838F"/>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549166AD-E7A7-4317-A23B-3EF9E1ECCD19}"/>
              </a:ext>
            </a:extLst>
          </p:cNvPr>
          <p:cNvSpPr>
            <a:spLocks xmlns:a="http://schemas.openxmlformats.org/drawingml/2006/main" noGrp="1"/>
          </p:cNvSpPr>
          <p:nvPr/>
        </p:nvSpPr>
        <p:spPr>
          <a:xfrm xmlns:a="http://schemas.openxmlformats.org/drawingml/2006/main">
            <a:off x="9105900" y="6515100"/>
            <a:ext cx="2457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a:solidFill>
                  <a:srgbClr val="7A838F"/>
                </a:solidFill>
                <a:latin typeface="Aptos"/>
                <a:ea typeface="Aptos"/>
                <a:cs typeface="Aptos"/>
              </a:defRPr>
            </a:pPr>
            <a:r>
              <a:rPr sz="825" b="0">
                <a:solidFill>
                  <a:srgbClr val="7A838F"/>
                </a:solidFill>
                <a:latin typeface="Aptos"/>
                <a:ea typeface="Aptos"/>
                <a:cs typeface="Aptos"/>
              </a:rPr>
              <a:t>FUENTES Y MÉTODO EN NOTAS</a:t>
            </a:r>
          </a:p>
        </p:txBody>
      </p:sp>
      <p:sp>
        <p:nvSpPr>
          <p:cNvPr id="6" name="">
            <a:extLst xmlns:a="http://schemas.openxmlformats.org/drawingml/2006/main">
              <a:ext uri="{FF2B5EF4-FFF2-40B4-BE49-F238E27FC236}">
                <a16:creationId xmlns:a16="http://schemas.microsoft.com/office/drawing/2014/main" id="{E33B51E6-5A3E-4094-A445-006061D94A60}"/>
              </a:ext>
            </a:extLst>
          </p:cNvPr>
          <p:cNvSpPr>
            <a:spLocks xmlns:a="http://schemas.openxmlformats.org/drawingml/2006/main" noGrp="1"/>
          </p:cNvSpPr>
          <p:nvPr/>
        </p:nvSpPr>
        <p:spPr>
          <a:xfrm xmlns:a="http://schemas.openxmlformats.org/drawingml/2006/main">
            <a:off x="571500" y="12382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AF343B"/>
                </a:solidFill>
                <a:latin typeface="Aptos"/>
                <a:ea typeface="Aptos"/>
                <a:cs typeface="Aptos"/>
              </a:defRPr>
            </a:pPr>
            <a:r>
              <a:rPr sz="1125" b="1">
                <a:solidFill>
                  <a:srgbClr val="AF343B"/>
                </a:solidFill>
                <a:latin typeface="Aptos"/>
                <a:ea typeface="Aptos"/>
                <a:cs typeface="Aptos"/>
              </a:rPr>
              <a:t>Problema general</a:t>
            </a:r>
          </a:p>
        </p:txBody>
      </p:sp>
      <p:sp>
        <p:nvSpPr>
          <p:cNvPr id="7" name="">
            <a:extLst xmlns:a="http://schemas.openxmlformats.org/drawingml/2006/main">
              <a:ext uri="{FF2B5EF4-FFF2-40B4-BE49-F238E27FC236}">
                <a16:creationId xmlns:a16="http://schemas.microsoft.com/office/drawing/2014/main" id="{F665334A-B63A-416F-A2DD-F34278541D63}"/>
              </a:ext>
            </a:extLst>
          </p:cNvPr>
          <p:cNvSpPr>
            <a:spLocks xmlns:a="http://schemas.openxmlformats.org/drawingml/2006/main" noGrp="1"/>
          </p:cNvSpPr>
          <p:nvPr/>
        </p:nvSpPr>
        <p:spPr>
          <a:xfrm xmlns:a="http://schemas.openxmlformats.org/drawingml/2006/main">
            <a:off x="571500" y="1552575"/>
            <a:ext cx="5762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20252C"/>
                </a:solidFill>
                <a:latin typeface="Aptos"/>
                <a:ea typeface="Aptos"/>
                <a:cs typeface="Aptos"/>
              </a:defRPr>
            </a:pPr>
            <a:r>
              <a:rPr sz="2025" b="1">
                <a:solidFill>
                  <a:srgbClr val="20252C"/>
                </a:solidFill>
                <a:latin typeface="Aptos"/>
                <a:ea typeface="Aptos"/>
                <a:cs typeface="Aptos"/>
              </a:rPr>
              <a:t>La planificación del transporte urbano de Juliaca usa información fragmentada sobre población, rutas, flota, destinos y circulación.</a:t>
            </a:r>
          </a:p>
        </p:txBody>
      </p:sp>
      <p:sp>
        <p:nvSpPr>
          <p:cNvPr id="8" name="">
            <a:extLst xmlns:a="http://schemas.openxmlformats.org/drawingml/2006/main">
              <a:ext uri="{FF2B5EF4-FFF2-40B4-BE49-F238E27FC236}">
                <a16:creationId xmlns:a16="http://schemas.microsoft.com/office/drawing/2014/main" id="{1422C719-A126-46F1-866C-771BBF63E630}"/>
              </a:ext>
            </a:extLst>
          </p:cNvPr>
          <p:cNvSpPr>
            <a:spLocks xmlns:a="http://schemas.openxmlformats.org/drawingml/2006/main" noGrp="1"/>
          </p:cNvSpPr>
          <p:nvPr/>
        </p:nvSpPr>
        <p:spPr>
          <a:xfrm xmlns:a="http://schemas.openxmlformats.org/drawingml/2006/main">
            <a:off x="571500" y="2752725"/>
            <a:ext cx="5762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D6570"/>
                </a:solidFill>
                <a:latin typeface="Aptos"/>
                <a:ea typeface="Aptos"/>
                <a:cs typeface="Aptos"/>
              </a:defRPr>
            </a:pPr>
            <a:r>
              <a:rPr sz="1500" b="0">
                <a:solidFill>
                  <a:srgbClr val="5D6570"/>
                </a:solidFill>
                <a:latin typeface="Aptos"/>
                <a:ea typeface="Aptos"/>
                <a:cs typeface="Aptos"/>
              </a:rPr>
              <a:t>Esto impide reconocer con precisión sectores desatendidos y ajustar recorridos y frecuencias a los viajes reales.</a:t>
            </a:r>
          </a:p>
        </p:txBody>
      </p:sp>
      <p:sp>
        <p:nvSpPr>
          <p:cNvPr id="9" name="">
            <a:extLst xmlns:a="http://schemas.openxmlformats.org/drawingml/2006/main">
              <a:ext uri="{FF2B5EF4-FFF2-40B4-BE49-F238E27FC236}">
                <a16:creationId xmlns:a16="http://schemas.microsoft.com/office/drawing/2014/main" id="{9E61E256-3FFC-4D9E-AF0F-650CB3CDDB8C}"/>
              </a:ext>
            </a:extLst>
          </p:cNvPr>
          <p:cNvSpPr>
            <a:spLocks xmlns:a="http://schemas.openxmlformats.org/drawingml/2006/main" noGrp="1"/>
          </p:cNvSpPr>
          <p:nvPr/>
        </p:nvSpPr>
        <p:spPr>
          <a:xfrm xmlns:a="http://schemas.openxmlformats.org/drawingml/2006/main">
            <a:off x="6724650" y="1257300"/>
            <a:ext cx="4857750" cy="1943100"/>
          </a:xfrm>
          <a:prstGeom xmlns:a="http://schemas.openxmlformats.org/drawingml/2006/main" prst="roundRect">
            <a:avLst>
              <a:gd name="adj" fmla="val 7843"/>
            </a:avLst>
          </a:prstGeom>
          <a:solidFill xmlns:a="http://schemas.openxmlformats.org/drawingml/2006/main">
            <a:srgbClr val="EDF3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119A2BD-B4F9-4B30-AEB3-58C42045FFBC}"/>
              </a:ext>
            </a:extLst>
          </p:cNvPr>
          <p:cNvSpPr>
            <a:spLocks xmlns:a="http://schemas.openxmlformats.org/drawingml/2006/main" noGrp="1"/>
          </p:cNvSpPr>
          <p:nvPr/>
        </p:nvSpPr>
        <p:spPr>
          <a:xfrm xmlns:a="http://schemas.openxmlformats.org/drawingml/2006/main">
            <a:off x="6953250" y="1438275"/>
            <a:ext cx="285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75CBA"/>
                </a:solidFill>
                <a:latin typeface="Aptos"/>
                <a:ea typeface="Aptos"/>
                <a:cs typeface="Aptos"/>
              </a:defRPr>
            </a:pPr>
            <a:r>
              <a:rPr sz="3375" b="1">
                <a:solidFill>
                  <a:srgbClr val="275CBA"/>
                </a:solidFill>
                <a:latin typeface="Aptos"/>
                <a:ea typeface="Aptos"/>
                <a:cs typeface="Aptos"/>
              </a:rPr>
              <a:t>&gt;800 mil</a:t>
            </a:r>
          </a:p>
        </p:txBody>
      </p:sp>
      <p:sp>
        <p:nvSpPr>
          <p:cNvPr id="11" name="">
            <a:extLst xmlns:a="http://schemas.openxmlformats.org/drawingml/2006/main">
              <a:ext uri="{FF2B5EF4-FFF2-40B4-BE49-F238E27FC236}">
                <a16:creationId xmlns:a16="http://schemas.microsoft.com/office/drawing/2014/main" id="{CA85A639-4EF5-4A2A-ADBF-91A2C1C5CED8}"/>
              </a:ext>
            </a:extLst>
          </p:cNvPr>
          <p:cNvSpPr>
            <a:spLocks xmlns:a="http://schemas.openxmlformats.org/drawingml/2006/main" noGrp="1"/>
          </p:cNvSpPr>
          <p:nvPr/>
        </p:nvSpPr>
        <p:spPr>
          <a:xfrm xmlns:a="http://schemas.openxmlformats.org/drawingml/2006/main">
            <a:off x="6953250" y="2038350"/>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20252C"/>
                </a:solidFill>
                <a:latin typeface="Aptos"/>
                <a:ea typeface="Aptos"/>
                <a:cs typeface="Aptos"/>
              </a:defRPr>
            </a:pPr>
            <a:r>
              <a:rPr sz="1350" b="1">
                <a:solidFill>
                  <a:srgbClr val="20252C"/>
                </a:solidFill>
                <a:latin typeface="Aptos"/>
                <a:ea typeface="Aptos"/>
                <a:cs typeface="Aptos"/>
              </a:rPr>
              <a:t>viajes diarios en el ámbito del PMUS</a:t>
            </a:r>
          </a:p>
        </p:txBody>
      </p:sp>
      <p:sp>
        <p:nvSpPr>
          <p:cNvPr id="12" name="">
            <a:extLst xmlns:a="http://schemas.openxmlformats.org/drawingml/2006/main">
              <a:ext uri="{FF2B5EF4-FFF2-40B4-BE49-F238E27FC236}">
                <a16:creationId xmlns:a16="http://schemas.microsoft.com/office/drawing/2014/main" id="{C50121FB-689E-43F2-BEB8-18350B8C5AB8}"/>
              </a:ext>
            </a:extLst>
          </p:cNvPr>
          <p:cNvSpPr>
            <a:spLocks xmlns:a="http://schemas.openxmlformats.org/drawingml/2006/main" noGrp="1"/>
          </p:cNvSpPr>
          <p:nvPr/>
        </p:nvSpPr>
        <p:spPr>
          <a:xfrm xmlns:a="http://schemas.openxmlformats.org/drawingml/2006/main">
            <a:off x="6953250" y="2371725"/>
            <a:ext cx="419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D6570"/>
                </a:solidFill>
                <a:latin typeface="Aptos"/>
                <a:ea typeface="Aptos"/>
                <a:cs typeface="Aptos"/>
              </a:defRPr>
            </a:pPr>
            <a:r>
              <a:rPr sz="1275" b="0">
                <a:solidFill>
                  <a:srgbClr val="5D6570"/>
                </a:solidFill>
                <a:latin typeface="Aptos"/>
                <a:ea typeface="Aptos"/>
                <a:cs typeface="Aptos"/>
              </a:rPr>
              <a:t>Juliaca, San Miguel y Caracoto; mayor concentración alrededor de las 07:00.</a:t>
            </a:r>
          </a:p>
        </p:txBody>
      </p:sp>
      <p:sp>
        <p:nvSpPr>
          <p:cNvPr id="13" name="">
            <a:extLst xmlns:a="http://schemas.openxmlformats.org/drawingml/2006/main">
              <a:ext uri="{FF2B5EF4-FFF2-40B4-BE49-F238E27FC236}">
                <a16:creationId xmlns:a16="http://schemas.microsoft.com/office/drawing/2014/main" id="{B1314B71-794E-4CEA-80B7-682CE7FD2547}"/>
              </a:ext>
            </a:extLst>
          </p:cNvPr>
          <p:cNvSpPr>
            <a:spLocks xmlns:a="http://schemas.openxmlformats.org/drawingml/2006/main" noGrp="1"/>
          </p:cNvSpPr>
          <p:nvPr/>
        </p:nvSpPr>
        <p:spPr>
          <a:xfrm xmlns:a="http://schemas.openxmlformats.org/drawingml/2006/main">
            <a:off x="571500" y="3733800"/>
            <a:ext cx="11010900" cy="0"/>
          </a:xfrm>
          <a:prstGeom xmlns:a="http://schemas.openxmlformats.org/drawingml/2006/main" prst="line">
            <a:avLst/>
          </a:prstGeom>
          <a:noFill xmlns:a="http://schemas.openxmlformats.org/drawingml/2006/main"/>
          <a:ln xmlns:a="http://schemas.openxmlformats.org/drawingml/2006/main" w="19050">
            <a:solidFill>
              <a:srgbClr val="DFE4EA"/>
            </a:solidFill>
            <a:prstDash val="solid"/>
          </a:ln>
        </p:spPr>
      </p:sp>
      <p:sp>
        <p:nvSpPr>
          <p:cNvPr id="14" name="">
            <a:extLst xmlns:a="http://schemas.openxmlformats.org/drawingml/2006/main">
              <a:ext uri="{FF2B5EF4-FFF2-40B4-BE49-F238E27FC236}">
                <a16:creationId xmlns:a16="http://schemas.microsoft.com/office/drawing/2014/main" id="{C794D675-8268-4B57-929A-09C518422742}"/>
              </a:ext>
            </a:extLst>
          </p:cNvPr>
          <p:cNvSpPr>
            <a:spLocks xmlns:a="http://schemas.openxmlformats.org/drawingml/2006/main" noGrp="1"/>
          </p:cNvSpPr>
          <p:nvPr/>
        </p:nvSpPr>
        <p:spPr>
          <a:xfrm xmlns:a="http://schemas.openxmlformats.org/drawingml/2006/main">
            <a:off x="571500" y="4000500"/>
            <a:ext cx="328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75CBA"/>
                </a:solidFill>
                <a:latin typeface="Aptos"/>
                <a:ea typeface="Aptos"/>
                <a:cs typeface="Aptos"/>
              </a:defRPr>
            </a:pPr>
            <a:r>
              <a:rPr sz="2700" b="1">
                <a:solidFill>
                  <a:srgbClr val="275CBA"/>
                </a:solidFill>
                <a:latin typeface="Aptos"/>
                <a:ea typeface="Aptos"/>
                <a:cs typeface="Aptos"/>
              </a:rPr>
              <a:t>62,3 %</a:t>
            </a:r>
          </a:p>
        </p:txBody>
      </p:sp>
      <p:sp>
        <p:nvSpPr>
          <p:cNvPr id="15" name="">
            <a:extLst xmlns:a="http://schemas.openxmlformats.org/drawingml/2006/main">
              <a:ext uri="{FF2B5EF4-FFF2-40B4-BE49-F238E27FC236}">
                <a16:creationId xmlns:a16="http://schemas.microsoft.com/office/drawing/2014/main" id="{889108AE-1FCB-4767-B3A6-4F81337AB86F}"/>
              </a:ext>
            </a:extLst>
          </p:cNvPr>
          <p:cNvSpPr>
            <a:spLocks xmlns:a="http://schemas.openxmlformats.org/drawingml/2006/main" noGrp="1"/>
          </p:cNvSpPr>
          <p:nvPr/>
        </p:nvSpPr>
        <p:spPr>
          <a:xfrm xmlns:a="http://schemas.openxmlformats.org/drawingml/2006/main">
            <a:off x="571500" y="4629150"/>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20252C"/>
                </a:solidFill>
                <a:latin typeface="Aptos"/>
                <a:ea typeface="Aptos"/>
                <a:cs typeface="Aptos"/>
              </a:defRPr>
            </a:pPr>
            <a:r>
              <a:rPr sz="1425" b="1">
                <a:solidFill>
                  <a:srgbClr val="20252C"/>
                </a:solidFill>
                <a:latin typeface="Aptos"/>
                <a:ea typeface="Aptos"/>
                <a:cs typeface="Aptos"/>
              </a:rPr>
              <a:t>uso del transporte público convencional</a:t>
            </a:r>
          </a:p>
        </p:txBody>
      </p:sp>
      <p:sp>
        <p:nvSpPr>
          <p:cNvPr id="16" name="">
            <a:extLst xmlns:a="http://schemas.openxmlformats.org/drawingml/2006/main">
              <a:ext uri="{FF2B5EF4-FFF2-40B4-BE49-F238E27FC236}">
                <a16:creationId xmlns:a16="http://schemas.microsoft.com/office/drawing/2014/main" id="{143186AF-699E-48D3-989F-455025D202E5}"/>
              </a:ext>
            </a:extLst>
          </p:cNvPr>
          <p:cNvSpPr>
            <a:spLocks xmlns:a="http://schemas.openxmlformats.org/drawingml/2006/main" noGrp="1"/>
          </p:cNvSpPr>
          <p:nvPr/>
        </p:nvSpPr>
        <p:spPr>
          <a:xfrm xmlns:a="http://schemas.openxmlformats.org/drawingml/2006/main">
            <a:off x="571500" y="5219700"/>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D6570"/>
                </a:solidFill>
                <a:latin typeface="Aptos"/>
                <a:ea typeface="Aptos"/>
                <a:cs typeface="Aptos"/>
              </a:defRPr>
            </a:pPr>
            <a:r>
              <a:rPr sz="1050" b="0">
                <a:solidFill>
                  <a:srgbClr val="5D6570"/>
                </a:solidFill>
                <a:latin typeface="Aptos"/>
                <a:ea typeface="Aptos"/>
                <a:cs typeface="Aptos"/>
              </a:rPr>
              <a:t>Municipalidad, diagnóstico PMUS 2026</a:t>
            </a:r>
          </a:p>
        </p:txBody>
      </p:sp>
      <p:sp>
        <p:nvSpPr>
          <p:cNvPr id="17" name="">
            <a:extLst xmlns:a="http://schemas.openxmlformats.org/drawingml/2006/main">
              <a:ext uri="{FF2B5EF4-FFF2-40B4-BE49-F238E27FC236}">
                <a16:creationId xmlns:a16="http://schemas.microsoft.com/office/drawing/2014/main" id="{6945F7C8-9D15-48D5-9573-936D5239D223}"/>
              </a:ext>
            </a:extLst>
          </p:cNvPr>
          <p:cNvSpPr>
            <a:spLocks xmlns:a="http://schemas.openxmlformats.org/drawingml/2006/main" noGrp="1"/>
          </p:cNvSpPr>
          <p:nvPr/>
        </p:nvSpPr>
        <p:spPr>
          <a:xfrm xmlns:a="http://schemas.openxmlformats.org/drawingml/2006/main">
            <a:off x="4000500" y="4095750"/>
            <a:ext cx="19050" cy="1524000"/>
          </a:xfrm>
          <a:prstGeom xmlns:a="http://schemas.openxmlformats.org/drawingml/2006/main" prst="rect">
            <a:avLst/>
          </a:prstGeom>
          <a:solidFill xmlns:a="http://schemas.openxmlformats.org/drawingml/2006/main">
            <a:srgbClr val="DFE4E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F4C0DA0-6592-4DD0-AD91-46BA16882180}"/>
              </a:ext>
            </a:extLst>
          </p:cNvPr>
          <p:cNvSpPr>
            <a:spLocks xmlns:a="http://schemas.openxmlformats.org/drawingml/2006/main" noGrp="1"/>
          </p:cNvSpPr>
          <p:nvPr/>
        </p:nvSpPr>
        <p:spPr>
          <a:xfrm xmlns:a="http://schemas.openxmlformats.org/drawingml/2006/main">
            <a:off x="4267200" y="4000500"/>
            <a:ext cx="328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C806A"/>
                </a:solidFill>
                <a:latin typeface="Aptos"/>
                <a:ea typeface="Aptos"/>
                <a:cs typeface="Aptos"/>
              </a:defRPr>
            </a:pPr>
            <a:r>
              <a:rPr sz="2700" b="1">
                <a:solidFill>
                  <a:srgbClr val="1C806A"/>
                </a:solidFill>
                <a:latin typeface="Aptos"/>
                <a:ea typeface="Aptos"/>
                <a:cs typeface="Aptos"/>
              </a:rPr>
              <a:t>40</a:t>
            </a:r>
          </a:p>
        </p:txBody>
      </p:sp>
      <p:sp>
        <p:nvSpPr>
          <p:cNvPr id="19" name="">
            <a:extLst xmlns:a="http://schemas.openxmlformats.org/drawingml/2006/main">
              <a:ext uri="{FF2B5EF4-FFF2-40B4-BE49-F238E27FC236}">
                <a16:creationId xmlns:a16="http://schemas.microsoft.com/office/drawing/2014/main" id="{2C41408A-4C5B-4EAB-B007-AC76905A4BAA}"/>
              </a:ext>
            </a:extLst>
          </p:cNvPr>
          <p:cNvSpPr>
            <a:spLocks xmlns:a="http://schemas.openxmlformats.org/drawingml/2006/main" noGrp="1"/>
          </p:cNvSpPr>
          <p:nvPr/>
        </p:nvSpPr>
        <p:spPr>
          <a:xfrm xmlns:a="http://schemas.openxmlformats.org/drawingml/2006/main">
            <a:off x="4267200" y="4629150"/>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20252C"/>
                </a:solidFill>
                <a:latin typeface="Aptos"/>
                <a:ea typeface="Aptos"/>
                <a:cs typeface="Aptos"/>
              </a:defRPr>
            </a:pPr>
            <a:r>
              <a:rPr sz="1425" b="1">
                <a:solidFill>
                  <a:srgbClr val="20252C"/>
                </a:solidFill>
                <a:latin typeface="Aptos"/>
                <a:ea typeface="Aptos"/>
                <a:cs typeface="Aptos"/>
              </a:rPr>
              <a:t>líneas urbanas registradas en el PDU</a:t>
            </a:r>
          </a:p>
        </p:txBody>
      </p:sp>
      <p:sp>
        <p:nvSpPr>
          <p:cNvPr id="20" name="">
            <a:extLst xmlns:a="http://schemas.openxmlformats.org/drawingml/2006/main">
              <a:ext uri="{FF2B5EF4-FFF2-40B4-BE49-F238E27FC236}">
                <a16:creationId xmlns:a16="http://schemas.microsoft.com/office/drawing/2014/main" id="{2C00BE18-6A10-4862-9F85-C3A7B6AE89DD}"/>
              </a:ext>
            </a:extLst>
          </p:cNvPr>
          <p:cNvSpPr>
            <a:spLocks xmlns:a="http://schemas.openxmlformats.org/drawingml/2006/main" noGrp="1"/>
          </p:cNvSpPr>
          <p:nvPr/>
        </p:nvSpPr>
        <p:spPr>
          <a:xfrm xmlns:a="http://schemas.openxmlformats.org/drawingml/2006/main">
            <a:off x="4267200" y="5219700"/>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D6570"/>
                </a:solidFill>
                <a:latin typeface="Aptos"/>
                <a:ea typeface="Aptos"/>
                <a:cs typeface="Aptos"/>
              </a:defRPr>
            </a:pPr>
            <a:r>
              <a:rPr sz="1050" b="0">
                <a:solidFill>
                  <a:srgbClr val="5D6570"/>
                </a:solidFill>
                <a:latin typeface="Aptos"/>
                <a:ea typeface="Aptos"/>
                <a:cs typeface="Aptos"/>
              </a:rPr>
              <a:t>PDU 2026–2035, tabla 95</a:t>
            </a:r>
          </a:p>
        </p:txBody>
      </p:sp>
      <p:sp>
        <p:nvSpPr>
          <p:cNvPr id="21" name="">
            <a:extLst xmlns:a="http://schemas.openxmlformats.org/drawingml/2006/main">
              <a:ext uri="{FF2B5EF4-FFF2-40B4-BE49-F238E27FC236}">
                <a16:creationId xmlns:a16="http://schemas.microsoft.com/office/drawing/2014/main" id="{9BEA0727-B71D-4BEF-AA6C-CDD0B817B3A5}"/>
              </a:ext>
            </a:extLst>
          </p:cNvPr>
          <p:cNvSpPr>
            <a:spLocks xmlns:a="http://schemas.openxmlformats.org/drawingml/2006/main" noGrp="1"/>
          </p:cNvSpPr>
          <p:nvPr/>
        </p:nvSpPr>
        <p:spPr>
          <a:xfrm xmlns:a="http://schemas.openxmlformats.org/drawingml/2006/main">
            <a:off x="7696200" y="4095750"/>
            <a:ext cx="19050" cy="1524000"/>
          </a:xfrm>
          <a:prstGeom xmlns:a="http://schemas.openxmlformats.org/drawingml/2006/main" prst="rect">
            <a:avLst/>
          </a:prstGeom>
          <a:solidFill xmlns:a="http://schemas.openxmlformats.org/drawingml/2006/main">
            <a:srgbClr val="DFE4E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AC99421-ACBD-4BD1-B74F-9D6A4D0DEEFC}"/>
              </a:ext>
            </a:extLst>
          </p:cNvPr>
          <p:cNvSpPr>
            <a:spLocks xmlns:a="http://schemas.openxmlformats.org/drawingml/2006/main" noGrp="1"/>
          </p:cNvSpPr>
          <p:nvPr/>
        </p:nvSpPr>
        <p:spPr>
          <a:xfrm xmlns:a="http://schemas.openxmlformats.org/drawingml/2006/main">
            <a:off x="7962900" y="4000500"/>
            <a:ext cx="328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75CBA"/>
                </a:solidFill>
                <a:latin typeface="Aptos"/>
                <a:ea typeface="Aptos"/>
                <a:cs typeface="Aptos"/>
              </a:defRPr>
            </a:pPr>
            <a:r>
              <a:rPr sz="2700" b="1">
                <a:solidFill>
                  <a:srgbClr val="275CBA"/>
                </a:solidFill>
                <a:latin typeface="Aptos"/>
                <a:ea typeface="Aptos"/>
                <a:cs typeface="Aptos"/>
              </a:rPr>
              <a:t>14</a:t>
            </a:r>
          </a:p>
        </p:txBody>
      </p:sp>
      <p:sp>
        <p:nvSpPr>
          <p:cNvPr id="23" name="">
            <a:extLst xmlns:a="http://schemas.openxmlformats.org/drawingml/2006/main">
              <a:ext uri="{FF2B5EF4-FFF2-40B4-BE49-F238E27FC236}">
                <a16:creationId xmlns:a16="http://schemas.microsoft.com/office/drawing/2014/main" id="{6E7137D9-76C1-401C-8DF2-ACCC96421E31}"/>
              </a:ext>
            </a:extLst>
          </p:cNvPr>
          <p:cNvSpPr>
            <a:spLocks xmlns:a="http://schemas.openxmlformats.org/drawingml/2006/main" noGrp="1"/>
          </p:cNvSpPr>
          <p:nvPr/>
        </p:nvSpPr>
        <p:spPr>
          <a:xfrm xmlns:a="http://schemas.openxmlformats.org/drawingml/2006/main">
            <a:off x="7962900" y="4629150"/>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20252C"/>
                </a:solidFill>
                <a:latin typeface="Aptos"/>
                <a:ea typeface="Aptos"/>
                <a:cs typeface="Aptos"/>
              </a:defRPr>
            </a:pPr>
            <a:r>
              <a:rPr sz="1425" b="1">
                <a:solidFill>
                  <a:srgbClr val="20252C"/>
                </a:solidFill>
                <a:latin typeface="Aptos"/>
                <a:ea typeface="Aptos"/>
                <a:cs typeface="Aptos"/>
              </a:rPr>
              <a:t>corredores medidos por el PMUS</a:t>
            </a:r>
          </a:p>
        </p:txBody>
      </p:sp>
      <p:sp>
        <p:nvSpPr>
          <p:cNvPr id="24" name="">
            <a:extLst xmlns:a="http://schemas.openxmlformats.org/drawingml/2006/main">
              <a:ext uri="{FF2B5EF4-FFF2-40B4-BE49-F238E27FC236}">
                <a16:creationId xmlns:a16="http://schemas.microsoft.com/office/drawing/2014/main" id="{B3F051F9-A31B-4535-ADE3-F30E6A8F479F}"/>
              </a:ext>
            </a:extLst>
          </p:cNvPr>
          <p:cNvSpPr>
            <a:spLocks xmlns:a="http://schemas.openxmlformats.org/drawingml/2006/main" noGrp="1"/>
          </p:cNvSpPr>
          <p:nvPr/>
        </p:nvSpPr>
        <p:spPr>
          <a:xfrm xmlns:a="http://schemas.openxmlformats.org/drawingml/2006/main">
            <a:off x="7962900" y="5219700"/>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D6570"/>
                </a:solidFill>
                <a:latin typeface="Aptos"/>
                <a:ea typeface="Aptos"/>
                <a:cs typeface="Aptos"/>
              </a:defRPr>
            </a:pPr>
            <a:r>
              <a:rPr sz="1050" b="0">
                <a:solidFill>
                  <a:srgbClr val="5D6570"/>
                </a:solidFill>
                <a:latin typeface="Aptos"/>
                <a:ea typeface="Aptos"/>
                <a:cs typeface="Aptos"/>
              </a:rPr>
              <a:t>MTC, junio de 2026</a:t>
            </a:r>
          </a:p>
        </p:txBody>
      </p:sp>
      <p:sp>
        <p:nvSpPr>
          <p:cNvPr id="25" name="">
            <a:extLst xmlns:a="http://schemas.openxmlformats.org/drawingml/2006/main">
              <a:ext uri="{FF2B5EF4-FFF2-40B4-BE49-F238E27FC236}">
                <a16:creationId xmlns:a16="http://schemas.microsoft.com/office/drawing/2014/main" id="{27D5D370-038F-4BFB-AC16-643B660E5F57}"/>
              </a:ext>
            </a:extLst>
          </p:cNvPr>
          <p:cNvSpPr>
            <a:spLocks xmlns:a="http://schemas.openxmlformats.org/drawingml/2006/main" noGrp="1"/>
          </p:cNvSpPr>
          <p:nvPr/>
        </p:nvSpPr>
        <p:spPr>
          <a:xfrm xmlns:a="http://schemas.openxmlformats.org/drawingml/2006/main">
            <a:off x="571500" y="60007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AF343B"/>
                </a:solidFill>
                <a:latin typeface="Aptos"/>
                <a:ea typeface="Aptos"/>
                <a:cs typeface="Aptos"/>
              </a:defRPr>
            </a:pPr>
            <a:r>
              <a:rPr sz="1275" b="1">
                <a:solidFill>
                  <a:srgbClr val="AF343B"/>
                </a:solidFill>
                <a:latin typeface="Aptos"/>
                <a:ea typeface="Aptos"/>
                <a:cs typeface="Aptos"/>
              </a:rPr>
              <a:t>Los indicadores del PMUS son metropolitanos. La población por manzana cubre otro ámbito y otro año.</a:t>
            </a:r>
          </a:p>
        </p:txBody>
      </p:sp>
    </p:spTree>
    <p:extLst>
      <p:ext uri="{BB962C8B-B14F-4D97-AF65-F5344CB8AC3E}">
        <p14:creationId xmlns:p14="http://schemas.microsoft.com/office/powerpoint/2010/main" val="1309310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86C8C84-3EF3-40B2-8AA6-DCC1BB164E23}"/>
              </a:ext>
            </a:extLst>
          </p:cNvPr>
          <p:cNvSpPr>
            <a:spLocks xmlns:a="http://schemas.openxmlformats.org/drawingml/2006/main" noGrp="1"/>
          </p:cNvSpPr>
          <p:nvPr/>
        </p:nvSpPr>
        <p:spPr>
          <a:xfrm xmlns:a="http://schemas.openxmlformats.org/drawingml/2006/main">
            <a:off x="571500" y="3238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Pregunta de investigación y objetivos</a:t>
            </a:r>
          </a:p>
        </p:txBody>
      </p:sp>
      <p:sp>
        <p:nvSpPr>
          <p:cNvPr id="2" name="">
            <a:extLst xmlns:a="http://schemas.openxmlformats.org/drawingml/2006/main">
              <a:ext uri="{FF2B5EF4-FFF2-40B4-BE49-F238E27FC236}">
                <a16:creationId xmlns:a16="http://schemas.microsoft.com/office/drawing/2014/main" id="{D5132A96-8D2A-44E7-865D-E55B99AD80AF}"/>
              </a:ext>
            </a:extLst>
          </p:cNvPr>
          <p:cNvSpPr>
            <a:spLocks xmlns:a="http://schemas.openxmlformats.org/drawingml/2006/main" noGrp="1"/>
          </p:cNvSpPr>
          <p:nvPr/>
        </p:nvSpPr>
        <p:spPr>
          <a:xfrm xmlns:a="http://schemas.openxmlformats.org/drawingml/2006/main">
            <a:off x="11125200" y="4476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03</a:t>
            </a:r>
          </a:p>
        </p:txBody>
      </p:sp>
      <p:sp>
        <p:nvSpPr>
          <p:cNvPr id="3" name="">
            <a:extLst xmlns:a="http://schemas.openxmlformats.org/drawingml/2006/main">
              <a:ext uri="{FF2B5EF4-FFF2-40B4-BE49-F238E27FC236}">
                <a16:creationId xmlns:a16="http://schemas.microsoft.com/office/drawing/2014/main" id="{1689F2A9-6AF0-439D-AC13-A2FFDFDA1CEA}"/>
              </a:ext>
            </a:extLst>
          </p:cNvPr>
          <p:cNvSpPr>
            <a:spLocks xmlns:a="http://schemas.openxmlformats.org/drawingml/2006/main" noGrp="1"/>
          </p:cNvSpPr>
          <p:nvPr/>
        </p:nvSpPr>
        <p:spPr>
          <a:xfrm xmlns:a="http://schemas.openxmlformats.org/drawingml/2006/main">
            <a:off x="571500" y="981075"/>
            <a:ext cx="11029950" cy="0"/>
          </a:xfrm>
          <a:prstGeom xmlns:a="http://schemas.openxmlformats.org/drawingml/2006/main" prst="line">
            <a:avLst/>
          </a:prstGeom>
          <a:noFill xmlns:a="http://schemas.openxmlformats.org/drawingml/2006/main"/>
          <a:ln xmlns:a="http://schemas.openxmlformats.org/drawingml/2006/main" w="19050">
            <a:solidFill>
              <a:srgbClr val="DFE4EA"/>
            </a:solidFill>
            <a:prstDash val="solid"/>
          </a:ln>
        </p:spPr>
      </p:sp>
      <p:sp>
        <p:nvSpPr>
          <p:cNvPr id="4" name="">
            <a:extLst xmlns:a="http://schemas.openxmlformats.org/drawingml/2006/main">
              <a:ext uri="{FF2B5EF4-FFF2-40B4-BE49-F238E27FC236}">
                <a16:creationId xmlns:a16="http://schemas.microsoft.com/office/drawing/2014/main" id="{4C1D1457-0E02-4D0C-BD80-7ACDAE5C7812}"/>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7A838F"/>
                </a:solidFill>
                <a:latin typeface="Aptos"/>
                <a:ea typeface="Aptos"/>
                <a:cs typeface="Aptos"/>
              </a:defRPr>
            </a:pPr>
            <a:r>
              <a:rPr sz="825" b="0">
                <a:solidFill>
                  <a:srgbClr val="7A838F"/>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312B83C2-4104-426E-BA00-8902D1FB7F45}"/>
              </a:ext>
            </a:extLst>
          </p:cNvPr>
          <p:cNvSpPr>
            <a:spLocks xmlns:a="http://schemas.openxmlformats.org/drawingml/2006/main" noGrp="1"/>
          </p:cNvSpPr>
          <p:nvPr/>
        </p:nvSpPr>
        <p:spPr>
          <a:xfrm xmlns:a="http://schemas.openxmlformats.org/drawingml/2006/main">
            <a:off x="9105900" y="6515100"/>
            <a:ext cx="2457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a:solidFill>
                  <a:srgbClr val="7A838F"/>
                </a:solidFill>
                <a:latin typeface="Aptos"/>
                <a:ea typeface="Aptos"/>
                <a:cs typeface="Aptos"/>
              </a:defRPr>
            </a:pPr>
            <a:r>
              <a:rPr sz="825" b="0">
                <a:solidFill>
                  <a:srgbClr val="7A838F"/>
                </a:solidFill>
                <a:latin typeface="Aptos"/>
                <a:ea typeface="Aptos"/>
                <a:cs typeface="Aptos"/>
              </a:rPr>
              <a:t>FUENTES Y MÉTODO EN NOTAS</a:t>
            </a:r>
          </a:p>
        </p:txBody>
      </p:sp>
      <p:sp>
        <p:nvSpPr>
          <p:cNvPr id="6" name="">
            <a:extLst xmlns:a="http://schemas.openxmlformats.org/drawingml/2006/main">
              <a:ext uri="{FF2B5EF4-FFF2-40B4-BE49-F238E27FC236}">
                <a16:creationId xmlns:a16="http://schemas.microsoft.com/office/drawing/2014/main" id="{0C6AC5D2-CE4D-4ACA-B291-43D745D3B4CC}"/>
              </a:ext>
            </a:extLst>
          </p:cNvPr>
          <p:cNvSpPr>
            <a:spLocks xmlns:a="http://schemas.openxmlformats.org/drawingml/2006/main" noGrp="1"/>
          </p:cNvSpPr>
          <p:nvPr/>
        </p:nvSpPr>
        <p:spPr>
          <a:xfrm xmlns:a="http://schemas.openxmlformats.org/drawingml/2006/main">
            <a:off x="571500" y="1257300"/>
            <a:ext cx="11010900" cy="1104900"/>
          </a:xfrm>
          <a:prstGeom xmlns:a="http://schemas.openxmlformats.org/drawingml/2006/main" prst="roundRect">
            <a:avLst>
              <a:gd name="adj" fmla="val 11207"/>
            </a:avLst>
          </a:prstGeom>
          <a:solidFill xmlns:a="http://schemas.openxmlformats.org/drawingml/2006/main">
            <a:srgbClr val="EDF3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F4C34D5-ADAA-4BAA-988E-39FA18487C11}"/>
              </a:ext>
            </a:extLst>
          </p:cNvPr>
          <p:cNvSpPr>
            <a:spLocks xmlns:a="http://schemas.openxmlformats.org/drawingml/2006/main" noGrp="1"/>
          </p:cNvSpPr>
          <p:nvPr/>
        </p:nvSpPr>
        <p:spPr>
          <a:xfrm xmlns:a="http://schemas.openxmlformats.org/drawingml/2006/main">
            <a:off x="762000" y="14287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275CBA"/>
                </a:solidFill>
                <a:latin typeface="Aptos"/>
                <a:ea typeface="Aptos"/>
                <a:cs typeface="Aptos"/>
              </a:defRPr>
            </a:pPr>
            <a:r>
              <a:rPr sz="975" b="1">
                <a:solidFill>
                  <a:srgbClr val="275CBA"/>
                </a:solidFill>
                <a:latin typeface="Aptos"/>
                <a:ea typeface="Aptos"/>
                <a:cs typeface="Aptos"/>
              </a:rPr>
              <a:t>PREGUNTA CENTRAL</a:t>
            </a:r>
          </a:p>
        </p:txBody>
      </p:sp>
      <p:sp>
        <p:nvSpPr>
          <p:cNvPr id="8" name="">
            <a:extLst xmlns:a="http://schemas.openxmlformats.org/drawingml/2006/main">
              <a:ext uri="{FF2B5EF4-FFF2-40B4-BE49-F238E27FC236}">
                <a16:creationId xmlns:a16="http://schemas.microsoft.com/office/drawing/2014/main" id="{EAF2AE1D-C104-43D8-AB52-5B5BB73CE2C8}"/>
              </a:ext>
            </a:extLst>
          </p:cNvPr>
          <p:cNvSpPr>
            <a:spLocks xmlns:a="http://schemas.openxmlformats.org/drawingml/2006/main" noGrp="1"/>
          </p:cNvSpPr>
          <p:nvPr/>
        </p:nvSpPr>
        <p:spPr>
          <a:xfrm xmlns:a="http://schemas.openxmlformats.org/drawingml/2006/main">
            <a:off x="762000" y="1724025"/>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538"/>
          </a:bodyPr>
          <a:lstStyle xmlns:a="http://schemas.openxmlformats.org/drawingml/2006/main"/>
          <a:p xmlns:a="http://schemas.openxmlformats.org/drawingml/2006/main">
            <a:pPr algn="l">
              <a:defRPr sz="1950" b="1">
                <a:solidFill>
                  <a:srgbClr val="20252C"/>
                </a:solidFill>
                <a:latin typeface="Aptos"/>
                <a:ea typeface="Aptos"/>
                <a:cs typeface="Aptos"/>
              </a:defRPr>
            </a:pPr>
            <a:r>
              <a:rPr sz="1950" b="1">
                <a:solidFill>
                  <a:srgbClr val="20252C"/>
                </a:solidFill>
                <a:latin typeface="Aptos"/>
                <a:ea typeface="Aptos"/>
                <a:cs typeface="Aptos"/>
              </a:rPr>
              <a:t>¿Cómo mejorar la planificación de rutas y la orientación al pasajero mediante datos territoriales y operativos verificables?</a:t>
            </a:r>
          </a:p>
        </p:txBody>
      </p:sp>
      <p:sp>
        <p:nvSpPr>
          <p:cNvPr id="9" name="">
            <a:extLst xmlns:a="http://schemas.openxmlformats.org/drawingml/2006/main">
              <a:ext uri="{FF2B5EF4-FFF2-40B4-BE49-F238E27FC236}">
                <a16:creationId xmlns:a16="http://schemas.microsoft.com/office/drawing/2014/main" id="{F6970F24-D13D-4C1B-8398-C8BE8DCCD095}"/>
              </a:ext>
            </a:extLst>
          </p:cNvPr>
          <p:cNvSpPr>
            <a:spLocks xmlns:a="http://schemas.openxmlformats.org/drawingml/2006/main" noGrp="1"/>
          </p:cNvSpPr>
          <p:nvPr/>
        </p:nvSpPr>
        <p:spPr>
          <a:xfrm xmlns:a="http://schemas.openxmlformats.org/drawingml/2006/main">
            <a:off x="571500" y="266700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275CBA"/>
                </a:solidFill>
                <a:latin typeface="Aptos"/>
                <a:ea typeface="Aptos"/>
                <a:cs typeface="Aptos"/>
              </a:defRPr>
            </a:pPr>
            <a:r>
              <a:rPr sz="975" b="1">
                <a:solidFill>
                  <a:srgbClr val="275CBA"/>
                </a:solidFill>
                <a:latin typeface="Aptos"/>
                <a:ea typeface="Aptos"/>
                <a:cs typeface="Aptos"/>
              </a:rPr>
              <a:t>OBJETIVO GENERAL</a:t>
            </a:r>
          </a:p>
        </p:txBody>
      </p:sp>
      <p:sp>
        <p:nvSpPr>
          <p:cNvPr id="10" name="">
            <a:extLst xmlns:a="http://schemas.openxmlformats.org/drawingml/2006/main">
              <a:ext uri="{FF2B5EF4-FFF2-40B4-BE49-F238E27FC236}">
                <a16:creationId xmlns:a16="http://schemas.microsoft.com/office/drawing/2014/main" id="{E2772B75-6C52-4B8B-B494-6071B605DDAD}"/>
              </a:ext>
            </a:extLst>
          </p:cNvPr>
          <p:cNvSpPr>
            <a:spLocks xmlns:a="http://schemas.openxmlformats.org/drawingml/2006/main" noGrp="1"/>
          </p:cNvSpPr>
          <p:nvPr/>
        </p:nvSpPr>
        <p:spPr>
          <a:xfrm xmlns:a="http://schemas.openxmlformats.org/drawingml/2006/main">
            <a:off x="571500" y="2962275"/>
            <a:ext cx="10953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20252C"/>
                </a:solidFill>
                <a:latin typeface="Aptos"/>
                <a:ea typeface="Aptos"/>
                <a:cs typeface="Aptos"/>
              </a:defRPr>
            </a:pPr>
            <a:r>
              <a:rPr sz="1725" b="1">
                <a:solidFill>
                  <a:srgbClr val="20252C"/>
                </a:solidFill>
                <a:latin typeface="Aptos"/>
                <a:ea typeface="Aptos"/>
                <a:cs typeface="Aptos"/>
              </a:rPr>
              <a:t>Desarrollar y validar Puriy como apoyo para comparar rutas, frecuencias y accesibilidad, y comunicar itinerarios comprensibles a los pasajeros.</a:t>
            </a:r>
          </a:p>
        </p:txBody>
      </p:sp>
      <p:sp>
        <p:nvSpPr>
          <p:cNvPr id="11" name="">
            <a:extLst xmlns:a="http://schemas.openxmlformats.org/drawingml/2006/main">
              <a:ext uri="{FF2B5EF4-FFF2-40B4-BE49-F238E27FC236}">
                <a16:creationId xmlns:a16="http://schemas.microsoft.com/office/drawing/2014/main" id="{D76682FD-63AE-4C04-8E14-630387C63C64}"/>
              </a:ext>
            </a:extLst>
          </p:cNvPr>
          <p:cNvSpPr>
            <a:spLocks xmlns:a="http://schemas.openxmlformats.org/drawingml/2006/main" noGrp="1"/>
          </p:cNvSpPr>
          <p:nvPr/>
        </p:nvSpPr>
        <p:spPr>
          <a:xfrm xmlns:a="http://schemas.openxmlformats.org/drawingml/2006/main">
            <a:off x="571500" y="3867150"/>
            <a:ext cx="11010900" cy="0"/>
          </a:xfrm>
          <a:prstGeom xmlns:a="http://schemas.openxmlformats.org/drawingml/2006/main" prst="line">
            <a:avLst/>
          </a:prstGeom>
          <a:noFill xmlns:a="http://schemas.openxmlformats.org/drawingml/2006/main"/>
          <a:ln xmlns:a="http://schemas.openxmlformats.org/drawingml/2006/main" w="19050">
            <a:solidFill>
              <a:srgbClr val="DFE4EA"/>
            </a:solidFill>
            <a:prstDash val="solid"/>
          </a:ln>
        </p:spPr>
      </p:sp>
      <p:sp>
        <p:nvSpPr>
          <p:cNvPr id="12" name="">
            <a:extLst xmlns:a="http://schemas.openxmlformats.org/drawingml/2006/main">
              <a:ext uri="{FF2B5EF4-FFF2-40B4-BE49-F238E27FC236}">
                <a16:creationId xmlns:a16="http://schemas.microsoft.com/office/drawing/2014/main" id="{9A8741F4-F2A4-4901-AB3B-38F450AD758E}"/>
              </a:ext>
            </a:extLst>
          </p:cNvPr>
          <p:cNvSpPr>
            <a:spLocks xmlns:a="http://schemas.openxmlformats.org/drawingml/2006/main" noGrp="1"/>
          </p:cNvSpPr>
          <p:nvPr/>
        </p:nvSpPr>
        <p:spPr>
          <a:xfrm xmlns:a="http://schemas.openxmlformats.org/drawingml/2006/main">
            <a:off x="571500" y="40957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275CBA"/>
                </a:solidFill>
                <a:latin typeface="Aptos"/>
                <a:ea typeface="Aptos"/>
                <a:cs typeface="Aptos"/>
              </a:defRPr>
            </a:pPr>
            <a:r>
              <a:rPr sz="975" b="1">
                <a:solidFill>
                  <a:srgbClr val="275CBA"/>
                </a:solidFill>
                <a:latin typeface="Aptos"/>
                <a:ea typeface="Aptos"/>
                <a:cs typeface="Aptos"/>
              </a:rPr>
              <a:t>PROBLEMAS ESPECÍFICOS</a:t>
            </a:r>
          </a:p>
        </p:txBody>
      </p:sp>
      <p:sp>
        <p:nvSpPr>
          <p:cNvPr id="13" name="">
            <a:extLst xmlns:a="http://schemas.openxmlformats.org/drawingml/2006/main">
              <a:ext uri="{FF2B5EF4-FFF2-40B4-BE49-F238E27FC236}">
                <a16:creationId xmlns:a16="http://schemas.microsoft.com/office/drawing/2014/main" id="{A3CF9CD9-88F7-4BE7-96A2-58133C14611E}"/>
              </a:ext>
            </a:extLst>
          </p:cNvPr>
          <p:cNvSpPr>
            <a:spLocks xmlns:a="http://schemas.openxmlformats.org/drawingml/2006/main" noGrp="1"/>
          </p:cNvSpPr>
          <p:nvPr/>
        </p:nvSpPr>
        <p:spPr>
          <a:xfrm xmlns:a="http://schemas.openxmlformats.org/drawingml/2006/main">
            <a:off x="571500" y="45148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275CBA"/>
                </a:solidFill>
                <a:latin typeface="Aptos"/>
                <a:ea typeface="Aptos"/>
                <a:cs typeface="Aptos"/>
              </a:defRPr>
            </a:pPr>
            <a:r>
              <a:rPr sz="1275" b="1">
                <a:solidFill>
                  <a:srgbClr val="275CBA"/>
                </a:solidFill>
                <a:latin typeface="Aptos"/>
                <a:ea typeface="Aptos"/>
                <a:cs typeface="Aptos"/>
              </a:rPr>
              <a:t>01</a:t>
            </a:r>
          </a:p>
        </p:txBody>
      </p:sp>
      <p:sp>
        <p:nvSpPr>
          <p:cNvPr id="14" name="">
            <a:extLst xmlns:a="http://schemas.openxmlformats.org/drawingml/2006/main">
              <a:ext uri="{FF2B5EF4-FFF2-40B4-BE49-F238E27FC236}">
                <a16:creationId xmlns:a16="http://schemas.microsoft.com/office/drawing/2014/main" id="{49F00C2C-E485-4844-A464-993687E75D1D}"/>
              </a:ext>
            </a:extLst>
          </p:cNvPr>
          <p:cNvSpPr>
            <a:spLocks xmlns:a="http://schemas.openxmlformats.org/drawingml/2006/main" noGrp="1"/>
          </p:cNvSpPr>
          <p:nvPr/>
        </p:nvSpPr>
        <p:spPr>
          <a:xfrm xmlns:a="http://schemas.openxmlformats.org/drawingml/2006/main">
            <a:off x="1028700" y="4514850"/>
            <a:ext cx="2038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0252C"/>
                </a:solidFill>
                <a:latin typeface="Aptos"/>
                <a:ea typeface="Aptos"/>
                <a:cs typeface="Aptos"/>
              </a:defRPr>
            </a:pPr>
            <a:r>
              <a:rPr sz="1425" b="1">
                <a:solidFill>
                  <a:srgbClr val="20252C"/>
                </a:solidFill>
                <a:latin typeface="Aptos"/>
                <a:ea typeface="Aptos"/>
                <a:cs typeface="Aptos"/>
              </a:rPr>
              <a:t>Datos separados</a:t>
            </a:r>
          </a:p>
        </p:txBody>
      </p:sp>
      <p:sp>
        <p:nvSpPr>
          <p:cNvPr id="15" name="">
            <a:extLst xmlns:a="http://schemas.openxmlformats.org/drawingml/2006/main">
              <a:ext uri="{FF2B5EF4-FFF2-40B4-BE49-F238E27FC236}">
                <a16:creationId xmlns:a16="http://schemas.microsoft.com/office/drawing/2014/main" id="{A0CE7238-E53E-4B33-A808-3E090E2CDAD6}"/>
              </a:ext>
            </a:extLst>
          </p:cNvPr>
          <p:cNvSpPr>
            <a:spLocks xmlns:a="http://schemas.openxmlformats.org/drawingml/2006/main" noGrp="1"/>
          </p:cNvSpPr>
          <p:nvPr/>
        </p:nvSpPr>
        <p:spPr>
          <a:xfrm xmlns:a="http://schemas.openxmlformats.org/drawingml/2006/main">
            <a:off x="1028700" y="4781550"/>
            <a:ext cx="4648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D6570"/>
                </a:solidFill>
                <a:latin typeface="Aptos"/>
                <a:ea typeface="Aptos"/>
                <a:cs typeface="Aptos"/>
              </a:defRPr>
            </a:pPr>
            <a:r>
              <a:rPr sz="1200" b="0">
                <a:solidFill>
                  <a:srgbClr val="5D6570"/>
                </a:solidFill>
                <a:latin typeface="Aptos"/>
                <a:ea typeface="Aptos"/>
                <a:cs typeface="Aptos"/>
              </a:rPr>
              <a:t>Unificar censo, rutas, flota y destinos con fuente, fecha y ámbito.</a:t>
            </a:r>
          </a:p>
        </p:txBody>
      </p:sp>
      <p:sp>
        <p:nvSpPr>
          <p:cNvPr id="16" name="">
            <a:extLst xmlns:a="http://schemas.openxmlformats.org/drawingml/2006/main">
              <a:ext uri="{FF2B5EF4-FFF2-40B4-BE49-F238E27FC236}">
                <a16:creationId xmlns:a16="http://schemas.microsoft.com/office/drawing/2014/main" id="{7A82F61A-3343-4501-BE78-C5B0A2B018A8}"/>
              </a:ext>
            </a:extLst>
          </p:cNvPr>
          <p:cNvSpPr>
            <a:spLocks xmlns:a="http://schemas.openxmlformats.org/drawingml/2006/main" noGrp="1"/>
          </p:cNvSpPr>
          <p:nvPr/>
        </p:nvSpPr>
        <p:spPr>
          <a:xfrm xmlns:a="http://schemas.openxmlformats.org/drawingml/2006/main">
            <a:off x="6191250" y="45148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275CBA"/>
                </a:solidFill>
                <a:latin typeface="Aptos"/>
                <a:ea typeface="Aptos"/>
                <a:cs typeface="Aptos"/>
              </a:defRPr>
            </a:pPr>
            <a:r>
              <a:rPr sz="1275" b="1">
                <a:solidFill>
                  <a:srgbClr val="275CBA"/>
                </a:solidFill>
                <a:latin typeface="Aptos"/>
                <a:ea typeface="Aptos"/>
                <a:cs typeface="Aptos"/>
              </a:rPr>
              <a:t>02</a:t>
            </a:r>
          </a:p>
        </p:txBody>
      </p:sp>
      <p:sp>
        <p:nvSpPr>
          <p:cNvPr id="17" name="">
            <a:extLst xmlns:a="http://schemas.openxmlformats.org/drawingml/2006/main">
              <a:ext uri="{FF2B5EF4-FFF2-40B4-BE49-F238E27FC236}">
                <a16:creationId xmlns:a16="http://schemas.microsoft.com/office/drawing/2014/main" id="{D9986636-565C-4DAB-80C5-D7EE1FE85F19}"/>
              </a:ext>
            </a:extLst>
          </p:cNvPr>
          <p:cNvSpPr>
            <a:spLocks xmlns:a="http://schemas.openxmlformats.org/drawingml/2006/main" noGrp="1"/>
          </p:cNvSpPr>
          <p:nvPr/>
        </p:nvSpPr>
        <p:spPr>
          <a:xfrm xmlns:a="http://schemas.openxmlformats.org/drawingml/2006/main">
            <a:off x="6648450" y="4514850"/>
            <a:ext cx="2038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0252C"/>
                </a:solidFill>
                <a:latin typeface="Aptos"/>
                <a:ea typeface="Aptos"/>
                <a:cs typeface="Aptos"/>
              </a:defRPr>
            </a:pPr>
            <a:r>
              <a:rPr sz="1425" b="1">
                <a:solidFill>
                  <a:srgbClr val="20252C"/>
                </a:solidFill>
                <a:latin typeface="Aptos"/>
                <a:ea typeface="Aptos"/>
                <a:cs typeface="Aptos"/>
              </a:rPr>
              <a:t>Cobertura y seguridad</a:t>
            </a:r>
          </a:p>
        </p:txBody>
      </p:sp>
      <p:sp>
        <p:nvSpPr>
          <p:cNvPr id="18" name="">
            <a:extLst xmlns:a="http://schemas.openxmlformats.org/drawingml/2006/main">
              <a:ext uri="{FF2B5EF4-FFF2-40B4-BE49-F238E27FC236}">
                <a16:creationId xmlns:a16="http://schemas.microsoft.com/office/drawing/2014/main" id="{05C65B99-DFAE-44D1-92CC-90DA7AE051B4}"/>
              </a:ext>
            </a:extLst>
          </p:cNvPr>
          <p:cNvSpPr>
            <a:spLocks xmlns:a="http://schemas.openxmlformats.org/drawingml/2006/main" noGrp="1"/>
          </p:cNvSpPr>
          <p:nvPr/>
        </p:nvSpPr>
        <p:spPr>
          <a:xfrm xmlns:a="http://schemas.openxmlformats.org/drawingml/2006/main">
            <a:off x="6648450" y="4781550"/>
            <a:ext cx="4648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D6570"/>
                </a:solidFill>
                <a:latin typeface="Aptos"/>
                <a:ea typeface="Aptos"/>
                <a:cs typeface="Aptos"/>
              </a:defRPr>
            </a:pPr>
            <a:r>
              <a:rPr sz="1200" b="0">
                <a:solidFill>
                  <a:srgbClr val="5D6570"/>
                </a:solidFill>
                <a:latin typeface="Aptos"/>
                <a:ea typeface="Aptos"/>
                <a:cs typeface="Aptos"/>
              </a:rPr>
              <a:t>Medir quién llega a un abordaje verificado y a servicios esenciales.</a:t>
            </a:r>
          </a:p>
        </p:txBody>
      </p:sp>
      <p:sp>
        <p:nvSpPr>
          <p:cNvPr id="19" name="">
            <a:extLst xmlns:a="http://schemas.openxmlformats.org/drawingml/2006/main">
              <a:ext uri="{FF2B5EF4-FFF2-40B4-BE49-F238E27FC236}">
                <a16:creationId xmlns:a16="http://schemas.microsoft.com/office/drawing/2014/main" id="{604D01CD-431D-4560-9BA6-73D6FE5D01E1}"/>
              </a:ext>
            </a:extLst>
          </p:cNvPr>
          <p:cNvSpPr>
            <a:spLocks xmlns:a="http://schemas.openxmlformats.org/drawingml/2006/main" noGrp="1"/>
          </p:cNvSpPr>
          <p:nvPr/>
        </p:nvSpPr>
        <p:spPr>
          <a:xfrm xmlns:a="http://schemas.openxmlformats.org/drawingml/2006/main">
            <a:off x="571500" y="52959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275CBA"/>
                </a:solidFill>
                <a:latin typeface="Aptos"/>
                <a:ea typeface="Aptos"/>
                <a:cs typeface="Aptos"/>
              </a:defRPr>
            </a:pPr>
            <a:r>
              <a:rPr sz="1275" b="1">
                <a:solidFill>
                  <a:srgbClr val="275CBA"/>
                </a:solidFill>
                <a:latin typeface="Aptos"/>
                <a:ea typeface="Aptos"/>
                <a:cs typeface="Aptos"/>
              </a:rPr>
              <a:t>03</a:t>
            </a:r>
          </a:p>
        </p:txBody>
      </p:sp>
      <p:sp>
        <p:nvSpPr>
          <p:cNvPr id="20" name="">
            <a:extLst xmlns:a="http://schemas.openxmlformats.org/drawingml/2006/main">
              <a:ext uri="{FF2B5EF4-FFF2-40B4-BE49-F238E27FC236}">
                <a16:creationId xmlns:a16="http://schemas.microsoft.com/office/drawing/2014/main" id="{59B5EE9A-3477-4C8A-836A-A8B3F7252524}"/>
              </a:ext>
            </a:extLst>
          </p:cNvPr>
          <p:cNvSpPr>
            <a:spLocks xmlns:a="http://schemas.openxmlformats.org/drawingml/2006/main" noGrp="1"/>
          </p:cNvSpPr>
          <p:nvPr/>
        </p:nvSpPr>
        <p:spPr>
          <a:xfrm xmlns:a="http://schemas.openxmlformats.org/drawingml/2006/main">
            <a:off x="1028700" y="5295900"/>
            <a:ext cx="2038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0252C"/>
                </a:solidFill>
                <a:latin typeface="Aptos"/>
                <a:ea typeface="Aptos"/>
                <a:cs typeface="Aptos"/>
              </a:defRPr>
            </a:pPr>
            <a:r>
              <a:rPr sz="1425" b="1">
                <a:solidFill>
                  <a:srgbClr val="20252C"/>
                </a:solidFill>
                <a:latin typeface="Aptos"/>
                <a:ea typeface="Aptos"/>
                <a:cs typeface="Aptos"/>
              </a:rPr>
              <a:t>Servicio variable</a:t>
            </a:r>
          </a:p>
        </p:txBody>
      </p:sp>
      <p:sp>
        <p:nvSpPr>
          <p:cNvPr id="21" name="">
            <a:extLst xmlns:a="http://schemas.openxmlformats.org/drawingml/2006/main">
              <a:ext uri="{FF2B5EF4-FFF2-40B4-BE49-F238E27FC236}">
                <a16:creationId xmlns:a16="http://schemas.microsoft.com/office/drawing/2014/main" id="{F08678EF-0D56-4487-B602-AC3A64003E39}"/>
              </a:ext>
            </a:extLst>
          </p:cNvPr>
          <p:cNvSpPr>
            <a:spLocks xmlns:a="http://schemas.openxmlformats.org/drawingml/2006/main" noGrp="1"/>
          </p:cNvSpPr>
          <p:nvPr/>
        </p:nvSpPr>
        <p:spPr>
          <a:xfrm xmlns:a="http://schemas.openxmlformats.org/drawingml/2006/main">
            <a:off x="1028700" y="5562600"/>
            <a:ext cx="4648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D6570"/>
                </a:solidFill>
                <a:latin typeface="Aptos"/>
                <a:ea typeface="Aptos"/>
                <a:cs typeface="Aptos"/>
              </a:defRPr>
            </a:pPr>
            <a:r>
              <a:rPr sz="1200" b="0">
                <a:solidFill>
                  <a:srgbClr val="5D6570"/>
                </a:solidFill>
                <a:latin typeface="Aptos"/>
                <a:ea typeface="Aptos"/>
                <a:cs typeface="Aptos"/>
              </a:rPr>
              <a:t>Comparar intervalos, capacidad y flota según día y franja.</a:t>
            </a:r>
          </a:p>
        </p:txBody>
      </p:sp>
      <p:sp>
        <p:nvSpPr>
          <p:cNvPr id="22" name="">
            <a:extLst xmlns:a="http://schemas.openxmlformats.org/drawingml/2006/main">
              <a:ext uri="{FF2B5EF4-FFF2-40B4-BE49-F238E27FC236}">
                <a16:creationId xmlns:a16="http://schemas.microsoft.com/office/drawing/2014/main" id="{DEB37E41-86B7-4795-8F19-715052AF4F1E}"/>
              </a:ext>
            </a:extLst>
          </p:cNvPr>
          <p:cNvSpPr>
            <a:spLocks xmlns:a="http://schemas.openxmlformats.org/drawingml/2006/main" noGrp="1"/>
          </p:cNvSpPr>
          <p:nvPr/>
        </p:nvSpPr>
        <p:spPr>
          <a:xfrm xmlns:a="http://schemas.openxmlformats.org/drawingml/2006/main">
            <a:off x="6191250" y="52959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275CBA"/>
                </a:solidFill>
                <a:latin typeface="Aptos"/>
                <a:ea typeface="Aptos"/>
                <a:cs typeface="Aptos"/>
              </a:defRPr>
            </a:pPr>
            <a:r>
              <a:rPr sz="1275" b="1">
                <a:solidFill>
                  <a:srgbClr val="275CBA"/>
                </a:solidFill>
                <a:latin typeface="Aptos"/>
                <a:ea typeface="Aptos"/>
                <a:cs typeface="Aptos"/>
              </a:rPr>
              <a:t>04</a:t>
            </a:r>
          </a:p>
        </p:txBody>
      </p:sp>
      <p:sp>
        <p:nvSpPr>
          <p:cNvPr id="23" name="">
            <a:extLst xmlns:a="http://schemas.openxmlformats.org/drawingml/2006/main">
              <a:ext uri="{FF2B5EF4-FFF2-40B4-BE49-F238E27FC236}">
                <a16:creationId xmlns:a16="http://schemas.microsoft.com/office/drawing/2014/main" id="{EA1D0435-D646-424C-AA17-9299B7C1463A}"/>
              </a:ext>
            </a:extLst>
          </p:cNvPr>
          <p:cNvSpPr>
            <a:spLocks xmlns:a="http://schemas.openxmlformats.org/drawingml/2006/main" noGrp="1"/>
          </p:cNvSpPr>
          <p:nvPr/>
        </p:nvSpPr>
        <p:spPr>
          <a:xfrm xmlns:a="http://schemas.openxmlformats.org/drawingml/2006/main">
            <a:off x="6648450" y="5295900"/>
            <a:ext cx="2038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0252C"/>
                </a:solidFill>
                <a:latin typeface="Aptos"/>
                <a:ea typeface="Aptos"/>
                <a:cs typeface="Aptos"/>
              </a:defRPr>
            </a:pPr>
            <a:r>
              <a:rPr sz="1425" b="1">
                <a:solidFill>
                  <a:srgbClr val="20252C"/>
                </a:solidFill>
                <a:latin typeface="Aptos"/>
                <a:ea typeface="Aptos"/>
                <a:cs typeface="Aptos"/>
              </a:rPr>
              <a:t>Decisión sin contraste</a:t>
            </a:r>
          </a:p>
        </p:txBody>
      </p:sp>
      <p:sp>
        <p:nvSpPr>
          <p:cNvPr id="24" name="">
            <a:extLst xmlns:a="http://schemas.openxmlformats.org/drawingml/2006/main">
              <a:ext uri="{FF2B5EF4-FFF2-40B4-BE49-F238E27FC236}">
                <a16:creationId xmlns:a16="http://schemas.microsoft.com/office/drawing/2014/main" id="{A7F47C77-DD02-4BB5-AB2D-09752E020339}"/>
              </a:ext>
            </a:extLst>
          </p:cNvPr>
          <p:cNvSpPr>
            <a:spLocks xmlns:a="http://schemas.openxmlformats.org/drawingml/2006/main" noGrp="1"/>
          </p:cNvSpPr>
          <p:nvPr/>
        </p:nvSpPr>
        <p:spPr>
          <a:xfrm xmlns:a="http://schemas.openxmlformats.org/drawingml/2006/main">
            <a:off x="6648450" y="5562600"/>
            <a:ext cx="4648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D6570"/>
                </a:solidFill>
                <a:latin typeface="Aptos"/>
                <a:ea typeface="Aptos"/>
                <a:cs typeface="Aptos"/>
              </a:defRPr>
            </a:pPr>
            <a:r>
              <a:rPr sz="1200" b="0">
                <a:solidFill>
                  <a:srgbClr val="5D6570"/>
                </a:solidFill>
                <a:latin typeface="Aptos"/>
                <a:ea typeface="Aptos"/>
                <a:cs typeface="Aptos"/>
              </a:rPr>
              <a:t>Evaluar alternativas con ganadores, pérdidas y costos antes de un piloto.</a:t>
            </a:r>
          </a:p>
        </p:txBody>
      </p:sp>
    </p:spTree>
    <p:extLst>
      <p:ext uri="{BB962C8B-B14F-4D97-AF65-F5344CB8AC3E}">
        <p14:creationId xmlns:p14="http://schemas.microsoft.com/office/powerpoint/2010/main" val="115169790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3473023-BFF0-4FA7-B0B9-4F4377EC14D5}"/>
              </a:ext>
            </a:extLst>
          </p:cNvPr>
          <p:cNvSpPr>
            <a:spLocks xmlns:a="http://schemas.openxmlformats.org/drawingml/2006/main" noGrp="1"/>
          </p:cNvSpPr>
          <p:nvPr/>
        </p:nvSpPr>
        <p:spPr>
          <a:xfrm xmlns:a="http://schemas.openxmlformats.org/drawingml/2006/main">
            <a:off x="571500" y="3238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Datos que Puriy puede usar hoy y datos que faltan</a:t>
            </a:r>
          </a:p>
        </p:txBody>
      </p:sp>
      <p:sp>
        <p:nvSpPr>
          <p:cNvPr id="2" name="">
            <a:extLst xmlns:a="http://schemas.openxmlformats.org/drawingml/2006/main">
              <a:ext uri="{FF2B5EF4-FFF2-40B4-BE49-F238E27FC236}">
                <a16:creationId xmlns:a16="http://schemas.microsoft.com/office/drawing/2014/main" id="{71385564-8C73-43D0-80AF-E1414AB068FC}"/>
              </a:ext>
            </a:extLst>
          </p:cNvPr>
          <p:cNvSpPr>
            <a:spLocks xmlns:a="http://schemas.openxmlformats.org/drawingml/2006/main" noGrp="1"/>
          </p:cNvSpPr>
          <p:nvPr/>
        </p:nvSpPr>
        <p:spPr>
          <a:xfrm xmlns:a="http://schemas.openxmlformats.org/drawingml/2006/main">
            <a:off x="11125200" y="4476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04</a:t>
            </a:r>
          </a:p>
        </p:txBody>
      </p:sp>
      <p:sp>
        <p:nvSpPr>
          <p:cNvPr id="3" name="">
            <a:extLst xmlns:a="http://schemas.openxmlformats.org/drawingml/2006/main">
              <a:ext uri="{FF2B5EF4-FFF2-40B4-BE49-F238E27FC236}">
                <a16:creationId xmlns:a16="http://schemas.microsoft.com/office/drawing/2014/main" id="{948545C0-7332-4DE9-B0B3-FB81152C1EA0}"/>
              </a:ext>
            </a:extLst>
          </p:cNvPr>
          <p:cNvSpPr>
            <a:spLocks xmlns:a="http://schemas.openxmlformats.org/drawingml/2006/main" noGrp="1"/>
          </p:cNvSpPr>
          <p:nvPr/>
        </p:nvSpPr>
        <p:spPr>
          <a:xfrm xmlns:a="http://schemas.openxmlformats.org/drawingml/2006/main">
            <a:off x="571500" y="981075"/>
            <a:ext cx="11029950" cy="0"/>
          </a:xfrm>
          <a:prstGeom xmlns:a="http://schemas.openxmlformats.org/drawingml/2006/main" prst="line">
            <a:avLst/>
          </a:prstGeom>
          <a:noFill xmlns:a="http://schemas.openxmlformats.org/drawingml/2006/main"/>
          <a:ln xmlns:a="http://schemas.openxmlformats.org/drawingml/2006/main" w="19050">
            <a:solidFill>
              <a:srgbClr val="DFE4EA"/>
            </a:solidFill>
            <a:prstDash val="solid"/>
          </a:ln>
        </p:spPr>
      </p:sp>
      <p:sp>
        <p:nvSpPr>
          <p:cNvPr id="4" name="">
            <a:extLst xmlns:a="http://schemas.openxmlformats.org/drawingml/2006/main">
              <a:ext uri="{FF2B5EF4-FFF2-40B4-BE49-F238E27FC236}">
                <a16:creationId xmlns:a16="http://schemas.microsoft.com/office/drawing/2014/main" id="{F79F17CB-1B3C-43DE-B78C-384E41483E38}"/>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7A838F"/>
                </a:solidFill>
                <a:latin typeface="Aptos"/>
                <a:ea typeface="Aptos"/>
                <a:cs typeface="Aptos"/>
              </a:defRPr>
            </a:pPr>
            <a:r>
              <a:rPr sz="825" b="0">
                <a:solidFill>
                  <a:srgbClr val="7A838F"/>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9579E0EF-BB0D-4EAF-9016-43BA61BBBB75}"/>
              </a:ext>
            </a:extLst>
          </p:cNvPr>
          <p:cNvSpPr>
            <a:spLocks xmlns:a="http://schemas.openxmlformats.org/drawingml/2006/main" noGrp="1"/>
          </p:cNvSpPr>
          <p:nvPr/>
        </p:nvSpPr>
        <p:spPr>
          <a:xfrm xmlns:a="http://schemas.openxmlformats.org/drawingml/2006/main">
            <a:off x="9105900" y="6515100"/>
            <a:ext cx="2457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a:solidFill>
                  <a:srgbClr val="7A838F"/>
                </a:solidFill>
                <a:latin typeface="Aptos"/>
                <a:ea typeface="Aptos"/>
                <a:cs typeface="Aptos"/>
              </a:defRPr>
            </a:pPr>
            <a:r>
              <a:rPr sz="825" b="0">
                <a:solidFill>
                  <a:srgbClr val="7A838F"/>
                </a:solidFill>
                <a:latin typeface="Aptos"/>
                <a:ea typeface="Aptos"/>
                <a:cs typeface="Aptos"/>
              </a:rPr>
              <a:t>FUENTES Y MÉTODO EN NOTAS</a:t>
            </a:r>
          </a:p>
        </p:txBody>
      </p:sp>
      <p:sp>
        <p:nvSpPr>
          <p:cNvPr id="6" name="">
            <a:extLst xmlns:a="http://schemas.openxmlformats.org/drawingml/2006/main">
              <a:ext uri="{FF2B5EF4-FFF2-40B4-BE49-F238E27FC236}">
                <a16:creationId xmlns:a16="http://schemas.microsoft.com/office/drawing/2014/main" id="{B813C3E4-0D7E-4752-9604-443351207690}"/>
              </a:ext>
            </a:extLst>
          </p:cNvPr>
          <p:cNvSpPr>
            <a:spLocks xmlns:a="http://schemas.openxmlformats.org/drawingml/2006/main" noGrp="1"/>
          </p:cNvSpPr>
          <p:nvPr/>
        </p:nvSpPr>
        <p:spPr>
          <a:xfrm xmlns:a="http://schemas.openxmlformats.org/drawingml/2006/main">
            <a:off x="571500" y="1257300"/>
            <a:ext cx="2524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275CBA"/>
                </a:solidFill>
                <a:latin typeface="Aptos"/>
                <a:ea typeface="Aptos"/>
                <a:cs typeface="Aptos"/>
              </a:defRPr>
            </a:pPr>
            <a:r>
              <a:rPr sz="2850" b="1">
                <a:solidFill>
                  <a:srgbClr val="275CBA"/>
                </a:solidFill>
                <a:latin typeface="Aptos"/>
                <a:ea typeface="Aptos"/>
                <a:cs typeface="Aptos"/>
              </a:rPr>
              <a:t>5.204</a:t>
            </a:r>
          </a:p>
        </p:txBody>
      </p:sp>
      <p:sp>
        <p:nvSpPr>
          <p:cNvPr id="7" name="">
            <a:extLst xmlns:a="http://schemas.openxmlformats.org/drawingml/2006/main">
              <a:ext uri="{FF2B5EF4-FFF2-40B4-BE49-F238E27FC236}">
                <a16:creationId xmlns:a16="http://schemas.microsoft.com/office/drawing/2014/main" id="{BC4B661C-65ED-4BC8-88EC-D10D79BDAFA7}"/>
              </a:ext>
            </a:extLst>
          </p:cNvPr>
          <p:cNvSpPr>
            <a:spLocks xmlns:a="http://schemas.openxmlformats.org/drawingml/2006/main" noGrp="1"/>
          </p:cNvSpPr>
          <p:nvPr/>
        </p:nvSpPr>
        <p:spPr>
          <a:xfrm xmlns:a="http://schemas.openxmlformats.org/drawingml/2006/main">
            <a:off x="571500" y="1781175"/>
            <a:ext cx="2457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D6570"/>
                </a:solidFill>
                <a:latin typeface="Aptos"/>
                <a:ea typeface="Aptos"/>
                <a:cs typeface="Aptos"/>
              </a:defRPr>
            </a:pPr>
            <a:r>
              <a:rPr sz="1125" b="0">
                <a:solidFill>
                  <a:srgbClr val="5D6570"/>
                </a:solidFill>
                <a:latin typeface="Aptos"/>
                <a:ea typeface="Aptos"/>
                <a:cs typeface="Aptos"/>
              </a:rPr>
              <a:t>manzanas · Juliaca</a:t>
            </a:r>
          </a:p>
        </p:txBody>
      </p:sp>
      <p:sp>
        <p:nvSpPr>
          <p:cNvPr id="8" name="">
            <a:extLst xmlns:a="http://schemas.openxmlformats.org/drawingml/2006/main">
              <a:ext uri="{FF2B5EF4-FFF2-40B4-BE49-F238E27FC236}">
                <a16:creationId xmlns:a16="http://schemas.microsoft.com/office/drawing/2014/main" id="{4181845A-9615-435B-B369-2E7384E5B932}"/>
              </a:ext>
            </a:extLst>
          </p:cNvPr>
          <p:cNvSpPr>
            <a:spLocks xmlns:a="http://schemas.openxmlformats.org/drawingml/2006/main" noGrp="1"/>
          </p:cNvSpPr>
          <p:nvPr/>
        </p:nvSpPr>
        <p:spPr>
          <a:xfrm xmlns:a="http://schemas.openxmlformats.org/drawingml/2006/main">
            <a:off x="3143250" y="1314450"/>
            <a:ext cx="19050" cy="866775"/>
          </a:xfrm>
          <a:prstGeom xmlns:a="http://schemas.openxmlformats.org/drawingml/2006/main" prst="rect">
            <a:avLst/>
          </a:prstGeom>
          <a:solidFill xmlns:a="http://schemas.openxmlformats.org/drawingml/2006/main">
            <a:srgbClr val="DFE4E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DF31F96-EED4-41E8-AEE9-B83C05FDC09A}"/>
              </a:ext>
            </a:extLst>
          </p:cNvPr>
          <p:cNvSpPr>
            <a:spLocks xmlns:a="http://schemas.openxmlformats.org/drawingml/2006/main" noGrp="1"/>
          </p:cNvSpPr>
          <p:nvPr/>
        </p:nvSpPr>
        <p:spPr>
          <a:xfrm xmlns:a="http://schemas.openxmlformats.org/drawingml/2006/main">
            <a:off x="3333750" y="1257300"/>
            <a:ext cx="2524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275CBA"/>
                </a:solidFill>
                <a:latin typeface="Aptos"/>
                <a:ea typeface="Aptos"/>
                <a:cs typeface="Aptos"/>
              </a:defRPr>
            </a:pPr>
            <a:r>
              <a:rPr sz="2850" b="1">
                <a:solidFill>
                  <a:srgbClr val="275CBA"/>
                </a:solidFill>
                <a:latin typeface="Aptos"/>
                <a:ea typeface="Aptos"/>
                <a:cs typeface="Aptos"/>
              </a:rPr>
              <a:t>194.694</a:t>
            </a:r>
          </a:p>
        </p:txBody>
      </p:sp>
      <p:sp>
        <p:nvSpPr>
          <p:cNvPr id="10" name="">
            <a:extLst xmlns:a="http://schemas.openxmlformats.org/drawingml/2006/main">
              <a:ext uri="{FF2B5EF4-FFF2-40B4-BE49-F238E27FC236}">
                <a16:creationId xmlns:a16="http://schemas.microsoft.com/office/drawing/2014/main" id="{27A5BD58-3FF1-47FF-BECC-90C4B477CD3E}"/>
              </a:ext>
            </a:extLst>
          </p:cNvPr>
          <p:cNvSpPr>
            <a:spLocks xmlns:a="http://schemas.openxmlformats.org/drawingml/2006/main" noGrp="1"/>
          </p:cNvSpPr>
          <p:nvPr/>
        </p:nvSpPr>
        <p:spPr>
          <a:xfrm xmlns:a="http://schemas.openxmlformats.org/drawingml/2006/main">
            <a:off x="3333750" y="1781175"/>
            <a:ext cx="2457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D6570"/>
                </a:solidFill>
                <a:latin typeface="Aptos"/>
                <a:ea typeface="Aptos"/>
                <a:cs typeface="Aptos"/>
              </a:defRPr>
            </a:pPr>
            <a:r>
              <a:rPr sz="1125" b="0">
                <a:solidFill>
                  <a:srgbClr val="5D6570"/>
                </a:solidFill>
                <a:latin typeface="Aptos"/>
                <a:ea typeface="Aptos"/>
                <a:cs typeface="Aptos"/>
              </a:rPr>
              <a:t>habitantes asociados · 2017</a:t>
            </a:r>
          </a:p>
        </p:txBody>
      </p:sp>
      <p:sp>
        <p:nvSpPr>
          <p:cNvPr id="11" name="">
            <a:extLst xmlns:a="http://schemas.openxmlformats.org/drawingml/2006/main">
              <a:ext uri="{FF2B5EF4-FFF2-40B4-BE49-F238E27FC236}">
                <a16:creationId xmlns:a16="http://schemas.microsoft.com/office/drawing/2014/main" id="{1926A69F-5470-4135-80A5-997946F768C2}"/>
              </a:ext>
            </a:extLst>
          </p:cNvPr>
          <p:cNvSpPr>
            <a:spLocks xmlns:a="http://schemas.openxmlformats.org/drawingml/2006/main" noGrp="1"/>
          </p:cNvSpPr>
          <p:nvPr/>
        </p:nvSpPr>
        <p:spPr>
          <a:xfrm xmlns:a="http://schemas.openxmlformats.org/drawingml/2006/main">
            <a:off x="5905500" y="1314450"/>
            <a:ext cx="19050" cy="866775"/>
          </a:xfrm>
          <a:prstGeom xmlns:a="http://schemas.openxmlformats.org/drawingml/2006/main" prst="rect">
            <a:avLst/>
          </a:prstGeom>
          <a:solidFill xmlns:a="http://schemas.openxmlformats.org/drawingml/2006/main">
            <a:srgbClr val="DFE4E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EE3EB3D-2B03-4CC1-B641-3E34D56FC47E}"/>
              </a:ext>
            </a:extLst>
          </p:cNvPr>
          <p:cNvSpPr>
            <a:spLocks xmlns:a="http://schemas.openxmlformats.org/drawingml/2006/main" noGrp="1"/>
          </p:cNvSpPr>
          <p:nvPr/>
        </p:nvSpPr>
        <p:spPr>
          <a:xfrm xmlns:a="http://schemas.openxmlformats.org/drawingml/2006/main">
            <a:off x="6096000" y="1257300"/>
            <a:ext cx="2524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275CBA"/>
                </a:solidFill>
                <a:latin typeface="Aptos"/>
                <a:ea typeface="Aptos"/>
                <a:cs typeface="Aptos"/>
              </a:defRPr>
            </a:pPr>
            <a:r>
              <a:rPr sz="2850" b="1">
                <a:solidFill>
                  <a:srgbClr val="275CBA"/>
                </a:solidFill>
                <a:latin typeface="Aptos"/>
                <a:ea typeface="Aptos"/>
                <a:cs typeface="Aptos"/>
              </a:rPr>
              <a:t>40</a:t>
            </a:r>
          </a:p>
        </p:txBody>
      </p:sp>
      <p:sp>
        <p:nvSpPr>
          <p:cNvPr id="13" name="">
            <a:extLst xmlns:a="http://schemas.openxmlformats.org/drawingml/2006/main">
              <a:ext uri="{FF2B5EF4-FFF2-40B4-BE49-F238E27FC236}">
                <a16:creationId xmlns:a16="http://schemas.microsoft.com/office/drawing/2014/main" id="{3A2DE9CF-A544-47AF-B5FC-1D6124FE89D4}"/>
              </a:ext>
            </a:extLst>
          </p:cNvPr>
          <p:cNvSpPr>
            <a:spLocks xmlns:a="http://schemas.openxmlformats.org/drawingml/2006/main" noGrp="1"/>
          </p:cNvSpPr>
          <p:nvPr/>
        </p:nvSpPr>
        <p:spPr>
          <a:xfrm xmlns:a="http://schemas.openxmlformats.org/drawingml/2006/main">
            <a:off x="6096000" y="1781175"/>
            <a:ext cx="2457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D6570"/>
                </a:solidFill>
                <a:latin typeface="Aptos"/>
                <a:ea typeface="Aptos"/>
                <a:cs typeface="Aptos"/>
              </a:defRPr>
            </a:pPr>
            <a:r>
              <a:rPr sz="1125" b="0">
                <a:solidFill>
                  <a:srgbClr val="5D6570"/>
                </a:solidFill>
                <a:latin typeface="Aptos"/>
                <a:ea typeface="Aptos"/>
                <a:cs typeface="Aptos"/>
              </a:rPr>
              <a:t>líneas · inventario PDU</a:t>
            </a:r>
          </a:p>
        </p:txBody>
      </p:sp>
      <p:sp>
        <p:nvSpPr>
          <p:cNvPr id="14" name="">
            <a:extLst xmlns:a="http://schemas.openxmlformats.org/drawingml/2006/main">
              <a:ext uri="{FF2B5EF4-FFF2-40B4-BE49-F238E27FC236}">
                <a16:creationId xmlns:a16="http://schemas.microsoft.com/office/drawing/2014/main" id="{464CC24C-B899-43C0-970D-FA22D8A9D5BB}"/>
              </a:ext>
            </a:extLst>
          </p:cNvPr>
          <p:cNvSpPr>
            <a:spLocks xmlns:a="http://schemas.openxmlformats.org/drawingml/2006/main" noGrp="1"/>
          </p:cNvSpPr>
          <p:nvPr/>
        </p:nvSpPr>
        <p:spPr>
          <a:xfrm xmlns:a="http://schemas.openxmlformats.org/drawingml/2006/main">
            <a:off x="8667750" y="1314450"/>
            <a:ext cx="19050" cy="866775"/>
          </a:xfrm>
          <a:prstGeom xmlns:a="http://schemas.openxmlformats.org/drawingml/2006/main" prst="rect">
            <a:avLst/>
          </a:prstGeom>
          <a:solidFill xmlns:a="http://schemas.openxmlformats.org/drawingml/2006/main">
            <a:srgbClr val="DFE4E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9FCA8BD-15AC-4BF8-8D08-8A5D72610009}"/>
              </a:ext>
            </a:extLst>
          </p:cNvPr>
          <p:cNvSpPr>
            <a:spLocks xmlns:a="http://schemas.openxmlformats.org/drawingml/2006/main" noGrp="1"/>
          </p:cNvSpPr>
          <p:nvPr/>
        </p:nvSpPr>
        <p:spPr>
          <a:xfrm xmlns:a="http://schemas.openxmlformats.org/drawingml/2006/main">
            <a:off x="8858250" y="1257300"/>
            <a:ext cx="2524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AF343B"/>
                </a:solidFill>
                <a:latin typeface="Aptos"/>
                <a:ea typeface="Aptos"/>
                <a:cs typeface="Aptos"/>
              </a:defRPr>
            </a:pPr>
            <a:r>
              <a:rPr sz="2250" b="1">
                <a:solidFill>
                  <a:srgbClr val="AF343B"/>
                </a:solidFill>
                <a:latin typeface="Aptos"/>
                <a:ea typeface="Aptos"/>
                <a:cs typeface="Aptos"/>
              </a:rPr>
              <a:t>1.963 / 1.969</a:t>
            </a:r>
          </a:p>
        </p:txBody>
      </p:sp>
      <p:sp>
        <p:nvSpPr>
          <p:cNvPr id="16" name="">
            <a:extLst xmlns:a="http://schemas.openxmlformats.org/drawingml/2006/main">
              <a:ext uri="{FF2B5EF4-FFF2-40B4-BE49-F238E27FC236}">
                <a16:creationId xmlns:a16="http://schemas.microsoft.com/office/drawing/2014/main" id="{16A0D592-DF81-4D39-B7D6-F3E091E2AF35}"/>
              </a:ext>
            </a:extLst>
          </p:cNvPr>
          <p:cNvSpPr>
            <a:spLocks xmlns:a="http://schemas.openxmlformats.org/drawingml/2006/main" noGrp="1"/>
          </p:cNvSpPr>
          <p:nvPr/>
        </p:nvSpPr>
        <p:spPr>
          <a:xfrm xmlns:a="http://schemas.openxmlformats.org/drawingml/2006/main">
            <a:off x="8858250" y="1781175"/>
            <a:ext cx="2457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D6570"/>
                </a:solidFill>
                <a:latin typeface="Aptos"/>
                <a:ea typeface="Aptos"/>
                <a:cs typeface="Aptos"/>
              </a:defRPr>
            </a:pPr>
            <a:r>
              <a:rPr sz="1125" b="0">
                <a:solidFill>
                  <a:srgbClr val="5D6570"/>
                </a:solidFill>
                <a:latin typeface="Aptos"/>
                <a:ea typeface="Aptos"/>
                <a:cs typeface="Aptos"/>
              </a:rPr>
              <a:t>flota impresa / suma de filas</a:t>
            </a:r>
          </a:p>
        </p:txBody>
      </p:sp>
      <p:graphicFrame>
        <p:nvGraphicFramePr>
          <p:cNvPr id="35" name=""/>
          <p:cNvGraphicFramePr/>
          <p:nvPr/>
        </p:nvGraphicFramePr>
        <p:xfrm>
          <a:off xmlns:a="http://schemas.openxmlformats.org/drawingml/2006/main" x="571500" y="2590800"/>
          <a:ext xmlns:a="http://schemas.openxmlformats.org/drawingml/2006/main" cx="11010900" cy="2886075"/>
        </p:xfrm>
        <a:graphic xmlns:a="http://schemas.openxmlformats.org/drawingml/2006/main">
          <a:graphicData uri="http://schemas.openxmlformats.org/drawingml/2006/table">
            <a:tbl>
              <a:tblPr/>
              <a:tblGrid>
                <a:gridCol w="2190750"/>
                <a:gridCol w="4343400"/>
                <a:gridCol w="4476750"/>
              </a:tblGrid>
              <a:tr h="577215">
                <a:tc>
                  <a:txBody>
                    <a:bodyPr wrap="square" lIns="76200" tIns="47625" rIns="66675" bIns="47625">
                      <a:normAutofit/>
                    </a:bodyPr>
                    <a:lstStyle/>
                    <a:p>
                      <a:r>
                        <a:rPr sz="1200" b="1">
                          <a:solidFill>
                            <a:srgbClr val="FFFFFF"/>
                          </a:solidFill>
                          <a:latin typeface="Aptos"/>
                          <a:ea typeface="Aptos"/>
                          <a:cs typeface="Aptos"/>
                        </a:rPr>
                        <a:t>Conjunto</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Aporte al modelo</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Límite de uso</a:t>
                      </a:r>
                    </a:p>
                  </a:txBody>
                  <a:tcPr marL="91440" marR="91440" marT="45720" marB="45720" anchor="ctr">
                    <a:solidFill>
                      <a:srgbClr val="17202B"/>
                    </a:solidFill>
                  </a:tcPr>
                </a:tc>
              </a:tr>
              <a:tr h="577215">
                <a:tc>
                  <a:txBody>
                    <a:bodyPr wrap="square" lIns="76200" tIns="47625" rIns="66675" bIns="47625">
                      <a:normAutofit/>
                    </a:bodyPr>
                    <a:lstStyle/>
                    <a:p>
                      <a:r>
                        <a:rPr sz="1275" b="0">
                          <a:solidFill>
                            <a:srgbClr val="20252C"/>
                          </a:solidFill>
                          <a:latin typeface="Aptos"/>
                          <a:ea typeface="Aptos"/>
                          <a:cs typeface="Aptos"/>
                        </a:rPr>
                        <a:t>INEI 2017 + cartografía</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Habitantes, sexo, área y densidad por manzana</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No representa viajes actuales ni demanda hora punta</a:t>
                      </a:r>
                    </a:p>
                  </a:txBody>
                  <a:tcPr marL="91440" marR="91440" marT="45720" marB="45720" anchor="ctr">
                    <a:solidFill>
                      <a:srgbClr val="FFFFFF"/>
                    </a:solidFill>
                  </a:tcPr>
                </a:tc>
              </a:tr>
              <a:tr h="577215">
                <a:tc>
                  <a:txBody>
                    <a:bodyPr wrap="square" lIns="76200" tIns="47625" rIns="66675" bIns="47625">
                      <a:normAutofit/>
                    </a:bodyPr>
                    <a:lstStyle/>
                    <a:p>
                      <a:r>
                        <a:rPr sz="1275" b="0">
                          <a:solidFill>
                            <a:srgbClr val="20252C"/>
                          </a:solidFill>
                          <a:latin typeface="Aptos"/>
                          <a:ea typeface="Aptos"/>
                          <a:cs typeface="Aptos"/>
                        </a:rPr>
                        <a:t>PDU 2026–2035</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Líneas, flota, vías y atractores como catálogo inicial</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Documento de consulta; discrepancia de flota y rutas por verificar</a:t>
                      </a:r>
                    </a:p>
                  </a:txBody>
                  <a:tcPr marL="91440" marR="91440" marT="45720" marB="45720" anchor="ctr">
                    <a:solidFill>
                      <a:srgbClr val="F5F6F8"/>
                    </a:solidFill>
                  </a:tcPr>
                </a:tc>
              </a:tr>
              <a:tr h="577215">
                <a:tc>
                  <a:txBody>
                    <a:bodyPr wrap="square" lIns="76200" tIns="47625" rIns="66675" bIns="47625">
                      <a:normAutofit/>
                    </a:bodyPr>
                    <a:lstStyle/>
                    <a:p>
                      <a:r>
                        <a:rPr sz="1275" b="0">
                          <a:solidFill>
                            <a:srgbClr val="20252C"/>
                          </a:solidFill>
                          <a:latin typeface="Aptos"/>
                          <a:ea typeface="Aptos"/>
                          <a:cs typeface="Aptos"/>
                        </a:rPr>
                        <a:t>Prototipo actual</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Planificador, mapa, comparación y captura de campo</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La vista pública contiene 1 ruta de prueba; GPS real pendiente</a:t>
                      </a:r>
                    </a:p>
                  </a:txBody>
                  <a:tcPr marL="91440" marR="91440" marT="45720" marB="45720" anchor="ctr">
                    <a:solidFill>
                      <a:srgbClr val="FFFFFF"/>
                    </a:solidFill>
                  </a:tcPr>
                </a:tc>
              </a:tr>
              <a:tr h="577215">
                <a:tc>
                  <a:txBody>
                    <a:bodyPr wrap="square" lIns="76200" tIns="47625" rIns="66675" bIns="47625">
                      <a:normAutofit/>
                    </a:bodyPr>
                    <a:lstStyle/>
                    <a:p>
                      <a:r>
                        <a:rPr sz="1275" b="0">
                          <a:solidFill>
                            <a:srgbClr val="20252C"/>
                          </a:solidFill>
                          <a:latin typeface="Aptos"/>
                          <a:ea typeface="Aptos"/>
                          <a:cs typeface="Aptos"/>
                        </a:rPr>
                        <a:t>Levantamiento piloto</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Tiempos, aforos, abordajes, ocupación y velocidades</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Necesita convenio operativo y muestreo por día/hora</a:t>
                      </a:r>
                    </a:p>
                  </a:txBody>
                  <a:tcPr marL="91440" marR="91440" marT="45720" marB="45720" anchor="ctr">
                    <a:solidFill>
                      <a:srgbClr val="F5F6F8"/>
                    </a:solidFill>
                  </a:tcPr>
                </a:tc>
              </a:tr>
            </a:tbl>
          </a:graphicData>
        </a:graphic>
      </p:graphicFrame>
      <p:sp>
        <p:nvSpPr>
          <p:cNvPr id="18" name="">
            <a:extLst xmlns:a="http://schemas.openxmlformats.org/drawingml/2006/main">
              <a:ext uri="{FF2B5EF4-FFF2-40B4-BE49-F238E27FC236}">
                <a16:creationId xmlns:a16="http://schemas.microsoft.com/office/drawing/2014/main" id="{36127484-6489-4A51-B583-DD097B028C15}"/>
              </a:ext>
            </a:extLst>
          </p:cNvPr>
          <p:cNvSpPr>
            <a:spLocks xmlns:a="http://schemas.openxmlformats.org/drawingml/2006/main" noGrp="1"/>
          </p:cNvSpPr>
          <p:nvPr/>
        </p:nvSpPr>
        <p:spPr>
          <a:xfrm xmlns:a="http://schemas.openxmlformats.org/drawingml/2006/main">
            <a:off x="571500" y="5667375"/>
            <a:ext cx="1095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AF343B"/>
                </a:solidFill>
                <a:latin typeface="Aptos"/>
                <a:ea typeface="Aptos"/>
                <a:cs typeface="Aptos"/>
              </a:defRPr>
            </a:pPr>
            <a:r>
              <a:rPr sz="1275" b="1">
                <a:solidFill>
                  <a:srgbClr val="AF343B"/>
                </a:solidFill>
                <a:latin typeface="Aptos"/>
                <a:ea typeface="Aptos"/>
                <a:cs typeface="Aptos"/>
              </a:rPr>
              <a:t>6.929 manzanas entre Juliaca y San Miguel; 3.728 sin población asociada. Esos registros no equivalen a manzanas deshabitadas.</a:t>
            </a:r>
          </a:p>
        </p:txBody>
      </p:sp>
    </p:spTree>
    <p:extLst>
      <p:ext uri="{BB962C8B-B14F-4D97-AF65-F5344CB8AC3E}">
        <p14:creationId xmlns:p14="http://schemas.microsoft.com/office/powerpoint/2010/main" val="670700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BDEE95F-3235-48C2-B3C3-72771E5BA8EA}"/>
              </a:ext>
            </a:extLst>
          </p:cNvPr>
          <p:cNvSpPr>
            <a:spLocks xmlns:a="http://schemas.openxmlformats.org/drawingml/2006/main" noGrp="1"/>
          </p:cNvSpPr>
          <p:nvPr/>
        </p:nvSpPr>
        <p:spPr>
          <a:xfrm xmlns:a="http://schemas.openxmlformats.org/drawingml/2006/main">
            <a:off x="571500" y="3238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Prototipo actual: orientación y análisis</a:t>
            </a:r>
          </a:p>
        </p:txBody>
      </p:sp>
      <p:sp>
        <p:nvSpPr>
          <p:cNvPr id="2" name="">
            <a:extLst xmlns:a="http://schemas.openxmlformats.org/drawingml/2006/main">
              <a:ext uri="{FF2B5EF4-FFF2-40B4-BE49-F238E27FC236}">
                <a16:creationId xmlns:a16="http://schemas.microsoft.com/office/drawing/2014/main" id="{04CCAA41-5189-4565-BC34-B180F8C83917}"/>
              </a:ext>
            </a:extLst>
          </p:cNvPr>
          <p:cNvSpPr>
            <a:spLocks xmlns:a="http://schemas.openxmlformats.org/drawingml/2006/main" noGrp="1"/>
          </p:cNvSpPr>
          <p:nvPr/>
        </p:nvSpPr>
        <p:spPr>
          <a:xfrm xmlns:a="http://schemas.openxmlformats.org/drawingml/2006/main">
            <a:off x="11125200" y="4476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05</a:t>
            </a:r>
          </a:p>
        </p:txBody>
      </p:sp>
      <p:sp>
        <p:nvSpPr>
          <p:cNvPr id="3" name="">
            <a:extLst xmlns:a="http://schemas.openxmlformats.org/drawingml/2006/main">
              <a:ext uri="{FF2B5EF4-FFF2-40B4-BE49-F238E27FC236}">
                <a16:creationId xmlns:a16="http://schemas.microsoft.com/office/drawing/2014/main" id="{98B6F118-224C-4989-BC95-27B82BD2C25B}"/>
              </a:ext>
            </a:extLst>
          </p:cNvPr>
          <p:cNvSpPr>
            <a:spLocks xmlns:a="http://schemas.openxmlformats.org/drawingml/2006/main" noGrp="1"/>
          </p:cNvSpPr>
          <p:nvPr/>
        </p:nvSpPr>
        <p:spPr>
          <a:xfrm xmlns:a="http://schemas.openxmlformats.org/drawingml/2006/main">
            <a:off x="571500" y="981075"/>
            <a:ext cx="11029950" cy="0"/>
          </a:xfrm>
          <a:prstGeom xmlns:a="http://schemas.openxmlformats.org/drawingml/2006/main" prst="line">
            <a:avLst/>
          </a:prstGeom>
          <a:noFill xmlns:a="http://schemas.openxmlformats.org/drawingml/2006/main"/>
          <a:ln xmlns:a="http://schemas.openxmlformats.org/drawingml/2006/main" w="19050">
            <a:solidFill>
              <a:srgbClr val="DFE4EA"/>
            </a:solidFill>
            <a:prstDash val="solid"/>
          </a:ln>
        </p:spPr>
      </p:sp>
      <p:sp>
        <p:nvSpPr>
          <p:cNvPr id="4" name="">
            <a:extLst xmlns:a="http://schemas.openxmlformats.org/drawingml/2006/main">
              <a:ext uri="{FF2B5EF4-FFF2-40B4-BE49-F238E27FC236}">
                <a16:creationId xmlns:a16="http://schemas.microsoft.com/office/drawing/2014/main" id="{755AFE9C-174D-4FBF-9B0D-11C6335ED368}"/>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7A838F"/>
                </a:solidFill>
                <a:latin typeface="Aptos"/>
                <a:ea typeface="Aptos"/>
                <a:cs typeface="Aptos"/>
              </a:defRPr>
            </a:pPr>
            <a:r>
              <a:rPr sz="825" b="0">
                <a:solidFill>
                  <a:srgbClr val="7A838F"/>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8E7EDDCE-E041-4E85-BD36-9774A5DD34FA}"/>
              </a:ext>
            </a:extLst>
          </p:cNvPr>
          <p:cNvSpPr>
            <a:spLocks xmlns:a="http://schemas.openxmlformats.org/drawingml/2006/main" noGrp="1"/>
          </p:cNvSpPr>
          <p:nvPr/>
        </p:nvSpPr>
        <p:spPr>
          <a:xfrm xmlns:a="http://schemas.openxmlformats.org/drawingml/2006/main">
            <a:off x="9105900" y="6515100"/>
            <a:ext cx="2457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a:solidFill>
                  <a:srgbClr val="7A838F"/>
                </a:solidFill>
                <a:latin typeface="Aptos"/>
                <a:ea typeface="Aptos"/>
                <a:cs typeface="Aptos"/>
              </a:defRPr>
            </a:pPr>
            <a:r>
              <a:rPr sz="825" b="0">
                <a:solidFill>
                  <a:srgbClr val="7A838F"/>
                </a:solidFill>
                <a:latin typeface="Aptos"/>
                <a:ea typeface="Aptos"/>
                <a:cs typeface="Aptos"/>
              </a:rPr>
              <a:t>FUENTES Y MÉTODO EN NOTAS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b4be06e490e4b54"/>
          <a:srcRect xmlns:a="http://schemas.openxmlformats.org/drawingml/2006/main" l="1071" t="0" r="1071" b="0"/>
          <a:stretch xmlns:a="http://schemas.openxmlformats.org/drawingml/2006/main">
            <a:fillRect l="0" t="0" r="0" b="0"/>
          </a:stretch>
        </p:blipFill>
        <p:spPr>
          <a:xfrm xmlns:a="http://schemas.openxmlformats.org/drawingml/2006/main">
            <a:off x="571500" y="1285875"/>
            <a:ext cx="5219700" cy="3333750"/>
          </a:xfrm>
          <a:prstGeom xmlns:a="http://schemas.openxmlformats.org/drawingml/2006/main" prst="roundRect">
            <a:avLst>
              <a:gd name="adj" fmla="val 3429"/>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7f7397190ea4d27"/>
          <a:srcRect xmlns:a="http://schemas.openxmlformats.org/drawingml/2006/main" l="0" t="2137" r="0" b="2137"/>
          <a:stretch xmlns:a="http://schemas.openxmlformats.org/drawingml/2006/main">
            <a:fillRect l="0" t="0" r="0" b="0"/>
          </a:stretch>
        </p:blipFill>
        <p:spPr>
          <a:xfrm xmlns:a="http://schemas.openxmlformats.org/drawingml/2006/main">
            <a:off x="6010275" y="1285875"/>
            <a:ext cx="5572125" cy="3333750"/>
          </a:xfrm>
          <a:prstGeom xmlns:a="http://schemas.openxmlformats.org/drawingml/2006/main" prst="roundRect">
            <a:avLst>
              <a:gd name="adj" fmla="val 3429"/>
            </a:avLst>
          </a:prstGeom>
        </p:spPr>
      </p:pic>
      <p:sp>
        <p:nvSpPr>
          <p:cNvPr id="8" name="">
            <a:extLst xmlns:a="http://schemas.openxmlformats.org/drawingml/2006/main">
              <a:ext uri="{FF2B5EF4-FFF2-40B4-BE49-F238E27FC236}">
                <a16:creationId xmlns:a16="http://schemas.microsoft.com/office/drawing/2014/main" id="{5598D654-35B6-44AF-96BA-7F4426E0B5E9}"/>
              </a:ext>
            </a:extLst>
          </p:cNvPr>
          <p:cNvSpPr>
            <a:spLocks xmlns:a="http://schemas.openxmlformats.org/drawingml/2006/main" noGrp="1"/>
          </p:cNvSpPr>
          <p:nvPr/>
        </p:nvSpPr>
        <p:spPr>
          <a:xfrm xmlns:a="http://schemas.openxmlformats.org/drawingml/2006/main">
            <a:off x="571500" y="4772025"/>
            <a:ext cx="233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75CBA"/>
                </a:solidFill>
                <a:latin typeface="Aptos"/>
                <a:ea typeface="Aptos"/>
                <a:cs typeface="Aptos"/>
              </a:defRPr>
            </a:pPr>
            <a:r>
              <a:rPr sz="1500" b="1">
                <a:solidFill>
                  <a:srgbClr val="275CBA"/>
                </a:solidFill>
                <a:latin typeface="Aptos"/>
                <a:ea typeface="Aptos"/>
                <a:cs typeface="Aptos"/>
              </a:rPr>
              <a:t>Planificar viaje</a:t>
            </a:r>
          </a:p>
        </p:txBody>
      </p:sp>
      <p:sp>
        <p:nvSpPr>
          <p:cNvPr id="9" name="">
            <a:extLst xmlns:a="http://schemas.openxmlformats.org/drawingml/2006/main">
              <a:ext uri="{FF2B5EF4-FFF2-40B4-BE49-F238E27FC236}">
                <a16:creationId xmlns:a16="http://schemas.microsoft.com/office/drawing/2014/main" id="{2C1DC1CA-4501-4BAC-8A2C-BF822563BA55}"/>
              </a:ext>
            </a:extLst>
          </p:cNvPr>
          <p:cNvSpPr>
            <a:spLocks xmlns:a="http://schemas.openxmlformats.org/drawingml/2006/main" noGrp="1"/>
          </p:cNvSpPr>
          <p:nvPr/>
        </p:nvSpPr>
        <p:spPr>
          <a:xfrm xmlns:a="http://schemas.openxmlformats.org/drawingml/2006/main">
            <a:off x="571500" y="5095875"/>
            <a:ext cx="52197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D6570"/>
                </a:solidFill>
                <a:latin typeface="Aptos"/>
                <a:ea typeface="Aptos"/>
                <a:cs typeface="Aptos"/>
              </a:defRPr>
            </a:pPr>
            <a:r>
              <a:rPr sz="1350" b="0">
                <a:solidFill>
                  <a:srgbClr val="5D6570"/>
                </a:solidFill>
                <a:latin typeface="Aptos"/>
                <a:ea typeface="Aptos"/>
                <a:cs typeface="Aptos"/>
              </a:rPr>
              <a:t>Origen y destino, hora de salida, preferencia de viaje y recorrido sobre mapa.</a:t>
            </a:r>
          </a:p>
        </p:txBody>
      </p:sp>
      <p:sp>
        <p:nvSpPr>
          <p:cNvPr id="10" name="">
            <a:extLst xmlns:a="http://schemas.openxmlformats.org/drawingml/2006/main">
              <a:ext uri="{FF2B5EF4-FFF2-40B4-BE49-F238E27FC236}">
                <a16:creationId xmlns:a16="http://schemas.microsoft.com/office/drawing/2014/main" id="{55387DED-9F2A-4309-8465-47A7F045D534}"/>
              </a:ext>
            </a:extLst>
          </p:cNvPr>
          <p:cNvSpPr>
            <a:spLocks xmlns:a="http://schemas.openxmlformats.org/drawingml/2006/main" noGrp="1"/>
          </p:cNvSpPr>
          <p:nvPr/>
        </p:nvSpPr>
        <p:spPr>
          <a:xfrm xmlns:a="http://schemas.openxmlformats.org/drawingml/2006/main">
            <a:off x="6010275" y="4772025"/>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75CBA"/>
                </a:solidFill>
                <a:latin typeface="Aptos"/>
                <a:ea typeface="Aptos"/>
                <a:cs typeface="Aptos"/>
              </a:defRPr>
            </a:pPr>
            <a:r>
              <a:rPr sz="1500" b="1">
                <a:solidFill>
                  <a:srgbClr val="275CBA"/>
                </a:solidFill>
                <a:latin typeface="Aptos"/>
                <a:ea typeface="Aptos"/>
                <a:cs typeface="Aptos"/>
              </a:rPr>
              <a:t>Explorar recorridos</a:t>
            </a:r>
          </a:p>
        </p:txBody>
      </p:sp>
      <p:sp>
        <p:nvSpPr>
          <p:cNvPr id="11" name="">
            <a:extLst xmlns:a="http://schemas.openxmlformats.org/drawingml/2006/main">
              <a:ext uri="{FF2B5EF4-FFF2-40B4-BE49-F238E27FC236}">
                <a16:creationId xmlns:a16="http://schemas.microsoft.com/office/drawing/2014/main" id="{E13BFF09-4BAE-49D0-93B6-BA66969B853F}"/>
              </a:ext>
            </a:extLst>
          </p:cNvPr>
          <p:cNvSpPr>
            <a:spLocks xmlns:a="http://schemas.openxmlformats.org/drawingml/2006/main" noGrp="1"/>
          </p:cNvSpPr>
          <p:nvPr/>
        </p:nvSpPr>
        <p:spPr>
          <a:xfrm xmlns:a="http://schemas.openxmlformats.org/drawingml/2006/main">
            <a:off x="6010275" y="5095875"/>
            <a:ext cx="5572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D6570"/>
                </a:solidFill>
                <a:latin typeface="Aptos"/>
                <a:ea typeface="Aptos"/>
                <a:cs typeface="Aptos"/>
              </a:defRPr>
            </a:pPr>
            <a:r>
              <a:rPr sz="1350" b="0">
                <a:solidFill>
                  <a:srgbClr val="5D6570"/>
                </a:solidFill>
                <a:latin typeface="Aptos"/>
                <a:ea typeface="Aptos"/>
                <a:cs typeface="Aptos"/>
              </a:rPr>
              <a:t>Sentidos de ida/vuelta, ficha de servicio y trazado. La ruta N40 es un registro de prueba sin abordajes verificados.</a:t>
            </a:r>
          </a:p>
        </p:txBody>
      </p:sp>
      <p:sp>
        <p:nvSpPr>
          <p:cNvPr id="12" name="">
            <a:extLst xmlns:a="http://schemas.openxmlformats.org/drawingml/2006/main">
              <a:ext uri="{FF2B5EF4-FFF2-40B4-BE49-F238E27FC236}">
                <a16:creationId xmlns:a16="http://schemas.microsoft.com/office/drawing/2014/main" id="{8A43C201-A1D3-4EAD-AF5E-828CF5379EE2}"/>
              </a:ext>
            </a:extLst>
          </p:cNvPr>
          <p:cNvSpPr>
            <a:spLocks xmlns:a="http://schemas.openxmlformats.org/drawingml/2006/main" noGrp="1"/>
          </p:cNvSpPr>
          <p:nvPr/>
        </p:nvSpPr>
        <p:spPr>
          <a:xfrm xmlns:a="http://schemas.openxmlformats.org/drawingml/2006/main">
            <a:off x="571500" y="6029325"/>
            <a:ext cx="11010900" cy="333375"/>
          </a:xfrm>
          <a:prstGeom xmlns:a="http://schemas.openxmlformats.org/drawingml/2006/main" prst="roundRect">
            <a:avLst>
              <a:gd name="adj" fmla="val 22857"/>
            </a:avLst>
          </a:prstGeom>
          <a:solidFill xmlns:a="http://schemas.openxmlformats.org/drawingml/2006/main">
            <a:srgbClr val="FBF5E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0B85C78-5346-4E18-9AC8-FF869F6C96CD}"/>
              </a:ext>
            </a:extLst>
          </p:cNvPr>
          <p:cNvSpPr>
            <a:spLocks xmlns:a="http://schemas.openxmlformats.org/drawingml/2006/main" noGrp="1"/>
          </p:cNvSpPr>
          <p:nvPr/>
        </p:nvSpPr>
        <p:spPr>
          <a:xfrm xmlns:a="http://schemas.openxmlformats.org/drawingml/2006/main">
            <a:off x="685800" y="6105525"/>
            <a:ext cx="107823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76551E"/>
                </a:solidFill>
                <a:latin typeface="Aptos"/>
                <a:ea typeface="Aptos"/>
                <a:cs typeface="Aptos"/>
              </a:defRPr>
            </a:pPr>
            <a:r>
              <a:rPr sz="1125" b="1">
                <a:solidFill>
                  <a:srgbClr val="76551E"/>
                </a:solidFill>
                <a:latin typeface="Aptos"/>
                <a:ea typeface="Aptos"/>
                <a:cs typeface="Aptos"/>
              </a:rPr>
              <a:t>Laboratorio interno: compara población alcanzada, intervalos, flota, costo y efectos por zona; requiere datos de campo para decisiones definitivas.</a:t>
            </a:r>
          </a:p>
        </p:txBody>
      </p:sp>
    </p:spTree>
    <p:extLst>
      <p:ext uri="{BB962C8B-B14F-4D97-AF65-F5344CB8AC3E}">
        <p14:creationId xmlns:p14="http://schemas.microsoft.com/office/powerpoint/2010/main" val="196399241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2C0CE57-7AE4-499A-A94D-B78B98F34683}"/>
              </a:ext>
            </a:extLst>
          </p:cNvPr>
          <p:cNvSpPr>
            <a:spLocks xmlns:a="http://schemas.openxmlformats.org/drawingml/2006/main" noGrp="1"/>
          </p:cNvSpPr>
          <p:nvPr/>
        </p:nvSpPr>
        <p:spPr>
          <a:xfrm xmlns:a="http://schemas.openxmlformats.org/drawingml/2006/main">
            <a:off x="571500" y="3238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Método: comparar una ruta base con una alternativa</a:t>
            </a:r>
          </a:p>
        </p:txBody>
      </p:sp>
      <p:sp>
        <p:nvSpPr>
          <p:cNvPr id="2" name="">
            <a:extLst xmlns:a="http://schemas.openxmlformats.org/drawingml/2006/main">
              <a:ext uri="{FF2B5EF4-FFF2-40B4-BE49-F238E27FC236}">
                <a16:creationId xmlns:a16="http://schemas.microsoft.com/office/drawing/2014/main" id="{A50C275F-35F3-4A05-B57D-1C905E09EC9B}"/>
              </a:ext>
            </a:extLst>
          </p:cNvPr>
          <p:cNvSpPr>
            <a:spLocks xmlns:a="http://schemas.openxmlformats.org/drawingml/2006/main" noGrp="1"/>
          </p:cNvSpPr>
          <p:nvPr/>
        </p:nvSpPr>
        <p:spPr>
          <a:xfrm xmlns:a="http://schemas.openxmlformats.org/drawingml/2006/main">
            <a:off x="11125200" y="4476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06</a:t>
            </a:r>
          </a:p>
        </p:txBody>
      </p:sp>
      <p:sp>
        <p:nvSpPr>
          <p:cNvPr id="3" name="">
            <a:extLst xmlns:a="http://schemas.openxmlformats.org/drawingml/2006/main">
              <a:ext uri="{FF2B5EF4-FFF2-40B4-BE49-F238E27FC236}">
                <a16:creationId xmlns:a16="http://schemas.microsoft.com/office/drawing/2014/main" id="{B3E91808-2004-4115-AE5A-47260405CACE}"/>
              </a:ext>
            </a:extLst>
          </p:cNvPr>
          <p:cNvSpPr>
            <a:spLocks xmlns:a="http://schemas.openxmlformats.org/drawingml/2006/main" noGrp="1"/>
          </p:cNvSpPr>
          <p:nvPr/>
        </p:nvSpPr>
        <p:spPr>
          <a:xfrm xmlns:a="http://schemas.openxmlformats.org/drawingml/2006/main">
            <a:off x="571500" y="981075"/>
            <a:ext cx="11029950" cy="0"/>
          </a:xfrm>
          <a:prstGeom xmlns:a="http://schemas.openxmlformats.org/drawingml/2006/main" prst="line">
            <a:avLst/>
          </a:prstGeom>
          <a:noFill xmlns:a="http://schemas.openxmlformats.org/drawingml/2006/main"/>
          <a:ln xmlns:a="http://schemas.openxmlformats.org/drawingml/2006/main" w="19050">
            <a:solidFill>
              <a:srgbClr val="DFE4EA"/>
            </a:solidFill>
            <a:prstDash val="solid"/>
          </a:ln>
        </p:spPr>
      </p:sp>
      <p:sp>
        <p:nvSpPr>
          <p:cNvPr id="4" name="">
            <a:extLst xmlns:a="http://schemas.openxmlformats.org/drawingml/2006/main">
              <a:ext uri="{FF2B5EF4-FFF2-40B4-BE49-F238E27FC236}">
                <a16:creationId xmlns:a16="http://schemas.microsoft.com/office/drawing/2014/main" id="{A1B33D94-2EAE-4E0F-9E2E-0F4D34048FA4}"/>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7A838F"/>
                </a:solidFill>
                <a:latin typeface="Aptos"/>
                <a:ea typeface="Aptos"/>
                <a:cs typeface="Aptos"/>
              </a:defRPr>
            </a:pPr>
            <a:r>
              <a:rPr sz="825" b="0">
                <a:solidFill>
                  <a:srgbClr val="7A838F"/>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9F9943EE-1FF2-43FD-83B3-3F2732334BDD}"/>
              </a:ext>
            </a:extLst>
          </p:cNvPr>
          <p:cNvSpPr>
            <a:spLocks xmlns:a="http://schemas.openxmlformats.org/drawingml/2006/main" noGrp="1"/>
          </p:cNvSpPr>
          <p:nvPr/>
        </p:nvSpPr>
        <p:spPr>
          <a:xfrm xmlns:a="http://schemas.openxmlformats.org/drawingml/2006/main">
            <a:off x="9105900" y="6515100"/>
            <a:ext cx="2457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a:solidFill>
                  <a:srgbClr val="7A838F"/>
                </a:solidFill>
                <a:latin typeface="Aptos"/>
                <a:ea typeface="Aptos"/>
                <a:cs typeface="Aptos"/>
              </a:defRPr>
            </a:pPr>
            <a:r>
              <a:rPr sz="825" b="0">
                <a:solidFill>
                  <a:srgbClr val="7A838F"/>
                </a:solidFill>
                <a:latin typeface="Aptos"/>
                <a:ea typeface="Aptos"/>
                <a:cs typeface="Aptos"/>
              </a:rPr>
              <a:t>FUENTES Y MÉTODO EN NOTAS</a:t>
            </a:r>
          </a:p>
        </p:txBody>
      </p:sp>
      <p:sp>
        <p:nvSpPr>
          <p:cNvPr id="6" name="">
            <a:extLst xmlns:a="http://schemas.openxmlformats.org/drawingml/2006/main">
              <a:ext uri="{FF2B5EF4-FFF2-40B4-BE49-F238E27FC236}">
                <a16:creationId xmlns:a16="http://schemas.microsoft.com/office/drawing/2014/main" id="{B62800B7-5E44-464E-9D16-3B325C246339}"/>
              </a:ext>
            </a:extLst>
          </p:cNvPr>
          <p:cNvSpPr>
            <a:spLocks xmlns:a="http://schemas.openxmlformats.org/drawingml/2006/main" noGrp="1"/>
          </p:cNvSpPr>
          <p:nvPr/>
        </p:nvSpPr>
        <p:spPr>
          <a:xfrm xmlns:a="http://schemas.openxmlformats.org/drawingml/2006/main">
            <a:off x="571500" y="1257300"/>
            <a:ext cx="2505075" cy="1438275"/>
          </a:xfrm>
          <a:prstGeom xmlns:a="http://schemas.openxmlformats.org/drawingml/2006/main" prst="roundRect">
            <a:avLst>
              <a:gd name="adj" fmla="val 7947"/>
            </a:avLst>
          </a:prstGeom>
          <a:solidFill xmlns:a="http://schemas.openxmlformats.org/drawingml/2006/main">
            <a:srgbClr val="EDF3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82A531C-03C2-4D1F-B3A2-E2006CBC68EB}"/>
              </a:ext>
            </a:extLst>
          </p:cNvPr>
          <p:cNvSpPr>
            <a:spLocks xmlns:a="http://schemas.openxmlformats.org/drawingml/2006/main" noGrp="1"/>
          </p:cNvSpPr>
          <p:nvPr/>
        </p:nvSpPr>
        <p:spPr>
          <a:xfrm xmlns:a="http://schemas.openxmlformats.org/drawingml/2006/main">
            <a:off x="733425" y="1409700"/>
            <a:ext cx="40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75CBA"/>
                </a:solidFill>
                <a:latin typeface="Aptos"/>
                <a:ea typeface="Aptos"/>
                <a:cs typeface="Aptos"/>
              </a:defRPr>
            </a:pPr>
            <a:r>
              <a:rPr sz="2025" b="1">
                <a:solidFill>
                  <a:srgbClr val="275CBA"/>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2D2ECD53-4FEC-41DA-9B05-385B33118D7E}"/>
              </a:ext>
            </a:extLst>
          </p:cNvPr>
          <p:cNvSpPr>
            <a:spLocks xmlns:a="http://schemas.openxmlformats.org/drawingml/2006/main" noGrp="1"/>
          </p:cNvSpPr>
          <p:nvPr/>
        </p:nvSpPr>
        <p:spPr>
          <a:xfrm xmlns:a="http://schemas.openxmlformats.org/drawingml/2006/main">
            <a:off x="1190625" y="1438275"/>
            <a:ext cx="1666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0252C"/>
                </a:solidFill>
                <a:latin typeface="Aptos"/>
                <a:ea typeface="Aptos"/>
                <a:cs typeface="Aptos"/>
              </a:defRPr>
            </a:pPr>
            <a:r>
              <a:rPr sz="1575" b="1">
                <a:solidFill>
                  <a:srgbClr val="20252C"/>
                </a:solidFill>
                <a:latin typeface="Aptos"/>
                <a:ea typeface="Aptos"/>
                <a:cs typeface="Aptos"/>
              </a:rPr>
              <a:t>Datos</a:t>
            </a:r>
          </a:p>
        </p:txBody>
      </p:sp>
      <p:sp>
        <p:nvSpPr>
          <p:cNvPr id="9" name="">
            <a:extLst xmlns:a="http://schemas.openxmlformats.org/drawingml/2006/main">
              <a:ext uri="{FF2B5EF4-FFF2-40B4-BE49-F238E27FC236}">
                <a16:creationId xmlns:a16="http://schemas.microsoft.com/office/drawing/2014/main" id="{FFABB233-EF6C-4651-922D-175A94733F08}"/>
              </a:ext>
            </a:extLst>
          </p:cNvPr>
          <p:cNvSpPr>
            <a:spLocks xmlns:a="http://schemas.openxmlformats.org/drawingml/2006/main" noGrp="1"/>
          </p:cNvSpPr>
          <p:nvPr/>
        </p:nvSpPr>
        <p:spPr>
          <a:xfrm xmlns:a="http://schemas.openxmlformats.org/drawingml/2006/main">
            <a:off x="733425" y="18669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D6570"/>
                </a:solidFill>
                <a:latin typeface="Aptos"/>
                <a:ea typeface="Aptos"/>
                <a:cs typeface="Aptos"/>
              </a:defRPr>
            </a:pPr>
            <a:r>
              <a:rPr sz="1200" b="0">
                <a:solidFill>
                  <a:srgbClr val="5D6570"/>
                </a:solidFill>
                <a:latin typeface="Aptos"/>
                <a:ea typeface="Aptos"/>
                <a:cs typeface="Aptos"/>
              </a:rPr>
              <a:t>Población conocida, abordajes, destinos, ruta de ida y vuelta.</a:t>
            </a:r>
          </a:p>
        </p:txBody>
      </p:sp>
      <p:sp>
        <p:nvSpPr>
          <p:cNvPr id="10" name="">
            <a:extLst xmlns:a="http://schemas.openxmlformats.org/drawingml/2006/main">
              <a:ext uri="{FF2B5EF4-FFF2-40B4-BE49-F238E27FC236}">
                <a16:creationId xmlns:a16="http://schemas.microsoft.com/office/drawing/2014/main" id="{4FDE6357-3A58-4070-BDA3-BAC7487FFB3F}"/>
              </a:ext>
            </a:extLst>
          </p:cNvPr>
          <p:cNvSpPr>
            <a:spLocks xmlns:a="http://schemas.openxmlformats.org/drawingml/2006/main" noGrp="1"/>
          </p:cNvSpPr>
          <p:nvPr/>
        </p:nvSpPr>
        <p:spPr>
          <a:xfrm xmlns:a="http://schemas.openxmlformats.org/drawingml/2006/main">
            <a:off x="3333750" y="1257300"/>
            <a:ext cx="2505075" cy="1438275"/>
          </a:xfrm>
          <a:prstGeom xmlns:a="http://schemas.openxmlformats.org/drawingml/2006/main" prst="roundRect">
            <a:avLst>
              <a:gd name="adj" fmla="val 7947"/>
            </a:avLst>
          </a:prstGeom>
          <a:solidFill xmlns:a="http://schemas.openxmlformats.org/drawingml/2006/main">
            <a:srgbClr val="F5F6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1BEEFBC-1887-44CD-9EA1-46841C2CC9C1}"/>
              </a:ext>
            </a:extLst>
          </p:cNvPr>
          <p:cNvSpPr>
            <a:spLocks xmlns:a="http://schemas.openxmlformats.org/drawingml/2006/main" noGrp="1"/>
          </p:cNvSpPr>
          <p:nvPr/>
        </p:nvSpPr>
        <p:spPr>
          <a:xfrm xmlns:a="http://schemas.openxmlformats.org/drawingml/2006/main">
            <a:off x="3495675" y="1409700"/>
            <a:ext cx="40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75CBA"/>
                </a:solidFill>
                <a:latin typeface="Aptos"/>
                <a:ea typeface="Aptos"/>
                <a:cs typeface="Aptos"/>
              </a:defRPr>
            </a:pPr>
            <a:r>
              <a:rPr sz="2025" b="1">
                <a:solidFill>
                  <a:srgbClr val="275CBA"/>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2CDA1DD1-B05E-4903-BDF1-D7765766B47B}"/>
              </a:ext>
            </a:extLst>
          </p:cNvPr>
          <p:cNvSpPr>
            <a:spLocks xmlns:a="http://schemas.openxmlformats.org/drawingml/2006/main" noGrp="1"/>
          </p:cNvSpPr>
          <p:nvPr/>
        </p:nvSpPr>
        <p:spPr>
          <a:xfrm xmlns:a="http://schemas.openxmlformats.org/drawingml/2006/main">
            <a:off x="3952875" y="1438275"/>
            <a:ext cx="1666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0252C"/>
                </a:solidFill>
                <a:latin typeface="Aptos"/>
                <a:ea typeface="Aptos"/>
                <a:cs typeface="Aptos"/>
              </a:defRPr>
            </a:pPr>
            <a:r>
              <a:rPr sz="1575" b="1">
                <a:solidFill>
                  <a:srgbClr val="20252C"/>
                </a:solidFill>
                <a:latin typeface="Aptos"/>
                <a:ea typeface="Aptos"/>
                <a:cs typeface="Aptos"/>
              </a:rPr>
              <a:t>Escenario</a:t>
            </a:r>
          </a:p>
        </p:txBody>
      </p:sp>
      <p:sp>
        <p:nvSpPr>
          <p:cNvPr id="13" name="">
            <a:extLst xmlns:a="http://schemas.openxmlformats.org/drawingml/2006/main">
              <a:ext uri="{FF2B5EF4-FFF2-40B4-BE49-F238E27FC236}">
                <a16:creationId xmlns:a16="http://schemas.microsoft.com/office/drawing/2014/main" id="{CED03296-DFCE-49D1-8287-D0695351AE48}"/>
              </a:ext>
            </a:extLst>
          </p:cNvPr>
          <p:cNvSpPr>
            <a:spLocks xmlns:a="http://schemas.openxmlformats.org/drawingml/2006/main" noGrp="1"/>
          </p:cNvSpPr>
          <p:nvPr/>
        </p:nvSpPr>
        <p:spPr>
          <a:xfrm xmlns:a="http://schemas.openxmlformats.org/drawingml/2006/main">
            <a:off x="3495675" y="18669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D6570"/>
                </a:solidFill>
                <a:latin typeface="Aptos"/>
                <a:ea typeface="Aptos"/>
                <a:cs typeface="Aptos"/>
              </a:defRPr>
            </a:pPr>
            <a:r>
              <a:rPr sz="1200" b="0">
                <a:solidFill>
                  <a:srgbClr val="5D6570"/>
                </a:solidFill>
                <a:latin typeface="Aptos"/>
                <a:ea typeface="Aptos"/>
                <a:cs typeface="Aptos"/>
              </a:rPr>
              <a:t>Modificar trazado o intervalo con la misma flota disponible.</a:t>
            </a:r>
          </a:p>
        </p:txBody>
      </p:sp>
      <p:sp>
        <p:nvSpPr>
          <p:cNvPr id="14" name="">
            <a:extLst xmlns:a="http://schemas.openxmlformats.org/drawingml/2006/main">
              <a:ext uri="{FF2B5EF4-FFF2-40B4-BE49-F238E27FC236}">
                <a16:creationId xmlns:a16="http://schemas.microsoft.com/office/drawing/2014/main" id="{4D5EDCEC-8DBD-4D6C-8CC8-0EF35201C50D}"/>
              </a:ext>
            </a:extLst>
          </p:cNvPr>
          <p:cNvSpPr>
            <a:spLocks xmlns:a="http://schemas.openxmlformats.org/drawingml/2006/main" noGrp="1"/>
          </p:cNvSpPr>
          <p:nvPr/>
        </p:nvSpPr>
        <p:spPr>
          <a:xfrm xmlns:a="http://schemas.openxmlformats.org/drawingml/2006/main">
            <a:off x="6096000" y="1257300"/>
            <a:ext cx="2505075" cy="1438275"/>
          </a:xfrm>
          <a:prstGeom xmlns:a="http://schemas.openxmlformats.org/drawingml/2006/main" prst="roundRect">
            <a:avLst>
              <a:gd name="adj" fmla="val 7947"/>
            </a:avLst>
          </a:prstGeom>
          <a:solidFill xmlns:a="http://schemas.openxmlformats.org/drawingml/2006/main">
            <a:srgbClr val="EDF3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2A7BC70-4183-4AD0-9DDB-DAE3E29D256F}"/>
              </a:ext>
            </a:extLst>
          </p:cNvPr>
          <p:cNvSpPr>
            <a:spLocks xmlns:a="http://schemas.openxmlformats.org/drawingml/2006/main" noGrp="1"/>
          </p:cNvSpPr>
          <p:nvPr/>
        </p:nvSpPr>
        <p:spPr>
          <a:xfrm xmlns:a="http://schemas.openxmlformats.org/drawingml/2006/main">
            <a:off x="6257925" y="1409700"/>
            <a:ext cx="40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75CBA"/>
                </a:solidFill>
                <a:latin typeface="Aptos"/>
                <a:ea typeface="Aptos"/>
                <a:cs typeface="Aptos"/>
              </a:defRPr>
            </a:pPr>
            <a:r>
              <a:rPr sz="2025" b="1">
                <a:solidFill>
                  <a:srgbClr val="275CBA"/>
                </a:solidFill>
                <a:latin typeface="Aptos"/>
                <a:ea typeface="Aptos"/>
                <a:cs typeface="Aptos"/>
              </a:rPr>
              <a:t>3</a:t>
            </a:r>
          </a:p>
        </p:txBody>
      </p:sp>
      <p:sp>
        <p:nvSpPr>
          <p:cNvPr id="16" name="">
            <a:extLst xmlns:a="http://schemas.openxmlformats.org/drawingml/2006/main">
              <a:ext uri="{FF2B5EF4-FFF2-40B4-BE49-F238E27FC236}">
                <a16:creationId xmlns:a16="http://schemas.microsoft.com/office/drawing/2014/main" id="{3A48A77F-D03F-4809-95F9-111C35A80751}"/>
              </a:ext>
            </a:extLst>
          </p:cNvPr>
          <p:cNvSpPr>
            <a:spLocks xmlns:a="http://schemas.openxmlformats.org/drawingml/2006/main" noGrp="1"/>
          </p:cNvSpPr>
          <p:nvPr/>
        </p:nvSpPr>
        <p:spPr>
          <a:xfrm xmlns:a="http://schemas.openxmlformats.org/drawingml/2006/main">
            <a:off x="6715125" y="1438275"/>
            <a:ext cx="1666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0252C"/>
                </a:solidFill>
                <a:latin typeface="Aptos"/>
                <a:ea typeface="Aptos"/>
                <a:cs typeface="Aptos"/>
              </a:defRPr>
            </a:pPr>
            <a:r>
              <a:rPr sz="1575" b="1">
                <a:solidFill>
                  <a:srgbClr val="20252C"/>
                </a:solidFill>
                <a:latin typeface="Aptos"/>
                <a:ea typeface="Aptos"/>
                <a:cs typeface="Aptos"/>
              </a:rPr>
              <a:t>Cálculo</a:t>
            </a:r>
          </a:p>
        </p:txBody>
      </p:sp>
      <p:sp>
        <p:nvSpPr>
          <p:cNvPr id="17" name="">
            <a:extLst xmlns:a="http://schemas.openxmlformats.org/drawingml/2006/main">
              <a:ext uri="{FF2B5EF4-FFF2-40B4-BE49-F238E27FC236}">
                <a16:creationId xmlns:a16="http://schemas.microsoft.com/office/drawing/2014/main" id="{B52CECCF-2E46-4145-9E92-3D21860974E5}"/>
              </a:ext>
            </a:extLst>
          </p:cNvPr>
          <p:cNvSpPr>
            <a:spLocks xmlns:a="http://schemas.openxmlformats.org/drawingml/2006/main" noGrp="1"/>
          </p:cNvSpPr>
          <p:nvPr/>
        </p:nvSpPr>
        <p:spPr>
          <a:xfrm xmlns:a="http://schemas.openxmlformats.org/drawingml/2006/main">
            <a:off x="6257925" y="18669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D6570"/>
                </a:solidFill>
                <a:latin typeface="Aptos"/>
                <a:ea typeface="Aptos"/>
                <a:cs typeface="Aptos"/>
              </a:defRPr>
            </a:pPr>
            <a:r>
              <a:rPr sz="1200" b="0">
                <a:solidFill>
                  <a:srgbClr val="5D6570"/>
                </a:solidFill>
                <a:latin typeface="Aptos"/>
                <a:ea typeface="Aptos"/>
                <a:cs typeface="Aptos"/>
              </a:rPr>
              <a:t>Acceso, ciclo, unidades requeridas, capacidad y costo.</a:t>
            </a:r>
          </a:p>
        </p:txBody>
      </p:sp>
      <p:sp>
        <p:nvSpPr>
          <p:cNvPr id="18" name="">
            <a:extLst xmlns:a="http://schemas.openxmlformats.org/drawingml/2006/main">
              <a:ext uri="{FF2B5EF4-FFF2-40B4-BE49-F238E27FC236}">
                <a16:creationId xmlns:a16="http://schemas.microsoft.com/office/drawing/2014/main" id="{AEDB708B-B666-4CF1-BA95-AD7C61AA42E6}"/>
              </a:ext>
            </a:extLst>
          </p:cNvPr>
          <p:cNvSpPr>
            <a:spLocks xmlns:a="http://schemas.openxmlformats.org/drawingml/2006/main" noGrp="1"/>
          </p:cNvSpPr>
          <p:nvPr/>
        </p:nvSpPr>
        <p:spPr>
          <a:xfrm xmlns:a="http://schemas.openxmlformats.org/drawingml/2006/main">
            <a:off x="8858250" y="1257300"/>
            <a:ext cx="2505075" cy="1438275"/>
          </a:xfrm>
          <a:prstGeom xmlns:a="http://schemas.openxmlformats.org/drawingml/2006/main" prst="roundRect">
            <a:avLst>
              <a:gd name="adj" fmla="val 7947"/>
            </a:avLst>
          </a:prstGeom>
          <a:solidFill xmlns:a="http://schemas.openxmlformats.org/drawingml/2006/main">
            <a:srgbClr val="F5F6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B2E79F3-AB67-43A7-A525-E4BEF65D41C7}"/>
              </a:ext>
            </a:extLst>
          </p:cNvPr>
          <p:cNvSpPr>
            <a:spLocks xmlns:a="http://schemas.openxmlformats.org/drawingml/2006/main" noGrp="1"/>
          </p:cNvSpPr>
          <p:nvPr/>
        </p:nvSpPr>
        <p:spPr>
          <a:xfrm xmlns:a="http://schemas.openxmlformats.org/drawingml/2006/main">
            <a:off x="9020175" y="1409700"/>
            <a:ext cx="40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75CBA"/>
                </a:solidFill>
                <a:latin typeface="Aptos"/>
                <a:ea typeface="Aptos"/>
                <a:cs typeface="Aptos"/>
              </a:defRPr>
            </a:pPr>
            <a:r>
              <a:rPr sz="2025" b="1">
                <a:solidFill>
                  <a:srgbClr val="275CBA"/>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A79EEB98-1FB5-4F3E-9544-E49A503A5495}"/>
              </a:ext>
            </a:extLst>
          </p:cNvPr>
          <p:cNvSpPr>
            <a:spLocks xmlns:a="http://schemas.openxmlformats.org/drawingml/2006/main" noGrp="1"/>
          </p:cNvSpPr>
          <p:nvPr/>
        </p:nvSpPr>
        <p:spPr>
          <a:xfrm xmlns:a="http://schemas.openxmlformats.org/drawingml/2006/main">
            <a:off x="9477375" y="1438275"/>
            <a:ext cx="1666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0252C"/>
                </a:solidFill>
                <a:latin typeface="Aptos"/>
                <a:ea typeface="Aptos"/>
                <a:cs typeface="Aptos"/>
              </a:defRPr>
            </a:pPr>
            <a:r>
              <a:rPr sz="1575" b="1">
                <a:solidFill>
                  <a:srgbClr val="20252C"/>
                </a:solidFill>
                <a:latin typeface="Aptos"/>
                <a:ea typeface="Aptos"/>
                <a:cs typeface="Aptos"/>
              </a:rPr>
              <a:t>Revisión</a:t>
            </a:r>
          </a:p>
        </p:txBody>
      </p:sp>
      <p:sp>
        <p:nvSpPr>
          <p:cNvPr id="21" name="">
            <a:extLst xmlns:a="http://schemas.openxmlformats.org/drawingml/2006/main">
              <a:ext uri="{FF2B5EF4-FFF2-40B4-BE49-F238E27FC236}">
                <a16:creationId xmlns:a16="http://schemas.microsoft.com/office/drawing/2014/main" id="{9D943D29-D35E-483E-A810-0ED0DC173679}"/>
              </a:ext>
            </a:extLst>
          </p:cNvPr>
          <p:cNvSpPr>
            <a:spLocks xmlns:a="http://schemas.openxmlformats.org/drawingml/2006/main" noGrp="1"/>
          </p:cNvSpPr>
          <p:nvPr/>
        </p:nvSpPr>
        <p:spPr>
          <a:xfrm xmlns:a="http://schemas.openxmlformats.org/drawingml/2006/main">
            <a:off x="9020175" y="18669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D6570"/>
                </a:solidFill>
                <a:latin typeface="Aptos"/>
                <a:ea typeface="Aptos"/>
                <a:cs typeface="Aptos"/>
              </a:defRPr>
            </a:pPr>
            <a:r>
              <a:rPr sz="1200" b="0">
                <a:solidFill>
                  <a:srgbClr val="5D6570"/>
                </a:solidFill>
                <a:latin typeface="Aptos"/>
                <a:ea typeface="Aptos"/>
                <a:cs typeface="Aptos"/>
              </a:rPr>
              <a:t>Comparar ganadores y pérdidas; verificar calle y operación.</a:t>
            </a:r>
          </a:p>
        </p:txBody>
      </p:sp>
      <p:sp>
        <p:nvSpPr>
          <p:cNvPr id="22" name="">
            <a:extLst xmlns:a="http://schemas.openxmlformats.org/drawingml/2006/main">
              <a:ext uri="{FF2B5EF4-FFF2-40B4-BE49-F238E27FC236}">
                <a16:creationId xmlns:a16="http://schemas.microsoft.com/office/drawing/2014/main" id="{6555DE1F-B026-40BA-B3C9-A539E94C5399}"/>
              </a:ext>
            </a:extLst>
          </p:cNvPr>
          <p:cNvSpPr>
            <a:spLocks xmlns:a="http://schemas.openxmlformats.org/drawingml/2006/main" noGrp="1"/>
          </p:cNvSpPr>
          <p:nvPr/>
        </p:nvSpPr>
        <p:spPr>
          <a:xfrm xmlns:a="http://schemas.openxmlformats.org/drawingml/2006/main">
            <a:off x="571500" y="2943225"/>
            <a:ext cx="11010900" cy="0"/>
          </a:xfrm>
          <a:prstGeom xmlns:a="http://schemas.openxmlformats.org/drawingml/2006/main" prst="line">
            <a:avLst/>
          </a:prstGeom>
          <a:noFill xmlns:a="http://schemas.openxmlformats.org/drawingml/2006/main"/>
          <a:ln xmlns:a="http://schemas.openxmlformats.org/drawingml/2006/main" w="19050">
            <a:solidFill>
              <a:srgbClr val="DFE4EA"/>
            </a:solidFill>
            <a:prstDash val="solid"/>
          </a:ln>
        </p:spPr>
      </p:sp>
      <p:sp>
        <p:nvSpPr>
          <p:cNvPr id="23" name="">
            <a:extLst xmlns:a="http://schemas.openxmlformats.org/drawingml/2006/main">
              <a:ext uri="{FF2B5EF4-FFF2-40B4-BE49-F238E27FC236}">
                <a16:creationId xmlns:a16="http://schemas.microsoft.com/office/drawing/2014/main" id="{95B31B61-203B-4551-BC58-65639A413B15}"/>
              </a:ext>
            </a:extLst>
          </p:cNvPr>
          <p:cNvSpPr>
            <a:spLocks xmlns:a="http://schemas.openxmlformats.org/drawingml/2006/main" noGrp="1"/>
          </p:cNvSpPr>
          <p:nvPr/>
        </p:nvSpPr>
        <p:spPr>
          <a:xfrm xmlns:a="http://schemas.openxmlformats.org/drawingml/2006/main">
            <a:off x="571500" y="3200400"/>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275CBA"/>
                </a:solidFill>
                <a:latin typeface="Aptos"/>
                <a:ea typeface="Aptos"/>
                <a:cs typeface="Aptos"/>
              </a:defRPr>
            </a:pPr>
            <a:r>
              <a:rPr sz="975" b="1">
                <a:solidFill>
                  <a:srgbClr val="275CBA"/>
                </a:solidFill>
                <a:latin typeface="Aptos"/>
                <a:ea typeface="Aptos"/>
                <a:cs typeface="Aptos"/>
              </a:rPr>
              <a:t>ECUACIONES DEL COMPARADOR</a:t>
            </a:r>
          </a:p>
        </p:txBody>
      </p:sp>
      <p:graphicFrame>
        <p:nvGraphicFramePr>
          <p:cNvPr id="54" name=""/>
          <p:cNvGraphicFramePr/>
          <p:nvPr/>
        </p:nvGraphicFramePr>
        <p:xfrm>
          <a:off xmlns:a="http://schemas.openxmlformats.org/drawingml/2006/main" x="571500" y="3552825"/>
          <a:ext xmlns:a="http://schemas.openxmlformats.org/drawingml/2006/main" cx="7458075" cy="2409825"/>
        </p:xfrm>
        <a:graphic xmlns:a="http://schemas.openxmlformats.org/drawingml/2006/main">
          <a:graphicData uri="http://schemas.openxmlformats.org/drawingml/2006/table">
            <a:tbl>
              <a:tblPr/>
              <a:tblGrid>
                <a:gridCol w="2190750"/>
                <a:gridCol w="5267325"/>
              </a:tblGrid>
              <a:tr h="481965">
                <a:tc>
                  <a:txBody>
                    <a:bodyPr wrap="square" lIns="76200" tIns="47625" rIns="66675" bIns="47625">
                      <a:normAutofit/>
                    </a:bodyPr>
                    <a:lstStyle/>
                    <a:p>
                      <a:r>
                        <a:rPr sz="1125" b="1">
                          <a:solidFill>
                            <a:srgbClr val="FFFFFF"/>
                          </a:solidFill>
                          <a:latin typeface="Aptos"/>
                          <a:ea typeface="Aptos"/>
                          <a:cs typeface="Aptos"/>
                        </a:rPr>
                        <a:t>Medida</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Cálculo</a:t>
                      </a:r>
                    </a:p>
                  </a:txBody>
                  <a:tcPr marL="91440" marR="91440" marT="45720" marB="45720" anchor="ctr">
                    <a:solidFill>
                      <a:srgbClr val="17202B"/>
                    </a:solidFill>
                  </a:tcPr>
                </a:tc>
              </a:tr>
              <a:tr h="481965">
                <a:tc>
                  <a:txBody>
                    <a:bodyPr wrap="square" lIns="76200" tIns="47625" rIns="66675" bIns="47625">
                      <a:normAutofit/>
                    </a:bodyPr>
                    <a:lstStyle/>
                    <a:p>
                      <a:r>
                        <a:rPr sz="1200" b="0">
                          <a:solidFill>
                            <a:srgbClr val="20252C"/>
                          </a:solidFill>
                          <a:latin typeface="Aptos"/>
                          <a:ea typeface="Aptos"/>
                          <a:cs typeface="Aptos"/>
                        </a:rPr>
                        <a:t>Ciclo (min)</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(km ida + vuelta) / velocidad comercial × 60 + regulación + demora</a:t>
                      </a:r>
                    </a:p>
                  </a:txBody>
                  <a:tcPr marL="91440" marR="91440" marT="45720" marB="45720" anchor="ctr">
                    <a:solidFill>
                      <a:srgbClr val="FFFFFF"/>
                    </a:solidFill>
                  </a:tcPr>
                </a:tc>
              </a:tr>
              <a:tr h="481965">
                <a:tc>
                  <a:txBody>
                    <a:bodyPr wrap="square" lIns="76200" tIns="47625" rIns="66675" bIns="47625">
                      <a:normAutofit/>
                    </a:bodyPr>
                    <a:lstStyle/>
                    <a:p>
                      <a:r>
                        <a:rPr sz="1200" b="0">
                          <a:solidFill>
                            <a:srgbClr val="20252C"/>
                          </a:solidFill>
                          <a:latin typeface="Aptos"/>
                          <a:ea typeface="Aptos"/>
                          <a:cs typeface="Aptos"/>
                        </a:rPr>
                        <a:t>Unidades necesarias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techo(ciclo / intervalo solicitado); reserva fuera de servicio</a:t>
                      </a:r>
                    </a:p>
                  </a:txBody>
                  <a:tcPr marL="91440" marR="91440" marT="45720" marB="45720" anchor="ctr">
                    <a:solidFill>
                      <a:srgbClr val="F5F6F8"/>
                    </a:solidFill>
                  </a:tcPr>
                </a:tc>
              </a:tr>
              <a:tr h="481965">
                <a:tc>
                  <a:txBody>
                    <a:bodyPr wrap="square" lIns="76200" tIns="47625" rIns="66675" bIns="47625">
                      <a:normAutofit/>
                    </a:bodyPr>
                    <a:lstStyle/>
                    <a:p>
                      <a:r>
                        <a:rPr sz="1200" b="0">
                          <a:solidFill>
                            <a:srgbClr val="20252C"/>
                          </a:solidFill>
                          <a:latin typeface="Aptos"/>
                          <a:ea typeface="Aptos"/>
                          <a:cs typeface="Aptos"/>
                        </a:rPr>
                        <a:t>Oferta por hora y sentido</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60 / intervalo sostenible × capacidad habilitada por unidad</a:t>
                      </a:r>
                    </a:p>
                  </a:txBody>
                  <a:tcPr marL="91440" marR="91440" marT="45720" marB="45720" anchor="ctr">
                    <a:solidFill>
                      <a:srgbClr val="FFFFFF"/>
                    </a:solidFill>
                  </a:tcPr>
                </a:tc>
              </a:tr>
              <a:tr h="481965">
                <a:tc>
                  <a:txBody>
                    <a:bodyPr wrap="square" lIns="76200" tIns="47625" rIns="66675" bIns="47625">
                      <a:normAutofit/>
                    </a:bodyPr>
                    <a:lstStyle/>
                    <a:p>
                      <a:r>
                        <a:rPr sz="1200" b="0">
                          <a:solidFill>
                            <a:srgbClr val="20252C"/>
                          </a:solidFill>
                          <a:latin typeface="Aptos"/>
                          <a:ea typeface="Aptos"/>
                          <a:cs typeface="Aptos"/>
                        </a:rPr>
                        <a:t>Acceso completo</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caminar a parada + espera + viaje + caminar al destino</a:t>
                      </a:r>
                    </a:p>
                  </a:txBody>
                  <a:tcPr marL="91440" marR="91440" marT="45720" marB="45720" anchor="ctr">
                    <a:solidFill>
                      <a:srgbClr val="F5F6F8"/>
                    </a:solidFill>
                  </a:tcPr>
                </a:tc>
              </a:tr>
            </a:tbl>
          </a:graphicData>
        </a:graphic>
      </p:graphicFrame>
      <p:sp>
        <p:nvSpPr>
          <p:cNvPr id="25" name="">
            <a:extLst xmlns:a="http://schemas.openxmlformats.org/drawingml/2006/main">
              <a:ext uri="{FF2B5EF4-FFF2-40B4-BE49-F238E27FC236}">
                <a16:creationId xmlns:a16="http://schemas.microsoft.com/office/drawing/2014/main" id="{FBCBA103-F42F-42B9-83F8-BF379FAB4D69}"/>
              </a:ext>
            </a:extLst>
          </p:cNvPr>
          <p:cNvSpPr>
            <a:spLocks xmlns:a="http://schemas.openxmlformats.org/drawingml/2006/main" noGrp="1"/>
          </p:cNvSpPr>
          <p:nvPr/>
        </p:nvSpPr>
        <p:spPr>
          <a:xfrm xmlns:a="http://schemas.openxmlformats.org/drawingml/2006/main">
            <a:off x="8277225" y="3552825"/>
            <a:ext cx="3305175" cy="2409825"/>
          </a:xfrm>
          <a:prstGeom xmlns:a="http://schemas.openxmlformats.org/drawingml/2006/main" prst="roundRect">
            <a:avLst>
              <a:gd name="adj" fmla="val 5138"/>
            </a:avLst>
          </a:prstGeom>
          <a:solidFill xmlns:a="http://schemas.openxmlformats.org/drawingml/2006/main">
            <a:srgbClr val="EAF7F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09C05D6-41CB-4F21-A108-94907E66E893}"/>
              </a:ext>
            </a:extLst>
          </p:cNvPr>
          <p:cNvSpPr>
            <a:spLocks xmlns:a="http://schemas.openxmlformats.org/drawingml/2006/main" noGrp="1"/>
          </p:cNvSpPr>
          <p:nvPr/>
        </p:nvSpPr>
        <p:spPr>
          <a:xfrm xmlns:a="http://schemas.openxmlformats.org/drawingml/2006/main">
            <a:off x="8467725" y="3733800"/>
            <a:ext cx="276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C806A"/>
                </a:solidFill>
                <a:latin typeface="Aptos"/>
                <a:ea typeface="Aptos"/>
                <a:cs typeface="Aptos"/>
              </a:defRPr>
            </a:pPr>
            <a:r>
              <a:rPr sz="975" b="1">
                <a:solidFill>
                  <a:srgbClr val="1C806A"/>
                </a:solidFill>
                <a:latin typeface="Aptos"/>
                <a:ea typeface="Aptos"/>
                <a:cs typeface="Aptos"/>
              </a:rPr>
              <a:t>EJEMPLO ILUSTRATIVO</a:t>
            </a:r>
          </a:p>
        </p:txBody>
      </p:sp>
      <p:sp>
        <p:nvSpPr>
          <p:cNvPr id="27" name="">
            <a:extLst xmlns:a="http://schemas.openxmlformats.org/drawingml/2006/main">
              <a:ext uri="{FF2B5EF4-FFF2-40B4-BE49-F238E27FC236}">
                <a16:creationId xmlns:a16="http://schemas.microsoft.com/office/drawing/2014/main" id="{F562804B-30ED-4798-94A5-93C21802E463}"/>
              </a:ext>
            </a:extLst>
          </p:cNvPr>
          <p:cNvSpPr>
            <a:spLocks xmlns:a="http://schemas.openxmlformats.org/drawingml/2006/main" noGrp="1"/>
          </p:cNvSpPr>
          <p:nvPr/>
        </p:nvSpPr>
        <p:spPr>
          <a:xfrm xmlns:a="http://schemas.openxmlformats.org/drawingml/2006/main">
            <a:off x="8467725" y="4124325"/>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C806A"/>
                </a:solidFill>
                <a:latin typeface="Aptos"/>
                <a:ea typeface="Aptos"/>
                <a:cs typeface="Aptos"/>
              </a:defRPr>
            </a:pPr>
            <a:r>
              <a:rPr sz="2250" b="1">
                <a:solidFill>
                  <a:srgbClr val="1C806A"/>
                </a:solidFill>
                <a:latin typeface="Aptos"/>
                <a:ea typeface="Aptos"/>
                <a:cs typeface="Aptos"/>
              </a:rPr>
              <a:t>13 km</a:t>
            </a:r>
          </a:p>
        </p:txBody>
      </p:sp>
      <p:sp>
        <p:nvSpPr>
          <p:cNvPr id="28" name="">
            <a:extLst xmlns:a="http://schemas.openxmlformats.org/drawingml/2006/main">
              <a:ext uri="{FF2B5EF4-FFF2-40B4-BE49-F238E27FC236}">
                <a16:creationId xmlns:a16="http://schemas.microsoft.com/office/drawing/2014/main" id="{631D38EC-D3B7-4935-80FC-C927856422D3}"/>
              </a:ext>
            </a:extLst>
          </p:cNvPr>
          <p:cNvSpPr>
            <a:spLocks xmlns:a="http://schemas.openxmlformats.org/drawingml/2006/main" noGrp="1"/>
          </p:cNvSpPr>
          <p:nvPr/>
        </p:nvSpPr>
        <p:spPr>
          <a:xfrm xmlns:a="http://schemas.openxmlformats.org/drawingml/2006/main">
            <a:off x="8467725" y="452437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20252C"/>
                </a:solidFill>
                <a:latin typeface="Aptos"/>
                <a:ea typeface="Aptos"/>
                <a:cs typeface="Aptos"/>
              </a:defRPr>
            </a:pPr>
            <a:r>
              <a:rPr sz="1275" b="0">
                <a:solidFill>
                  <a:srgbClr val="20252C"/>
                </a:solidFill>
                <a:latin typeface="Aptos"/>
                <a:ea typeface="Aptos"/>
                <a:cs typeface="Aptos"/>
              </a:rPr>
              <a:t>ida + vuelta a 15 km/h</a:t>
            </a:r>
          </a:p>
        </p:txBody>
      </p:sp>
      <p:sp>
        <p:nvSpPr>
          <p:cNvPr id="29" name="">
            <a:extLst xmlns:a="http://schemas.openxmlformats.org/drawingml/2006/main">
              <a:ext uri="{FF2B5EF4-FFF2-40B4-BE49-F238E27FC236}">
                <a16:creationId xmlns:a16="http://schemas.microsoft.com/office/drawing/2014/main" id="{1314EDCC-17EE-4FBC-B038-FC83D5EB242C}"/>
              </a:ext>
            </a:extLst>
          </p:cNvPr>
          <p:cNvSpPr>
            <a:spLocks xmlns:a="http://schemas.openxmlformats.org/drawingml/2006/main" noGrp="1"/>
          </p:cNvSpPr>
          <p:nvPr/>
        </p:nvSpPr>
        <p:spPr>
          <a:xfrm xmlns:a="http://schemas.openxmlformats.org/drawingml/2006/main">
            <a:off x="8467725" y="4905375"/>
            <a:ext cx="285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D6570"/>
                </a:solidFill>
                <a:latin typeface="Aptos"/>
                <a:ea typeface="Aptos"/>
                <a:cs typeface="Aptos"/>
              </a:defRPr>
            </a:pPr>
            <a:r>
              <a:rPr sz="1275" b="0">
                <a:solidFill>
                  <a:srgbClr val="5D6570"/>
                </a:solidFill>
                <a:latin typeface="Aptos"/>
                <a:ea typeface="Aptos"/>
                <a:cs typeface="Aptos"/>
              </a:rPr>
              <a:t>+ 10 min de regulación = 62 min de ciclo</a:t>
            </a:r>
          </a:p>
        </p:txBody>
      </p:sp>
      <p:sp>
        <p:nvSpPr>
          <p:cNvPr id="30" name="">
            <a:extLst xmlns:a="http://schemas.openxmlformats.org/drawingml/2006/main">
              <a:ext uri="{FF2B5EF4-FFF2-40B4-BE49-F238E27FC236}">
                <a16:creationId xmlns:a16="http://schemas.microsoft.com/office/drawing/2014/main" id="{B302AA6E-54AD-4264-B35F-D23C8C652EF3}"/>
              </a:ext>
            </a:extLst>
          </p:cNvPr>
          <p:cNvSpPr>
            <a:spLocks xmlns:a="http://schemas.openxmlformats.org/drawingml/2006/main" noGrp="1"/>
          </p:cNvSpPr>
          <p:nvPr/>
        </p:nvSpPr>
        <p:spPr>
          <a:xfrm xmlns:a="http://schemas.openxmlformats.org/drawingml/2006/main">
            <a:off x="8467725" y="5534025"/>
            <a:ext cx="285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20252C"/>
                </a:solidFill>
                <a:latin typeface="Aptos"/>
                <a:ea typeface="Aptos"/>
                <a:cs typeface="Aptos"/>
              </a:defRPr>
            </a:pPr>
            <a:r>
              <a:rPr sz="1200" b="1">
                <a:solidFill>
                  <a:srgbClr val="20252C"/>
                </a:solidFill>
                <a:latin typeface="Aptos"/>
                <a:ea typeface="Aptos"/>
                <a:cs typeface="Aptos"/>
              </a:rPr>
              <a:t>A 8 min: 8 unidades; con 16 plazas: 120 plazas/h por sentido.</a:t>
            </a:r>
          </a:p>
        </p:txBody>
      </p:sp>
    </p:spTree>
    <p:extLst>
      <p:ext uri="{BB962C8B-B14F-4D97-AF65-F5344CB8AC3E}">
        <p14:creationId xmlns:p14="http://schemas.microsoft.com/office/powerpoint/2010/main" val="208382747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BA82EE2A-E3F3-46EC-BB68-D7114C763424}"/>
              </a:ext>
            </a:extLst>
          </p:cNvPr>
          <p:cNvSpPr>
            <a:spLocks xmlns:a="http://schemas.openxmlformats.org/drawingml/2006/main" noGrp="1"/>
          </p:cNvSpPr>
          <p:nvPr/>
        </p:nvSpPr>
        <p:spPr>
          <a:xfrm xmlns:a="http://schemas.openxmlformats.org/drawingml/2006/main">
            <a:off x="571500" y="3238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Siguiente etapa: congestión por tramo y franja horaria</a:t>
            </a:r>
          </a:p>
        </p:txBody>
      </p:sp>
      <p:sp>
        <p:nvSpPr>
          <p:cNvPr id="2" name="">
            <a:extLst xmlns:a="http://schemas.openxmlformats.org/drawingml/2006/main">
              <a:ext uri="{FF2B5EF4-FFF2-40B4-BE49-F238E27FC236}">
                <a16:creationId xmlns:a16="http://schemas.microsoft.com/office/drawing/2014/main" id="{3498B2AE-43A6-4467-80A9-FFEB1D37D72D}"/>
              </a:ext>
            </a:extLst>
          </p:cNvPr>
          <p:cNvSpPr>
            <a:spLocks xmlns:a="http://schemas.openxmlformats.org/drawingml/2006/main" noGrp="1"/>
          </p:cNvSpPr>
          <p:nvPr/>
        </p:nvSpPr>
        <p:spPr>
          <a:xfrm xmlns:a="http://schemas.openxmlformats.org/drawingml/2006/main">
            <a:off x="11125200" y="4476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07</a:t>
            </a:r>
          </a:p>
        </p:txBody>
      </p:sp>
      <p:sp>
        <p:nvSpPr>
          <p:cNvPr id="3" name="">
            <a:extLst xmlns:a="http://schemas.openxmlformats.org/drawingml/2006/main">
              <a:ext uri="{FF2B5EF4-FFF2-40B4-BE49-F238E27FC236}">
                <a16:creationId xmlns:a16="http://schemas.microsoft.com/office/drawing/2014/main" id="{D38FD4CA-71F9-42F6-8670-CE0BAAA27B4D}"/>
              </a:ext>
            </a:extLst>
          </p:cNvPr>
          <p:cNvSpPr>
            <a:spLocks xmlns:a="http://schemas.openxmlformats.org/drawingml/2006/main" noGrp="1"/>
          </p:cNvSpPr>
          <p:nvPr/>
        </p:nvSpPr>
        <p:spPr>
          <a:xfrm xmlns:a="http://schemas.openxmlformats.org/drawingml/2006/main">
            <a:off x="571500" y="981075"/>
            <a:ext cx="11029950" cy="0"/>
          </a:xfrm>
          <a:prstGeom xmlns:a="http://schemas.openxmlformats.org/drawingml/2006/main" prst="line">
            <a:avLst/>
          </a:prstGeom>
          <a:noFill xmlns:a="http://schemas.openxmlformats.org/drawingml/2006/main"/>
          <a:ln xmlns:a="http://schemas.openxmlformats.org/drawingml/2006/main" w="19050">
            <a:solidFill>
              <a:srgbClr val="DFE4EA"/>
            </a:solidFill>
            <a:prstDash val="solid"/>
          </a:ln>
        </p:spPr>
      </p:sp>
      <p:sp>
        <p:nvSpPr>
          <p:cNvPr id="4" name="">
            <a:extLst xmlns:a="http://schemas.openxmlformats.org/drawingml/2006/main">
              <a:ext uri="{FF2B5EF4-FFF2-40B4-BE49-F238E27FC236}">
                <a16:creationId xmlns:a16="http://schemas.microsoft.com/office/drawing/2014/main" id="{FA84F62E-5B52-4EA6-9DC1-2CB997D9E8C6}"/>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7A838F"/>
                </a:solidFill>
                <a:latin typeface="Aptos"/>
                <a:ea typeface="Aptos"/>
                <a:cs typeface="Aptos"/>
              </a:defRPr>
            </a:pPr>
            <a:r>
              <a:rPr sz="825" b="0">
                <a:solidFill>
                  <a:srgbClr val="7A838F"/>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6CA66964-757E-447C-BACC-1489671C489A}"/>
              </a:ext>
            </a:extLst>
          </p:cNvPr>
          <p:cNvSpPr>
            <a:spLocks xmlns:a="http://schemas.openxmlformats.org/drawingml/2006/main" noGrp="1"/>
          </p:cNvSpPr>
          <p:nvPr/>
        </p:nvSpPr>
        <p:spPr>
          <a:xfrm xmlns:a="http://schemas.openxmlformats.org/drawingml/2006/main">
            <a:off x="9105900" y="6515100"/>
            <a:ext cx="2457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a:solidFill>
                  <a:srgbClr val="7A838F"/>
                </a:solidFill>
                <a:latin typeface="Aptos"/>
                <a:ea typeface="Aptos"/>
                <a:cs typeface="Aptos"/>
              </a:defRPr>
            </a:pPr>
            <a:r>
              <a:rPr sz="825" b="0">
                <a:solidFill>
                  <a:srgbClr val="7A838F"/>
                </a:solidFill>
                <a:latin typeface="Aptos"/>
                <a:ea typeface="Aptos"/>
                <a:cs typeface="Aptos"/>
              </a:rPr>
              <a:t>FUENTES Y MÉTODO EN NOTAS</a:t>
            </a:r>
          </a:p>
        </p:txBody>
      </p:sp>
      <p:sp>
        <p:nvSpPr>
          <p:cNvPr id="6" name="">
            <a:extLst xmlns:a="http://schemas.openxmlformats.org/drawingml/2006/main">
              <a:ext uri="{FF2B5EF4-FFF2-40B4-BE49-F238E27FC236}">
                <a16:creationId xmlns:a16="http://schemas.microsoft.com/office/drawing/2014/main" id="{46431B5B-4F13-4B27-B35F-F624CE6F3818}"/>
              </a:ext>
            </a:extLst>
          </p:cNvPr>
          <p:cNvSpPr>
            <a:spLocks xmlns:a="http://schemas.openxmlformats.org/drawingml/2006/main" noGrp="1"/>
          </p:cNvSpPr>
          <p:nvPr/>
        </p:nvSpPr>
        <p:spPr>
          <a:xfrm xmlns:a="http://schemas.openxmlformats.org/drawingml/2006/main">
            <a:off x="571500" y="1247775"/>
            <a:ext cx="3048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75CBA"/>
                </a:solidFill>
                <a:latin typeface="Aptos"/>
                <a:ea typeface="Aptos"/>
                <a:cs typeface="Aptos"/>
              </a:defRPr>
            </a:pPr>
            <a:r>
              <a:rPr sz="1650" b="1">
                <a:solidFill>
                  <a:srgbClr val="275CBA"/>
                </a:solidFill>
                <a:latin typeface="Aptos"/>
                <a:ea typeface="Aptos"/>
                <a:cs typeface="Aptos"/>
              </a:rPr>
              <a:t>Planteamiento técnico</a:t>
            </a:r>
          </a:p>
        </p:txBody>
      </p:sp>
      <p:sp>
        <p:nvSpPr>
          <p:cNvPr id="7" name="">
            <a:extLst xmlns:a="http://schemas.openxmlformats.org/drawingml/2006/main">
              <a:ext uri="{FF2B5EF4-FFF2-40B4-BE49-F238E27FC236}">
                <a16:creationId xmlns:a16="http://schemas.microsoft.com/office/drawing/2014/main" id="{89412E30-358E-4ABF-9282-110964341BAF}"/>
              </a:ext>
            </a:extLst>
          </p:cNvPr>
          <p:cNvSpPr>
            <a:spLocks xmlns:a="http://schemas.openxmlformats.org/drawingml/2006/main" noGrp="1"/>
          </p:cNvSpPr>
          <p:nvPr/>
        </p:nvSpPr>
        <p:spPr>
          <a:xfrm xmlns:a="http://schemas.openxmlformats.org/drawingml/2006/main">
            <a:off x="571500" y="1724025"/>
            <a:ext cx="457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75CBA"/>
                </a:solidFill>
                <a:latin typeface="Aptos"/>
                <a:ea typeface="Aptos"/>
                <a:cs typeface="Aptos"/>
              </a:defRPr>
            </a:pPr>
            <a:r>
              <a:rPr sz="1575" b="1">
                <a:solidFill>
                  <a:srgbClr val="275CBA"/>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8DB7E171-51D9-4EA7-94E7-2E7D1C059265}"/>
              </a:ext>
            </a:extLst>
          </p:cNvPr>
          <p:cNvSpPr>
            <a:spLocks xmlns:a="http://schemas.openxmlformats.org/drawingml/2006/main" noGrp="1"/>
          </p:cNvSpPr>
          <p:nvPr/>
        </p:nvSpPr>
        <p:spPr>
          <a:xfrm xmlns:a="http://schemas.openxmlformats.org/drawingml/2006/main">
            <a:off x="1085850" y="1724025"/>
            <a:ext cx="2095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0252C"/>
                </a:solidFill>
                <a:latin typeface="Aptos"/>
                <a:ea typeface="Aptos"/>
                <a:cs typeface="Aptos"/>
              </a:defRPr>
            </a:pPr>
            <a:r>
              <a:rPr sz="1500" b="1">
                <a:solidFill>
                  <a:srgbClr val="20252C"/>
                </a:solidFill>
                <a:latin typeface="Aptos"/>
                <a:ea typeface="Aptos"/>
                <a:cs typeface="Aptos"/>
              </a:rPr>
              <a:t>Segmentar</a:t>
            </a:r>
          </a:p>
        </p:txBody>
      </p:sp>
      <p:sp>
        <p:nvSpPr>
          <p:cNvPr id="9" name="">
            <a:extLst xmlns:a="http://schemas.openxmlformats.org/drawingml/2006/main">
              <a:ext uri="{FF2B5EF4-FFF2-40B4-BE49-F238E27FC236}">
                <a16:creationId xmlns:a16="http://schemas.microsoft.com/office/drawing/2014/main" id="{287D100C-2408-44AB-97A6-99C71FDE4DF3}"/>
              </a:ext>
            </a:extLst>
          </p:cNvPr>
          <p:cNvSpPr>
            <a:spLocks xmlns:a="http://schemas.openxmlformats.org/drawingml/2006/main" noGrp="1"/>
          </p:cNvSpPr>
          <p:nvPr/>
        </p:nvSpPr>
        <p:spPr>
          <a:xfrm xmlns:a="http://schemas.openxmlformats.org/drawingml/2006/main">
            <a:off x="3276600" y="1724025"/>
            <a:ext cx="4572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D6570"/>
                </a:solidFill>
                <a:latin typeface="Aptos"/>
                <a:ea typeface="Aptos"/>
                <a:cs typeface="Aptos"/>
              </a:defRPr>
            </a:pPr>
            <a:r>
              <a:rPr sz="1275" b="0">
                <a:solidFill>
                  <a:srgbClr val="5D6570"/>
                </a:solidFill>
                <a:latin typeface="Aptos"/>
                <a:ea typeface="Aptos"/>
                <a:cs typeface="Aptos"/>
              </a:rPr>
              <a:t>Dividir cada corredor en tramos cortos (p. ej., 100 m).</a:t>
            </a:r>
          </a:p>
        </p:txBody>
      </p:sp>
      <p:sp>
        <p:nvSpPr>
          <p:cNvPr id="10" name="">
            <a:extLst xmlns:a="http://schemas.openxmlformats.org/drawingml/2006/main">
              <a:ext uri="{FF2B5EF4-FFF2-40B4-BE49-F238E27FC236}">
                <a16:creationId xmlns:a16="http://schemas.microsoft.com/office/drawing/2014/main" id="{300D15A6-555E-4EA7-9248-A6B1748FC42B}"/>
              </a:ext>
            </a:extLst>
          </p:cNvPr>
          <p:cNvSpPr>
            <a:spLocks xmlns:a="http://schemas.openxmlformats.org/drawingml/2006/main" noGrp="1"/>
          </p:cNvSpPr>
          <p:nvPr/>
        </p:nvSpPr>
        <p:spPr>
          <a:xfrm xmlns:a="http://schemas.openxmlformats.org/drawingml/2006/main">
            <a:off x="571500" y="2286000"/>
            <a:ext cx="7086600" cy="0"/>
          </a:xfrm>
          <a:prstGeom xmlns:a="http://schemas.openxmlformats.org/drawingml/2006/main" prst="line">
            <a:avLst/>
          </a:prstGeom>
          <a:noFill xmlns:a="http://schemas.openxmlformats.org/drawingml/2006/main"/>
          <a:ln xmlns:a="http://schemas.openxmlformats.org/drawingml/2006/main" w="9525">
            <a:solidFill>
              <a:srgbClr val="DFE4EA"/>
            </a:solidFill>
            <a:prstDash val="solid"/>
          </a:ln>
        </p:spPr>
      </p:sp>
      <p:sp>
        <p:nvSpPr>
          <p:cNvPr id="11" name="">
            <a:extLst xmlns:a="http://schemas.openxmlformats.org/drawingml/2006/main">
              <a:ext uri="{FF2B5EF4-FFF2-40B4-BE49-F238E27FC236}">
                <a16:creationId xmlns:a16="http://schemas.microsoft.com/office/drawing/2014/main" id="{6035E31E-959D-4E0A-B7BA-30EF1A9B0E50}"/>
              </a:ext>
            </a:extLst>
          </p:cNvPr>
          <p:cNvSpPr>
            <a:spLocks xmlns:a="http://schemas.openxmlformats.org/drawingml/2006/main" noGrp="1"/>
          </p:cNvSpPr>
          <p:nvPr/>
        </p:nvSpPr>
        <p:spPr>
          <a:xfrm xmlns:a="http://schemas.openxmlformats.org/drawingml/2006/main">
            <a:off x="571500" y="2409825"/>
            <a:ext cx="457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75CBA"/>
                </a:solidFill>
                <a:latin typeface="Aptos"/>
                <a:ea typeface="Aptos"/>
                <a:cs typeface="Aptos"/>
              </a:defRPr>
            </a:pPr>
            <a:r>
              <a:rPr sz="1575" b="1">
                <a:solidFill>
                  <a:srgbClr val="275CBA"/>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567C5185-8727-4B0A-873C-42071A9E25B2}"/>
              </a:ext>
            </a:extLst>
          </p:cNvPr>
          <p:cNvSpPr>
            <a:spLocks xmlns:a="http://schemas.openxmlformats.org/drawingml/2006/main" noGrp="1"/>
          </p:cNvSpPr>
          <p:nvPr/>
        </p:nvSpPr>
        <p:spPr>
          <a:xfrm xmlns:a="http://schemas.openxmlformats.org/drawingml/2006/main">
            <a:off x="1085850" y="2409825"/>
            <a:ext cx="2095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0252C"/>
                </a:solidFill>
                <a:latin typeface="Aptos"/>
                <a:ea typeface="Aptos"/>
                <a:cs typeface="Aptos"/>
              </a:defRPr>
            </a:pPr>
            <a:r>
              <a:rPr sz="1500" b="1">
                <a:solidFill>
                  <a:srgbClr val="20252C"/>
                </a:solidFill>
                <a:latin typeface="Aptos"/>
                <a:ea typeface="Aptos"/>
                <a:cs typeface="Aptos"/>
              </a:rPr>
              <a:t>Aprender el patrón</a:t>
            </a:r>
          </a:p>
        </p:txBody>
      </p:sp>
      <p:sp>
        <p:nvSpPr>
          <p:cNvPr id="13" name="">
            <a:extLst xmlns:a="http://schemas.openxmlformats.org/drawingml/2006/main">
              <a:ext uri="{FF2B5EF4-FFF2-40B4-BE49-F238E27FC236}">
                <a16:creationId xmlns:a16="http://schemas.microsoft.com/office/drawing/2014/main" id="{765F07DE-F452-4C3E-AEBA-FDB04EBC2737}"/>
              </a:ext>
            </a:extLst>
          </p:cNvPr>
          <p:cNvSpPr>
            <a:spLocks xmlns:a="http://schemas.openxmlformats.org/drawingml/2006/main" noGrp="1"/>
          </p:cNvSpPr>
          <p:nvPr/>
        </p:nvSpPr>
        <p:spPr>
          <a:xfrm xmlns:a="http://schemas.openxmlformats.org/drawingml/2006/main">
            <a:off x="3276600" y="2409825"/>
            <a:ext cx="4572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D6570"/>
                </a:solidFill>
                <a:latin typeface="Aptos"/>
                <a:ea typeface="Aptos"/>
                <a:cs typeface="Aptos"/>
              </a:defRPr>
            </a:pPr>
            <a:r>
              <a:rPr sz="1275" b="0">
                <a:solidFill>
                  <a:srgbClr val="5D6570"/>
                </a:solidFill>
                <a:latin typeface="Aptos"/>
                <a:ea typeface="Aptos"/>
                <a:cs typeface="Aptos"/>
              </a:rPr>
              <a:t>Crear velocidad habitual por día de semana y franja horaria.</a:t>
            </a:r>
          </a:p>
        </p:txBody>
      </p:sp>
      <p:sp>
        <p:nvSpPr>
          <p:cNvPr id="14" name="">
            <a:extLst xmlns:a="http://schemas.openxmlformats.org/drawingml/2006/main">
              <a:ext uri="{FF2B5EF4-FFF2-40B4-BE49-F238E27FC236}">
                <a16:creationId xmlns:a16="http://schemas.microsoft.com/office/drawing/2014/main" id="{0883D5BC-714F-4AFE-B928-E558767549C4}"/>
              </a:ext>
            </a:extLst>
          </p:cNvPr>
          <p:cNvSpPr>
            <a:spLocks xmlns:a="http://schemas.openxmlformats.org/drawingml/2006/main" noGrp="1"/>
          </p:cNvSpPr>
          <p:nvPr/>
        </p:nvSpPr>
        <p:spPr>
          <a:xfrm xmlns:a="http://schemas.openxmlformats.org/drawingml/2006/main">
            <a:off x="571500" y="2971800"/>
            <a:ext cx="7086600" cy="0"/>
          </a:xfrm>
          <a:prstGeom xmlns:a="http://schemas.openxmlformats.org/drawingml/2006/main" prst="line">
            <a:avLst/>
          </a:prstGeom>
          <a:noFill xmlns:a="http://schemas.openxmlformats.org/drawingml/2006/main"/>
          <a:ln xmlns:a="http://schemas.openxmlformats.org/drawingml/2006/main" w="9525">
            <a:solidFill>
              <a:srgbClr val="DFE4EA"/>
            </a:solidFill>
            <a:prstDash val="solid"/>
          </a:ln>
        </p:spPr>
      </p:sp>
      <p:sp>
        <p:nvSpPr>
          <p:cNvPr id="15" name="">
            <a:extLst xmlns:a="http://schemas.openxmlformats.org/drawingml/2006/main">
              <a:ext uri="{FF2B5EF4-FFF2-40B4-BE49-F238E27FC236}">
                <a16:creationId xmlns:a16="http://schemas.microsoft.com/office/drawing/2014/main" id="{9DCCE77A-839C-4A85-A643-CEA62B8950E7}"/>
              </a:ext>
            </a:extLst>
          </p:cNvPr>
          <p:cNvSpPr>
            <a:spLocks xmlns:a="http://schemas.openxmlformats.org/drawingml/2006/main" noGrp="1"/>
          </p:cNvSpPr>
          <p:nvPr/>
        </p:nvSpPr>
        <p:spPr>
          <a:xfrm xmlns:a="http://schemas.openxmlformats.org/drawingml/2006/main">
            <a:off x="571500" y="3095625"/>
            <a:ext cx="457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75CBA"/>
                </a:solidFill>
                <a:latin typeface="Aptos"/>
                <a:ea typeface="Aptos"/>
                <a:cs typeface="Aptos"/>
              </a:defRPr>
            </a:pPr>
            <a:r>
              <a:rPr sz="1575" b="1">
                <a:solidFill>
                  <a:srgbClr val="275CBA"/>
                </a:solidFill>
                <a:latin typeface="Aptos"/>
                <a:ea typeface="Aptos"/>
                <a:cs typeface="Aptos"/>
              </a:rPr>
              <a:t>03</a:t>
            </a:r>
          </a:p>
        </p:txBody>
      </p:sp>
      <p:sp>
        <p:nvSpPr>
          <p:cNvPr id="16" name="">
            <a:extLst xmlns:a="http://schemas.openxmlformats.org/drawingml/2006/main">
              <a:ext uri="{FF2B5EF4-FFF2-40B4-BE49-F238E27FC236}">
                <a16:creationId xmlns:a16="http://schemas.microsoft.com/office/drawing/2014/main" id="{8649077F-73CA-431C-B24B-7620434C7CA1}"/>
              </a:ext>
            </a:extLst>
          </p:cNvPr>
          <p:cNvSpPr>
            <a:spLocks xmlns:a="http://schemas.openxmlformats.org/drawingml/2006/main" noGrp="1"/>
          </p:cNvSpPr>
          <p:nvPr/>
        </p:nvSpPr>
        <p:spPr>
          <a:xfrm xmlns:a="http://schemas.openxmlformats.org/drawingml/2006/main">
            <a:off x="1085850" y="3095625"/>
            <a:ext cx="2095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0252C"/>
                </a:solidFill>
                <a:latin typeface="Aptos"/>
                <a:ea typeface="Aptos"/>
                <a:cs typeface="Aptos"/>
              </a:defRPr>
            </a:pPr>
            <a:r>
              <a:rPr sz="1500" b="1">
                <a:solidFill>
                  <a:srgbClr val="20252C"/>
                </a:solidFill>
                <a:latin typeface="Aptos"/>
                <a:ea typeface="Aptos"/>
                <a:cs typeface="Aptos"/>
              </a:rPr>
              <a:t>Observar</a:t>
            </a:r>
          </a:p>
        </p:txBody>
      </p:sp>
      <p:sp>
        <p:nvSpPr>
          <p:cNvPr id="17" name="">
            <a:extLst xmlns:a="http://schemas.openxmlformats.org/drawingml/2006/main">
              <a:ext uri="{FF2B5EF4-FFF2-40B4-BE49-F238E27FC236}">
                <a16:creationId xmlns:a16="http://schemas.microsoft.com/office/drawing/2014/main" id="{2216CC4C-C89E-4E40-A10A-1628717F3898}"/>
              </a:ext>
            </a:extLst>
          </p:cNvPr>
          <p:cNvSpPr>
            <a:spLocks xmlns:a="http://schemas.openxmlformats.org/drawingml/2006/main" noGrp="1"/>
          </p:cNvSpPr>
          <p:nvPr/>
        </p:nvSpPr>
        <p:spPr>
          <a:xfrm xmlns:a="http://schemas.openxmlformats.org/drawingml/2006/main">
            <a:off x="3276600" y="3095625"/>
            <a:ext cx="4572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D6570"/>
                </a:solidFill>
                <a:latin typeface="Aptos"/>
                <a:ea typeface="Aptos"/>
                <a:cs typeface="Aptos"/>
              </a:defRPr>
            </a:pPr>
            <a:r>
              <a:rPr sz="1275" b="0">
                <a:solidFill>
                  <a:srgbClr val="5D6570"/>
                </a:solidFill>
                <a:latin typeface="Aptos"/>
                <a:ea typeface="Aptos"/>
                <a:cs typeface="Aptos"/>
              </a:rPr>
              <a:t>Asignar posiciones GPS a la calle y filtrar registros obsoletos.</a:t>
            </a:r>
          </a:p>
        </p:txBody>
      </p:sp>
      <p:sp>
        <p:nvSpPr>
          <p:cNvPr id="18" name="">
            <a:extLst xmlns:a="http://schemas.openxmlformats.org/drawingml/2006/main">
              <a:ext uri="{FF2B5EF4-FFF2-40B4-BE49-F238E27FC236}">
                <a16:creationId xmlns:a16="http://schemas.microsoft.com/office/drawing/2014/main" id="{283CFCEB-5661-497D-B8EF-8C00D8E03988}"/>
              </a:ext>
            </a:extLst>
          </p:cNvPr>
          <p:cNvSpPr>
            <a:spLocks xmlns:a="http://schemas.openxmlformats.org/drawingml/2006/main" noGrp="1"/>
          </p:cNvSpPr>
          <p:nvPr/>
        </p:nvSpPr>
        <p:spPr>
          <a:xfrm xmlns:a="http://schemas.openxmlformats.org/drawingml/2006/main">
            <a:off x="571500" y="3657600"/>
            <a:ext cx="7086600" cy="0"/>
          </a:xfrm>
          <a:prstGeom xmlns:a="http://schemas.openxmlformats.org/drawingml/2006/main" prst="line">
            <a:avLst/>
          </a:prstGeom>
          <a:noFill xmlns:a="http://schemas.openxmlformats.org/drawingml/2006/main"/>
          <a:ln xmlns:a="http://schemas.openxmlformats.org/drawingml/2006/main" w="9525">
            <a:solidFill>
              <a:srgbClr val="DFE4EA"/>
            </a:solidFill>
            <a:prstDash val="solid"/>
          </a:ln>
        </p:spPr>
      </p:sp>
      <p:sp>
        <p:nvSpPr>
          <p:cNvPr id="19" name="">
            <a:extLst xmlns:a="http://schemas.openxmlformats.org/drawingml/2006/main">
              <a:ext uri="{FF2B5EF4-FFF2-40B4-BE49-F238E27FC236}">
                <a16:creationId xmlns:a16="http://schemas.microsoft.com/office/drawing/2014/main" id="{91D7EDFF-00C8-4F68-B1CC-9952C2A9E13E}"/>
              </a:ext>
            </a:extLst>
          </p:cNvPr>
          <p:cNvSpPr>
            <a:spLocks xmlns:a="http://schemas.openxmlformats.org/drawingml/2006/main" noGrp="1"/>
          </p:cNvSpPr>
          <p:nvPr/>
        </p:nvSpPr>
        <p:spPr>
          <a:xfrm xmlns:a="http://schemas.openxmlformats.org/drawingml/2006/main">
            <a:off x="571500" y="3781425"/>
            <a:ext cx="457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75CBA"/>
                </a:solidFill>
                <a:latin typeface="Aptos"/>
                <a:ea typeface="Aptos"/>
                <a:cs typeface="Aptos"/>
              </a:defRPr>
            </a:pPr>
            <a:r>
              <a:rPr sz="1575" b="1">
                <a:solidFill>
                  <a:srgbClr val="275CBA"/>
                </a:solidFill>
                <a:latin typeface="Aptos"/>
                <a:ea typeface="Aptos"/>
                <a:cs typeface="Aptos"/>
              </a:rPr>
              <a:t>04</a:t>
            </a:r>
          </a:p>
        </p:txBody>
      </p:sp>
      <p:sp>
        <p:nvSpPr>
          <p:cNvPr id="20" name="">
            <a:extLst xmlns:a="http://schemas.openxmlformats.org/drawingml/2006/main">
              <a:ext uri="{FF2B5EF4-FFF2-40B4-BE49-F238E27FC236}">
                <a16:creationId xmlns:a16="http://schemas.microsoft.com/office/drawing/2014/main" id="{BA7F4623-909E-41F9-BB91-7FD708212584}"/>
              </a:ext>
            </a:extLst>
          </p:cNvPr>
          <p:cNvSpPr>
            <a:spLocks xmlns:a="http://schemas.openxmlformats.org/drawingml/2006/main" noGrp="1"/>
          </p:cNvSpPr>
          <p:nvPr/>
        </p:nvSpPr>
        <p:spPr>
          <a:xfrm xmlns:a="http://schemas.openxmlformats.org/drawingml/2006/main">
            <a:off x="1085850" y="3781425"/>
            <a:ext cx="2095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0252C"/>
                </a:solidFill>
                <a:latin typeface="Aptos"/>
                <a:ea typeface="Aptos"/>
                <a:cs typeface="Aptos"/>
              </a:defRPr>
            </a:pPr>
            <a:r>
              <a:rPr sz="1500" b="1">
                <a:solidFill>
                  <a:srgbClr val="20252C"/>
                </a:solidFill>
                <a:latin typeface="Aptos"/>
                <a:ea typeface="Aptos"/>
                <a:cs typeface="Aptos"/>
              </a:rPr>
              <a:t>Contrastar</a:t>
            </a:r>
          </a:p>
        </p:txBody>
      </p:sp>
      <p:sp>
        <p:nvSpPr>
          <p:cNvPr id="21" name="">
            <a:extLst xmlns:a="http://schemas.openxmlformats.org/drawingml/2006/main">
              <a:ext uri="{FF2B5EF4-FFF2-40B4-BE49-F238E27FC236}">
                <a16:creationId xmlns:a16="http://schemas.microsoft.com/office/drawing/2014/main" id="{381AD8B4-D4A4-4B9F-880F-A44CD7542D6F}"/>
              </a:ext>
            </a:extLst>
          </p:cNvPr>
          <p:cNvSpPr>
            <a:spLocks xmlns:a="http://schemas.openxmlformats.org/drawingml/2006/main" noGrp="1"/>
          </p:cNvSpPr>
          <p:nvPr/>
        </p:nvSpPr>
        <p:spPr>
          <a:xfrm xmlns:a="http://schemas.openxmlformats.org/drawingml/2006/main">
            <a:off x="3276600" y="3781425"/>
            <a:ext cx="4572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D6570"/>
                </a:solidFill>
                <a:latin typeface="Aptos"/>
                <a:ea typeface="Aptos"/>
                <a:cs typeface="Aptos"/>
              </a:defRPr>
            </a:pPr>
            <a:r>
              <a:rPr sz="1275" b="0">
                <a:solidFill>
                  <a:srgbClr val="5D6570"/>
                </a:solidFill>
                <a:latin typeface="Aptos"/>
                <a:ea typeface="Aptos"/>
                <a:cs typeface="Aptos"/>
              </a:rPr>
              <a:t>Comparar mediana reciente con mediana histórica del mismo contexto.</a:t>
            </a:r>
          </a:p>
        </p:txBody>
      </p:sp>
      <p:sp>
        <p:nvSpPr>
          <p:cNvPr id="22" name="">
            <a:extLst xmlns:a="http://schemas.openxmlformats.org/drawingml/2006/main">
              <a:ext uri="{FF2B5EF4-FFF2-40B4-BE49-F238E27FC236}">
                <a16:creationId xmlns:a16="http://schemas.microsoft.com/office/drawing/2014/main" id="{E28283FA-3A69-4310-9FD0-E21D2D9E4410}"/>
              </a:ext>
            </a:extLst>
          </p:cNvPr>
          <p:cNvSpPr>
            <a:spLocks xmlns:a="http://schemas.openxmlformats.org/drawingml/2006/main" noGrp="1"/>
          </p:cNvSpPr>
          <p:nvPr/>
        </p:nvSpPr>
        <p:spPr>
          <a:xfrm xmlns:a="http://schemas.openxmlformats.org/drawingml/2006/main">
            <a:off x="571500" y="4343400"/>
            <a:ext cx="7086600" cy="0"/>
          </a:xfrm>
          <a:prstGeom xmlns:a="http://schemas.openxmlformats.org/drawingml/2006/main" prst="line">
            <a:avLst/>
          </a:prstGeom>
          <a:noFill xmlns:a="http://schemas.openxmlformats.org/drawingml/2006/main"/>
          <a:ln xmlns:a="http://schemas.openxmlformats.org/drawingml/2006/main" w="9525">
            <a:solidFill>
              <a:srgbClr val="DFE4EA"/>
            </a:solidFill>
            <a:prstDash val="solid"/>
          </a:ln>
        </p:spPr>
      </p:sp>
      <p:sp>
        <p:nvSpPr>
          <p:cNvPr id="23" name="">
            <a:extLst xmlns:a="http://schemas.openxmlformats.org/drawingml/2006/main">
              <a:ext uri="{FF2B5EF4-FFF2-40B4-BE49-F238E27FC236}">
                <a16:creationId xmlns:a16="http://schemas.microsoft.com/office/drawing/2014/main" id="{CB82B13F-6623-4AED-A197-0F976CD6A66F}"/>
              </a:ext>
            </a:extLst>
          </p:cNvPr>
          <p:cNvSpPr>
            <a:spLocks xmlns:a="http://schemas.openxmlformats.org/drawingml/2006/main" noGrp="1"/>
          </p:cNvSpPr>
          <p:nvPr/>
        </p:nvSpPr>
        <p:spPr>
          <a:xfrm xmlns:a="http://schemas.openxmlformats.org/drawingml/2006/main">
            <a:off x="571500" y="4467225"/>
            <a:ext cx="457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75CBA"/>
                </a:solidFill>
                <a:latin typeface="Aptos"/>
                <a:ea typeface="Aptos"/>
                <a:cs typeface="Aptos"/>
              </a:defRPr>
            </a:pPr>
            <a:r>
              <a:rPr sz="1575" b="1">
                <a:solidFill>
                  <a:srgbClr val="275CBA"/>
                </a:solidFill>
                <a:latin typeface="Aptos"/>
                <a:ea typeface="Aptos"/>
                <a:cs typeface="Aptos"/>
              </a:rPr>
              <a:t>05</a:t>
            </a:r>
          </a:p>
        </p:txBody>
      </p:sp>
      <p:sp>
        <p:nvSpPr>
          <p:cNvPr id="24" name="">
            <a:extLst xmlns:a="http://schemas.openxmlformats.org/drawingml/2006/main">
              <a:ext uri="{FF2B5EF4-FFF2-40B4-BE49-F238E27FC236}">
                <a16:creationId xmlns:a16="http://schemas.microsoft.com/office/drawing/2014/main" id="{C35E6465-27F9-4C85-810B-C1C9CBE72A54}"/>
              </a:ext>
            </a:extLst>
          </p:cNvPr>
          <p:cNvSpPr>
            <a:spLocks xmlns:a="http://schemas.openxmlformats.org/drawingml/2006/main" noGrp="1"/>
          </p:cNvSpPr>
          <p:nvPr/>
        </p:nvSpPr>
        <p:spPr>
          <a:xfrm xmlns:a="http://schemas.openxmlformats.org/drawingml/2006/main">
            <a:off x="1085850" y="4467225"/>
            <a:ext cx="2095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0252C"/>
                </a:solidFill>
                <a:latin typeface="Aptos"/>
                <a:ea typeface="Aptos"/>
                <a:cs typeface="Aptos"/>
              </a:defRPr>
            </a:pPr>
            <a:r>
              <a:rPr sz="1500" b="1">
                <a:solidFill>
                  <a:srgbClr val="20252C"/>
                </a:solidFill>
                <a:latin typeface="Aptos"/>
                <a:ea typeface="Aptos"/>
                <a:cs typeface="Aptos"/>
              </a:rPr>
              <a:t>Actuar</a:t>
            </a:r>
          </a:p>
        </p:txBody>
      </p:sp>
      <p:sp>
        <p:nvSpPr>
          <p:cNvPr id="25" name="">
            <a:extLst xmlns:a="http://schemas.openxmlformats.org/drawingml/2006/main">
              <a:ext uri="{FF2B5EF4-FFF2-40B4-BE49-F238E27FC236}">
                <a16:creationId xmlns:a16="http://schemas.microsoft.com/office/drawing/2014/main" id="{C822FE7B-BCDE-41DA-82D3-6D8D388EB978}"/>
              </a:ext>
            </a:extLst>
          </p:cNvPr>
          <p:cNvSpPr>
            <a:spLocks xmlns:a="http://schemas.openxmlformats.org/drawingml/2006/main" noGrp="1"/>
          </p:cNvSpPr>
          <p:nvPr/>
        </p:nvSpPr>
        <p:spPr>
          <a:xfrm xmlns:a="http://schemas.openxmlformats.org/drawingml/2006/main">
            <a:off x="3276600" y="4467225"/>
            <a:ext cx="4572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D6570"/>
                </a:solidFill>
                <a:latin typeface="Aptos"/>
                <a:ea typeface="Aptos"/>
                <a:cs typeface="Aptos"/>
              </a:defRPr>
            </a:pPr>
            <a:r>
              <a:rPr sz="1275" b="0">
                <a:solidFill>
                  <a:srgbClr val="5D6570"/>
                </a:solidFill>
                <a:latin typeface="Aptos"/>
                <a:ea typeface="Aptos"/>
                <a:cs typeface="Aptos"/>
              </a:rPr>
              <a:t>Señalar tramo anómalo, calcular desvío y exigir revisión operativa.</a:t>
            </a:r>
          </a:p>
        </p:txBody>
      </p:sp>
      <p:sp>
        <p:nvSpPr>
          <p:cNvPr id="26" name="">
            <a:extLst xmlns:a="http://schemas.openxmlformats.org/drawingml/2006/main">
              <a:ext uri="{FF2B5EF4-FFF2-40B4-BE49-F238E27FC236}">
                <a16:creationId xmlns:a16="http://schemas.microsoft.com/office/drawing/2014/main" id="{31FF1882-040D-4F05-9BD1-D0F87E569B06}"/>
              </a:ext>
            </a:extLst>
          </p:cNvPr>
          <p:cNvSpPr>
            <a:spLocks xmlns:a="http://schemas.openxmlformats.org/drawingml/2006/main" noGrp="1"/>
          </p:cNvSpPr>
          <p:nvPr/>
        </p:nvSpPr>
        <p:spPr>
          <a:xfrm xmlns:a="http://schemas.openxmlformats.org/drawingml/2006/main">
            <a:off x="8134350" y="1352550"/>
            <a:ext cx="3448050" cy="3228975"/>
          </a:xfrm>
          <a:prstGeom xmlns:a="http://schemas.openxmlformats.org/drawingml/2006/main" prst="roundRect">
            <a:avLst>
              <a:gd name="adj" fmla="val 4720"/>
            </a:avLst>
          </a:prstGeom>
          <a:solidFill xmlns:a="http://schemas.openxmlformats.org/drawingml/2006/main">
            <a:srgbClr val="EDF3F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CBA866C-2015-4FE8-80F0-34220BEBDC17}"/>
              </a:ext>
            </a:extLst>
          </p:cNvPr>
          <p:cNvSpPr>
            <a:spLocks xmlns:a="http://schemas.openxmlformats.org/drawingml/2006/main" noGrp="1"/>
          </p:cNvSpPr>
          <p:nvPr/>
        </p:nvSpPr>
        <p:spPr>
          <a:xfrm xmlns:a="http://schemas.openxmlformats.org/drawingml/2006/main">
            <a:off x="8362950" y="155257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275CBA"/>
                </a:solidFill>
                <a:latin typeface="Aptos"/>
                <a:ea typeface="Aptos"/>
                <a:cs typeface="Aptos"/>
              </a:defRPr>
            </a:pPr>
            <a:r>
              <a:rPr sz="975" b="1">
                <a:solidFill>
                  <a:srgbClr val="275CBA"/>
                </a:solidFill>
                <a:latin typeface="Aptos"/>
                <a:ea typeface="Aptos"/>
                <a:cs typeface="Aptos"/>
              </a:rPr>
              <a:t>EJEMPLO, NO MEDICIÓN REAL</a:t>
            </a:r>
          </a:p>
        </p:txBody>
      </p:sp>
      <p:sp>
        <p:nvSpPr>
          <p:cNvPr id="28" name="">
            <a:extLst xmlns:a="http://schemas.openxmlformats.org/drawingml/2006/main">
              <a:ext uri="{FF2B5EF4-FFF2-40B4-BE49-F238E27FC236}">
                <a16:creationId xmlns:a16="http://schemas.microsoft.com/office/drawing/2014/main" id="{09F49164-4799-4238-9A20-7C9C3F787E05}"/>
              </a:ext>
            </a:extLst>
          </p:cNvPr>
          <p:cNvSpPr>
            <a:spLocks xmlns:a="http://schemas.openxmlformats.org/drawingml/2006/main" noGrp="1"/>
          </p:cNvSpPr>
          <p:nvPr/>
        </p:nvSpPr>
        <p:spPr>
          <a:xfrm xmlns:a="http://schemas.openxmlformats.org/drawingml/2006/main">
            <a:off x="8362950" y="2009775"/>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C806A"/>
                </a:solidFill>
                <a:latin typeface="Aptos"/>
                <a:ea typeface="Aptos"/>
                <a:cs typeface="Aptos"/>
              </a:defRPr>
            </a:pPr>
            <a:r>
              <a:rPr sz="2850" b="1">
                <a:solidFill>
                  <a:srgbClr val="1C806A"/>
                </a:solidFill>
                <a:latin typeface="Aptos"/>
                <a:ea typeface="Aptos"/>
                <a:cs typeface="Aptos"/>
              </a:rPr>
              <a:t>25 km/h</a:t>
            </a:r>
          </a:p>
        </p:txBody>
      </p:sp>
      <p:sp>
        <p:nvSpPr>
          <p:cNvPr id="29" name="">
            <a:extLst xmlns:a="http://schemas.openxmlformats.org/drawingml/2006/main">
              <a:ext uri="{FF2B5EF4-FFF2-40B4-BE49-F238E27FC236}">
                <a16:creationId xmlns:a16="http://schemas.microsoft.com/office/drawing/2014/main" id="{8BD9F2A6-61F2-4AC2-9E90-754BBA0F2941}"/>
              </a:ext>
            </a:extLst>
          </p:cNvPr>
          <p:cNvSpPr>
            <a:spLocks xmlns:a="http://schemas.openxmlformats.org/drawingml/2006/main" noGrp="1"/>
          </p:cNvSpPr>
          <p:nvPr/>
        </p:nvSpPr>
        <p:spPr>
          <a:xfrm xmlns:a="http://schemas.openxmlformats.org/drawingml/2006/main">
            <a:off x="8362950" y="2447925"/>
            <a:ext cx="295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D6570"/>
                </a:solidFill>
                <a:latin typeface="Aptos"/>
                <a:ea typeface="Aptos"/>
                <a:cs typeface="Aptos"/>
              </a:defRPr>
            </a:pPr>
            <a:r>
              <a:rPr sz="1200" b="0">
                <a:solidFill>
                  <a:srgbClr val="5D6570"/>
                </a:solidFill>
                <a:latin typeface="Aptos"/>
                <a:ea typeface="Aptos"/>
                <a:cs typeface="Aptos"/>
              </a:rPr>
              <a:t>velocidad habitual del tramo</a:t>
            </a:r>
          </a:p>
        </p:txBody>
      </p:sp>
      <p:sp>
        <p:nvSpPr>
          <p:cNvPr id="30" name="">
            <a:extLst xmlns:a="http://schemas.openxmlformats.org/drawingml/2006/main">
              <a:ext uri="{FF2B5EF4-FFF2-40B4-BE49-F238E27FC236}">
                <a16:creationId xmlns:a16="http://schemas.microsoft.com/office/drawing/2014/main" id="{2B6339B1-C13E-49BE-B558-51F8C96A178F}"/>
              </a:ext>
            </a:extLst>
          </p:cNvPr>
          <p:cNvSpPr>
            <a:spLocks xmlns:a="http://schemas.openxmlformats.org/drawingml/2006/main" noGrp="1"/>
          </p:cNvSpPr>
          <p:nvPr/>
        </p:nvSpPr>
        <p:spPr>
          <a:xfrm xmlns:a="http://schemas.openxmlformats.org/drawingml/2006/main">
            <a:off x="8362950" y="285750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AF343B"/>
                </a:solidFill>
                <a:latin typeface="Aptos"/>
                <a:ea typeface="Aptos"/>
                <a:cs typeface="Aptos"/>
              </a:defRPr>
            </a:pPr>
            <a:r>
              <a:rPr sz="2850" b="1">
                <a:solidFill>
                  <a:srgbClr val="AF343B"/>
                </a:solidFill>
                <a:latin typeface="Aptos"/>
                <a:ea typeface="Aptos"/>
                <a:cs typeface="Aptos"/>
              </a:rPr>
              <a:t>10 km/h</a:t>
            </a:r>
          </a:p>
        </p:txBody>
      </p:sp>
      <p:sp>
        <p:nvSpPr>
          <p:cNvPr id="31" name="">
            <a:extLst xmlns:a="http://schemas.openxmlformats.org/drawingml/2006/main">
              <a:ext uri="{FF2B5EF4-FFF2-40B4-BE49-F238E27FC236}">
                <a16:creationId xmlns:a16="http://schemas.microsoft.com/office/drawing/2014/main" id="{81649D2E-DA46-44A5-9CC8-2469F7D5E9D6}"/>
              </a:ext>
            </a:extLst>
          </p:cNvPr>
          <p:cNvSpPr>
            <a:spLocks xmlns:a="http://schemas.openxmlformats.org/drawingml/2006/main" noGrp="1"/>
          </p:cNvSpPr>
          <p:nvPr/>
        </p:nvSpPr>
        <p:spPr>
          <a:xfrm xmlns:a="http://schemas.openxmlformats.org/drawingml/2006/main">
            <a:off x="8362950" y="3286125"/>
            <a:ext cx="295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D6570"/>
                </a:solidFill>
                <a:latin typeface="Aptos"/>
                <a:ea typeface="Aptos"/>
                <a:cs typeface="Aptos"/>
              </a:defRPr>
            </a:pPr>
            <a:r>
              <a:rPr sz="1200" b="0">
                <a:solidFill>
                  <a:srgbClr val="5D6570"/>
                </a:solidFill>
                <a:latin typeface="Aptos"/>
                <a:ea typeface="Aptos"/>
                <a:cs typeface="Aptos"/>
              </a:rPr>
              <a:t>mediana reciente por GPS</a:t>
            </a:r>
          </a:p>
        </p:txBody>
      </p:sp>
      <p:sp>
        <p:nvSpPr>
          <p:cNvPr id="32" name="">
            <a:extLst xmlns:a="http://schemas.openxmlformats.org/drawingml/2006/main">
              <a:ext uri="{FF2B5EF4-FFF2-40B4-BE49-F238E27FC236}">
                <a16:creationId xmlns:a16="http://schemas.microsoft.com/office/drawing/2014/main" id="{3C2B9BC3-9C13-44E1-973C-52BF76D7FF91}"/>
              </a:ext>
            </a:extLst>
          </p:cNvPr>
          <p:cNvSpPr>
            <a:spLocks xmlns:a="http://schemas.openxmlformats.org/drawingml/2006/main" noGrp="1"/>
          </p:cNvSpPr>
          <p:nvPr/>
        </p:nvSpPr>
        <p:spPr>
          <a:xfrm xmlns:a="http://schemas.openxmlformats.org/drawingml/2006/main">
            <a:off x="8362950" y="3857625"/>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0252C"/>
                </a:solidFill>
                <a:latin typeface="Aptos"/>
                <a:ea typeface="Aptos"/>
                <a:cs typeface="Aptos"/>
              </a:defRPr>
            </a:pPr>
            <a:r>
              <a:rPr sz="1575" b="1">
                <a:solidFill>
                  <a:srgbClr val="20252C"/>
                </a:solidFill>
                <a:latin typeface="Aptos"/>
                <a:ea typeface="Aptos"/>
                <a:cs typeface="Aptos"/>
              </a:rPr>
              <a:t>40 % de la velocidad habitual</a:t>
            </a:r>
          </a:p>
        </p:txBody>
      </p:sp>
      <p:sp>
        <p:nvSpPr>
          <p:cNvPr id="33" name="">
            <a:extLst xmlns:a="http://schemas.openxmlformats.org/drawingml/2006/main">
              <a:ext uri="{FF2B5EF4-FFF2-40B4-BE49-F238E27FC236}">
                <a16:creationId xmlns:a16="http://schemas.microsoft.com/office/drawing/2014/main" id="{85415D1E-B1EC-4761-BD24-D948BC6892DB}"/>
              </a:ext>
            </a:extLst>
          </p:cNvPr>
          <p:cNvSpPr>
            <a:spLocks xmlns:a="http://schemas.openxmlformats.org/drawingml/2006/main" noGrp="1"/>
          </p:cNvSpPr>
          <p:nvPr/>
        </p:nvSpPr>
        <p:spPr>
          <a:xfrm xmlns:a="http://schemas.openxmlformats.org/drawingml/2006/main">
            <a:off x="8134350" y="4848225"/>
            <a:ext cx="3448050" cy="1247775"/>
          </a:xfrm>
          <a:prstGeom xmlns:a="http://schemas.openxmlformats.org/drawingml/2006/main" prst="roundRect">
            <a:avLst>
              <a:gd name="adj" fmla="val 9160"/>
            </a:avLst>
          </a:prstGeom>
          <a:solidFill xmlns:a="http://schemas.openxmlformats.org/drawingml/2006/main">
            <a:srgbClr val="FBF5EA"/>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071D7019-CE9A-443D-91F3-46950EC4D3D0}"/>
              </a:ext>
            </a:extLst>
          </p:cNvPr>
          <p:cNvSpPr>
            <a:spLocks xmlns:a="http://schemas.openxmlformats.org/drawingml/2006/main" noGrp="1"/>
          </p:cNvSpPr>
          <p:nvPr/>
        </p:nvSpPr>
        <p:spPr>
          <a:xfrm xmlns:a="http://schemas.openxmlformats.org/drawingml/2006/main">
            <a:off x="8362950" y="5048250"/>
            <a:ext cx="3000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AF343B"/>
                </a:solidFill>
                <a:latin typeface="Aptos"/>
                <a:ea typeface="Aptos"/>
                <a:cs typeface="Aptos"/>
              </a:defRPr>
            </a:pPr>
            <a:r>
              <a:rPr sz="1350" b="1">
                <a:solidFill>
                  <a:srgbClr val="AF343B"/>
                </a:solidFill>
                <a:latin typeface="Aptos"/>
                <a:ea typeface="Aptos"/>
                <a:cs typeface="Aptos"/>
              </a:rPr>
              <a:t>Condición para publicar una alerta</a:t>
            </a:r>
          </a:p>
        </p:txBody>
      </p:sp>
      <p:sp>
        <p:nvSpPr>
          <p:cNvPr id="35" name="">
            <a:extLst xmlns:a="http://schemas.openxmlformats.org/drawingml/2006/main">
              <a:ext uri="{FF2B5EF4-FFF2-40B4-BE49-F238E27FC236}">
                <a16:creationId xmlns:a16="http://schemas.microsoft.com/office/drawing/2014/main" id="{FA983ABB-1A9C-4F24-9823-B90FE00D9AF9}"/>
              </a:ext>
            </a:extLst>
          </p:cNvPr>
          <p:cNvSpPr>
            <a:spLocks xmlns:a="http://schemas.openxmlformats.org/drawingml/2006/main" noGrp="1"/>
          </p:cNvSpPr>
          <p:nvPr/>
        </p:nvSpPr>
        <p:spPr>
          <a:xfrm xmlns:a="http://schemas.openxmlformats.org/drawingml/2006/main">
            <a:off x="8362950" y="5391150"/>
            <a:ext cx="300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defRPr sz="1275" b="0">
                <a:solidFill>
                  <a:srgbClr val="5D6570"/>
                </a:solidFill>
                <a:latin typeface="Aptos"/>
                <a:ea typeface="Aptos"/>
                <a:cs typeface="Aptos"/>
              </a:defRPr>
            </a:pPr>
            <a:r>
              <a:rPr sz="1275" b="0">
                <a:solidFill>
                  <a:srgbClr val="5D6570"/>
                </a:solidFill>
                <a:latin typeface="Aptos"/>
                <a:ea typeface="Aptos"/>
                <a:cs typeface="Aptos"/>
              </a:rPr>
              <a:t>Muestras suficientes, varios vehículos, marca de tiempo válida y control de incidentes u obras.</a:t>
            </a:r>
          </a:p>
        </p:txBody>
      </p:sp>
    </p:spTree>
    <p:extLst>
      <p:ext uri="{BB962C8B-B14F-4D97-AF65-F5344CB8AC3E}">
        <p14:creationId xmlns:p14="http://schemas.microsoft.com/office/powerpoint/2010/main" val="44623056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47F9272-3585-488E-BED6-9BC6EAD8F97F}"/>
              </a:ext>
            </a:extLst>
          </p:cNvPr>
          <p:cNvSpPr>
            <a:spLocks xmlns:a="http://schemas.openxmlformats.org/drawingml/2006/main" noGrp="1"/>
          </p:cNvSpPr>
          <p:nvPr/>
        </p:nvSpPr>
        <p:spPr>
          <a:xfrm xmlns:a="http://schemas.openxmlformats.org/drawingml/2006/main">
            <a:off x="571500" y="3238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Impacto esperado y diseño de evaluación</a:t>
            </a:r>
          </a:p>
        </p:txBody>
      </p:sp>
      <p:sp>
        <p:nvSpPr>
          <p:cNvPr id="2" name="">
            <a:extLst xmlns:a="http://schemas.openxmlformats.org/drawingml/2006/main">
              <a:ext uri="{FF2B5EF4-FFF2-40B4-BE49-F238E27FC236}">
                <a16:creationId xmlns:a16="http://schemas.microsoft.com/office/drawing/2014/main" id="{0FBCF396-5B55-43EF-8B88-AB995AF718A4}"/>
              </a:ext>
            </a:extLst>
          </p:cNvPr>
          <p:cNvSpPr>
            <a:spLocks xmlns:a="http://schemas.openxmlformats.org/drawingml/2006/main" noGrp="1"/>
          </p:cNvSpPr>
          <p:nvPr/>
        </p:nvSpPr>
        <p:spPr>
          <a:xfrm xmlns:a="http://schemas.openxmlformats.org/drawingml/2006/main">
            <a:off x="11125200" y="4476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08</a:t>
            </a:r>
          </a:p>
        </p:txBody>
      </p:sp>
      <p:sp>
        <p:nvSpPr>
          <p:cNvPr id="3" name="">
            <a:extLst xmlns:a="http://schemas.openxmlformats.org/drawingml/2006/main">
              <a:ext uri="{FF2B5EF4-FFF2-40B4-BE49-F238E27FC236}">
                <a16:creationId xmlns:a16="http://schemas.microsoft.com/office/drawing/2014/main" id="{439F38EF-2D53-4AF1-A04D-EBD435C0DBA4}"/>
              </a:ext>
            </a:extLst>
          </p:cNvPr>
          <p:cNvSpPr>
            <a:spLocks xmlns:a="http://schemas.openxmlformats.org/drawingml/2006/main" noGrp="1"/>
          </p:cNvSpPr>
          <p:nvPr/>
        </p:nvSpPr>
        <p:spPr>
          <a:xfrm xmlns:a="http://schemas.openxmlformats.org/drawingml/2006/main">
            <a:off x="571500" y="981075"/>
            <a:ext cx="11029950" cy="0"/>
          </a:xfrm>
          <a:prstGeom xmlns:a="http://schemas.openxmlformats.org/drawingml/2006/main" prst="line">
            <a:avLst/>
          </a:prstGeom>
          <a:noFill xmlns:a="http://schemas.openxmlformats.org/drawingml/2006/main"/>
          <a:ln xmlns:a="http://schemas.openxmlformats.org/drawingml/2006/main" w="19050">
            <a:solidFill>
              <a:srgbClr val="DFE4EA"/>
            </a:solidFill>
            <a:prstDash val="solid"/>
          </a:ln>
        </p:spPr>
      </p:sp>
      <p:sp>
        <p:nvSpPr>
          <p:cNvPr id="4" name="">
            <a:extLst xmlns:a="http://schemas.openxmlformats.org/drawingml/2006/main">
              <a:ext uri="{FF2B5EF4-FFF2-40B4-BE49-F238E27FC236}">
                <a16:creationId xmlns:a16="http://schemas.microsoft.com/office/drawing/2014/main" id="{02864731-2467-4CDF-AB44-D78A0A37F923}"/>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7A838F"/>
                </a:solidFill>
                <a:latin typeface="Aptos"/>
                <a:ea typeface="Aptos"/>
                <a:cs typeface="Aptos"/>
              </a:defRPr>
            </a:pPr>
            <a:r>
              <a:rPr sz="825" b="0">
                <a:solidFill>
                  <a:srgbClr val="7A838F"/>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3C0A86FB-59FE-4B37-9DDB-9C7CA53B6E0F}"/>
              </a:ext>
            </a:extLst>
          </p:cNvPr>
          <p:cNvSpPr>
            <a:spLocks xmlns:a="http://schemas.openxmlformats.org/drawingml/2006/main" noGrp="1"/>
          </p:cNvSpPr>
          <p:nvPr/>
        </p:nvSpPr>
        <p:spPr>
          <a:xfrm xmlns:a="http://schemas.openxmlformats.org/drawingml/2006/main">
            <a:off x="9105900" y="6515100"/>
            <a:ext cx="2457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a:solidFill>
                  <a:srgbClr val="7A838F"/>
                </a:solidFill>
                <a:latin typeface="Aptos"/>
                <a:ea typeface="Aptos"/>
                <a:cs typeface="Aptos"/>
              </a:defRPr>
            </a:pPr>
            <a:r>
              <a:rPr sz="825" b="0">
                <a:solidFill>
                  <a:srgbClr val="7A838F"/>
                </a:solidFill>
                <a:latin typeface="Aptos"/>
                <a:ea typeface="Aptos"/>
                <a:cs typeface="Aptos"/>
              </a:rPr>
              <a:t>FUENTES Y MÉTODO EN NOTAS</a:t>
            </a:r>
          </a:p>
        </p:txBody>
      </p:sp>
      <p:sp>
        <p:nvSpPr>
          <p:cNvPr id="6" name="">
            <a:extLst xmlns:a="http://schemas.openxmlformats.org/drawingml/2006/main">
              <a:ext uri="{FF2B5EF4-FFF2-40B4-BE49-F238E27FC236}">
                <a16:creationId xmlns:a16="http://schemas.microsoft.com/office/drawing/2014/main" id="{09DCE10F-6FC7-44A6-9CDC-A02910C9CA84}"/>
              </a:ext>
            </a:extLst>
          </p:cNvPr>
          <p:cNvSpPr>
            <a:spLocks xmlns:a="http://schemas.openxmlformats.org/drawingml/2006/main" noGrp="1"/>
          </p:cNvSpPr>
          <p:nvPr/>
        </p:nvSpPr>
        <p:spPr>
          <a:xfrm xmlns:a="http://schemas.openxmlformats.org/drawingml/2006/main">
            <a:off x="571500" y="120967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20252C"/>
                </a:solidFill>
                <a:latin typeface="Aptos"/>
                <a:ea typeface="Aptos"/>
                <a:cs typeface="Aptos"/>
              </a:defRPr>
            </a:pPr>
            <a:r>
              <a:rPr sz="1725" b="1">
                <a:solidFill>
                  <a:srgbClr val="20252C"/>
                </a:solidFill>
                <a:latin typeface="Aptos"/>
                <a:ea typeface="Aptos"/>
                <a:cs typeface="Aptos"/>
              </a:rPr>
              <a:t>La mejora se comprobará con mediciones antes y después en el mismo corredor, día y franja horaria.</a:t>
            </a:r>
          </a:p>
        </p:txBody>
      </p:sp>
      <p:graphicFrame>
        <p:nvGraphicFramePr>
          <p:cNvPr id="17" name=""/>
          <p:cNvGraphicFramePr/>
          <p:nvPr/>
        </p:nvGraphicFramePr>
        <p:xfrm>
          <a:off xmlns:a="http://schemas.openxmlformats.org/drawingml/2006/main" x="571500" y="1952625"/>
          <a:ext xmlns:a="http://schemas.openxmlformats.org/drawingml/2006/main" cx="11010900" cy="3267075"/>
        </p:xfrm>
        <a:graphic xmlns:a="http://schemas.openxmlformats.org/drawingml/2006/main">
          <a:graphicData uri="http://schemas.openxmlformats.org/drawingml/2006/table">
            <a:tbl>
              <a:tblPr/>
              <a:tblGrid>
                <a:gridCol w="2028825"/>
                <a:gridCol w="4133850"/>
                <a:gridCol w="4848225"/>
              </a:tblGrid>
              <a:tr h="466725">
                <a:tc>
                  <a:txBody>
                    <a:bodyPr wrap="square" lIns="76200" tIns="47625" rIns="66675" bIns="47625">
                      <a:normAutofit/>
                    </a:bodyPr>
                    <a:lstStyle/>
                    <a:p>
                      <a:r>
                        <a:rPr sz="1200" b="1">
                          <a:solidFill>
                            <a:srgbClr val="FFFFFF"/>
                          </a:solidFill>
                          <a:latin typeface="Aptos"/>
                          <a:ea typeface="Aptos"/>
                          <a:cs typeface="Aptos"/>
                        </a:rPr>
                        <a:t>Beneficiario</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Indicador principal</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Cómo se mide</a:t>
                      </a:r>
                    </a:p>
                  </a:txBody>
                  <a:tcPr marL="91440" marR="91440" marT="45720" marB="45720" anchor="ctr">
                    <a:solidFill>
                      <a:srgbClr val="17202B"/>
                    </a:solidFill>
                  </a:tcPr>
                </a:tc>
              </a:tr>
              <a:tr h="466725">
                <a:tc>
                  <a:txBody>
                    <a:bodyPr wrap="square" lIns="76200" tIns="47625" rIns="66675" bIns="47625">
                      <a:normAutofit/>
                    </a:bodyPr>
                    <a:lstStyle/>
                    <a:p>
                      <a:r>
                        <a:rPr sz="1275" b="0">
                          <a:solidFill>
                            <a:srgbClr val="20252C"/>
                          </a:solidFill>
                          <a:latin typeface="Aptos"/>
                          <a:ea typeface="Aptos"/>
                          <a:cs typeface="Aptos"/>
                        </a:rPr>
                        <a:t>Pasajeros</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Tiempo puerta a puerta; espera; ruta correcta</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Viajes trazados y encuesta breve en el piloto</a:t>
                      </a:r>
                    </a:p>
                  </a:txBody>
                  <a:tcPr marL="91440" marR="91440" marT="45720" marB="45720" anchor="ctr">
                    <a:solidFill>
                      <a:srgbClr val="FFFFFF"/>
                    </a:solidFill>
                  </a:tcPr>
                </a:tc>
              </a:tr>
              <a:tr h="466725">
                <a:tc>
                  <a:txBody>
                    <a:bodyPr wrap="square" lIns="76200" tIns="47625" rIns="66675" bIns="47625">
                      <a:normAutofit/>
                    </a:bodyPr>
                    <a:lstStyle/>
                    <a:p>
                      <a:r>
                        <a:rPr sz="1275" b="0">
                          <a:solidFill>
                            <a:srgbClr val="20252C"/>
                          </a:solidFill>
                          <a:latin typeface="Aptos"/>
                          <a:ea typeface="Aptos"/>
                          <a:cs typeface="Aptos"/>
                        </a:rPr>
                        <a:t>Barrios y estudiantes</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Población con acceso a parada y a destinos</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Censo conocido + red peatonal + horario del destino</a:t>
                      </a:r>
                    </a:p>
                  </a:txBody>
                  <a:tcPr marL="91440" marR="91440" marT="45720" marB="45720" anchor="ctr">
                    <a:solidFill>
                      <a:srgbClr val="F5F6F8"/>
                    </a:solidFill>
                  </a:tcPr>
                </a:tc>
              </a:tr>
              <a:tr h="466725">
                <a:tc>
                  <a:txBody>
                    <a:bodyPr wrap="square" lIns="76200" tIns="47625" rIns="66675" bIns="47625">
                      <a:normAutofit/>
                    </a:bodyPr>
                    <a:lstStyle/>
                    <a:p>
                      <a:r>
                        <a:rPr sz="1275" b="0">
                          <a:solidFill>
                            <a:srgbClr val="20252C"/>
                          </a:solidFill>
                          <a:latin typeface="Aptos"/>
                          <a:ea typeface="Aptos"/>
                          <a:cs typeface="Aptos"/>
                        </a:rPr>
                        <a:t>Transportistas</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Regularidad, ocupación, vehículos necesarios</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GPS validado + conteo a bordo + despacho</a:t>
                      </a:r>
                    </a:p>
                  </a:txBody>
                  <a:tcPr marL="91440" marR="91440" marT="45720" marB="45720" anchor="ctr">
                    <a:solidFill>
                      <a:srgbClr val="FFFFFF"/>
                    </a:solidFill>
                  </a:tcPr>
                </a:tc>
              </a:tr>
              <a:tr h="466725">
                <a:tc>
                  <a:txBody>
                    <a:bodyPr wrap="square" lIns="76200" tIns="47625" rIns="66675" bIns="47625">
                      <a:normAutofit/>
                    </a:bodyPr>
                    <a:lstStyle/>
                    <a:p>
                      <a:r>
                        <a:rPr sz="1275" b="0">
                          <a:solidFill>
                            <a:srgbClr val="20252C"/>
                          </a:solidFill>
                          <a:latin typeface="Aptos"/>
                          <a:ea typeface="Aptos"/>
                          <a:cs typeface="Aptos"/>
                        </a:rPr>
                        <a:t>Municipalidad</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Tramos lentos, superposición, zonas que pierden acceso</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Velocidades por tramo + comparación de escenarios</a:t>
                      </a:r>
                    </a:p>
                  </a:txBody>
                  <a:tcPr marL="91440" marR="91440" marT="45720" marB="45720" anchor="ctr">
                    <a:solidFill>
                      <a:srgbClr val="F5F6F8"/>
                    </a:solidFill>
                  </a:tcPr>
                </a:tc>
              </a:tr>
              <a:tr h="466725">
                <a:tc>
                  <a:txBody>
                    <a:bodyPr wrap="square" lIns="76200" tIns="47625" rIns="66675" bIns="47625">
                      <a:normAutofit/>
                    </a:bodyPr>
                    <a:lstStyle/>
                    <a:p>
                      <a:r>
                        <a:rPr sz="1275" b="0">
                          <a:solidFill>
                            <a:srgbClr val="20252C"/>
                          </a:solidFill>
                          <a:latin typeface="Aptos"/>
                          <a:ea typeface="Aptos"/>
                          <a:cs typeface="Aptos"/>
                        </a:rPr>
                        <a:t>Seguridad</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Abordajes verificados; desvíos e incidentes</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Inspección de campo + registro municipal</a:t>
                      </a:r>
                    </a:p>
                  </a:txBody>
                  <a:tcPr marL="91440" marR="91440" marT="45720" marB="45720" anchor="ctr">
                    <a:solidFill>
                      <a:srgbClr val="FFFFFF"/>
                    </a:solidFill>
                  </a:tcPr>
                </a:tc>
              </a:tr>
              <a:tr h="466725">
                <a:tc>
                  <a:txBody>
                    <a:bodyPr wrap="square" lIns="76200" tIns="47625" rIns="66675" bIns="47625">
                      <a:normAutofit/>
                    </a:bodyPr>
                    <a:lstStyle/>
                    <a:p>
                      <a:r>
                        <a:rPr sz="1275" b="0">
                          <a:solidFill>
                            <a:srgbClr val="20252C"/>
                          </a:solidFill>
                          <a:latin typeface="Aptos"/>
                          <a:ea typeface="Aptos"/>
                          <a:cs typeface="Aptos"/>
                        </a:rPr>
                        <a:t>Ciudad</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Vehículo-km, incidentes reportados</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Registro de operación y fuente vial verificable</a:t>
                      </a:r>
                    </a:p>
                  </a:txBody>
                  <a:tcPr marL="91440" marR="91440" marT="45720" marB="45720" anchor="ctr">
                    <a:solidFill>
                      <a:srgbClr val="F5F6F8"/>
                    </a:solidFill>
                  </a:tcPr>
                </a:tc>
              </a:tr>
            </a:tbl>
          </a:graphicData>
        </a:graphic>
      </p:graphicFrame>
      <p:sp>
        <p:nvSpPr>
          <p:cNvPr id="8" name="">
            <a:extLst xmlns:a="http://schemas.openxmlformats.org/drawingml/2006/main">
              <a:ext uri="{FF2B5EF4-FFF2-40B4-BE49-F238E27FC236}">
                <a16:creationId xmlns:a16="http://schemas.microsoft.com/office/drawing/2014/main" id="{B8592942-C110-4A70-8D8A-23E42A3AE2DD}"/>
              </a:ext>
            </a:extLst>
          </p:cNvPr>
          <p:cNvSpPr>
            <a:spLocks xmlns:a="http://schemas.openxmlformats.org/drawingml/2006/main" noGrp="1"/>
          </p:cNvSpPr>
          <p:nvPr/>
        </p:nvSpPr>
        <p:spPr>
          <a:xfrm xmlns:a="http://schemas.openxmlformats.org/drawingml/2006/main">
            <a:off x="571500" y="5448300"/>
            <a:ext cx="11010900" cy="714375"/>
          </a:xfrm>
          <a:prstGeom xmlns:a="http://schemas.openxmlformats.org/drawingml/2006/main" prst="roundRect">
            <a:avLst>
              <a:gd name="adj" fmla="val 13333"/>
            </a:avLst>
          </a:prstGeom>
          <a:solidFill xmlns:a="http://schemas.openxmlformats.org/drawingml/2006/main">
            <a:srgbClr val="EDF3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D53E4D2-3882-43C7-9755-A5783003246E}"/>
              </a:ext>
            </a:extLst>
          </p:cNvPr>
          <p:cNvSpPr>
            <a:spLocks xmlns:a="http://schemas.openxmlformats.org/drawingml/2006/main" noGrp="1"/>
          </p:cNvSpPr>
          <p:nvPr/>
        </p:nvSpPr>
        <p:spPr>
          <a:xfrm xmlns:a="http://schemas.openxmlformats.org/drawingml/2006/main">
            <a:off x="752475" y="5610225"/>
            <a:ext cx="2047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75CBA"/>
                </a:solidFill>
                <a:latin typeface="Aptos"/>
                <a:ea typeface="Aptos"/>
                <a:cs typeface="Aptos"/>
              </a:defRPr>
            </a:pPr>
            <a:r>
              <a:rPr sz="1425" b="1">
                <a:solidFill>
                  <a:srgbClr val="275CBA"/>
                </a:solidFill>
                <a:latin typeface="Aptos"/>
                <a:ea typeface="Aptos"/>
                <a:cs typeface="Aptos"/>
              </a:rPr>
              <a:t>Diseño del piloto</a:t>
            </a:r>
          </a:p>
        </p:txBody>
      </p:sp>
      <p:sp>
        <p:nvSpPr>
          <p:cNvPr id="10" name="">
            <a:extLst xmlns:a="http://schemas.openxmlformats.org/drawingml/2006/main">
              <a:ext uri="{FF2B5EF4-FFF2-40B4-BE49-F238E27FC236}">
                <a16:creationId xmlns:a16="http://schemas.microsoft.com/office/drawing/2014/main" id="{4E50A84E-6025-4C85-9EF7-EB3E1814515C}"/>
              </a:ext>
            </a:extLst>
          </p:cNvPr>
          <p:cNvSpPr>
            <a:spLocks xmlns:a="http://schemas.openxmlformats.org/drawingml/2006/main" noGrp="1"/>
          </p:cNvSpPr>
          <p:nvPr/>
        </p:nvSpPr>
        <p:spPr>
          <a:xfrm xmlns:a="http://schemas.openxmlformats.org/drawingml/2006/main">
            <a:off x="2724150" y="5619750"/>
            <a:ext cx="8591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20252C"/>
                </a:solidFill>
                <a:latin typeface="Aptos"/>
                <a:ea typeface="Aptos"/>
                <a:cs typeface="Aptos"/>
              </a:defRPr>
            </a:pPr>
            <a:r>
              <a:rPr sz="1275" b="0">
                <a:solidFill>
                  <a:srgbClr val="20252C"/>
                </a:solidFill>
                <a:latin typeface="Aptos"/>
                <a:ea typeface="Aptos"/>
                <a:cs typeface="Aptos"/>
              </a:rPr>
              <a:t>Línea base de 2 semanas; piloto de 3–4 semanas; comparación por día/hora y corredor de control si es posible. Se informan ganadores, pérdidas y datos faltantes.</a:t>
            </a:r>
          </a:p>
        </p:txBody>
      </p:sp>
    </p:spTree>
    <p:extLst>
      <p:ext uri="{BB962C8B-B14F-4D97-AF65-F5344CB8AC3E}">
        <p14:creationId xmlns:p14="http://schemas.microsoft.com/office/powerpoint/2010/main" val="105577208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60AC4D6-60D9-4BCE-A501-33DB246B0CAA}"/>
              </a:ext>
            </a:extLst>
          </p:cNvPr>
          <p:cNvSpPr>
            <a:spLocks xmlns:a="http://schemas.openxmlformats.org/drawingml/2006/main" noGrp="1"/>
          </p:cNvSpPr>
          <p:nvPr/>
        </p:nvSpPr>
        <p:spPr>
          <a:xfrm xmlns:a="http://schemas.openxmlformats.org/drawingml/2006/main">
            <a:off x="571500" y="3238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Viabilidad y ruta de implementación</a:t>
            </a:r>
          </a:p>
        </p:txBody>
      </p:sp>
      <p:sp>
        <p:nvSpPr>
          <p:cNvPr id="2" name="">
            <a:extLst xmlns:a="http://schemas.openxmlformats.org/drawingml/2006/main">
              <a:ext uri="{FF2B5EF4-FFF2-40B4-BE49-F238E27FC236}">
                <a16:creationId xmlns:a16="http://schemas.microsoft.com/office/drawing/2014/main" id="{553F7F9A-2B90-4D70-8ADA-D15524396CC3}"/>
              </a:ext>
            </a:extLst>
          </p:cNvPr>
          <p:cNvSpPr>
            <a:spLocks xmlns:a="http://schemas.openxmlformats.org/drawingml/2006/main" noGrp="1"/>
          </p:cNvSpPr>
          <p:nvPr/>
        </p:nvSpPr>
        <p:spPr>
          <a:xfrm xmlns:a="http://schemas.openxmlformats.org/drawingml/2006/main">
            <a:off x="11125200" y="4476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09</a:t>
            </a:r>
          </a:p>
        </p:txBody>
      </p:sp>
      <p:sp>
        <p:nvSpPr>
          <p:cNvPr id="3" name="">
            <a:extLst xmlns:a="http://schemas.openxmlformats.org/drawingml/2006/main">
              <a:ext uri="{FF2B5EF4-FFF2-40B4-BE49-F238E27FC236}">
                <a16:creationId xmlns:a16="http://schemas.microsoft.com/office/drawing/2014/main" id="{D0CDA455-6DFC-4629-8727-54B4FC77AACB}"/>
              </a:ext>
            </a:extLst>
          </p:cNvPr>
          <p:cNvSpPr>
            <a:spLocks xmlns:a="http://schemas.openxmlformats.org/drawingml/2006/main" noGrp="1"/>
          </p:cNvSpPr>
          <p:nvPr/>
        </p:nvSpPr>
        <p:spPr>
          <a:xfrm xmlns:a="http://schemas.openxmlformats.org/drawingml/2006/main">
            <a:off x="571500" y="981075"/>
            <a:ext cx="11029950" cy="0"/>
          </a:xfrm>
          <a:prstGeom xmlns:a="http://schemas.openxmlformats.org/drawingml/2006/main" prst="line">
            <a:avLst/>
          </a:prstGeom>
          <a:noFill xmlns:a="http://schemas.openxmlformats.org/drawingml/2006/main"/>
          <a:ln xmlns:a="http://schemas.openxmlformats.org/drawingml/2006/main" w="19050">
            <a:solidFill>
              <a:srgbClr val="DFE4EA"/>
            </a:solidFill>
            <a:prstDash val="solid"/>
          </a:ln>
        </p:spPr>
      </p:sp>
      <p:sp>
        <p:nvSpPr>
          <p:cNvPr id="4" name="">
            <a:extLst xmlns:a="http://schemas.openxmlformats.org/drawingml/2006/main">
              <a:ext uri="{FF2B5EF4-FFF2-40B4-BE49-F238E27FC236}">
                <a16:creationId xmlns:a16="http://schemas.microsoft.com/office/drawing/2014/main" id="{DA669EDB-CC57-414C-9C2C-E9EDAC0BCE24}"/>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7A838F"/>
                </a:solidFill>
                <a:latin typeface="Aptos"/>
                <a:ea typeface="Aptos"/>
                <a:cs typeface="Aptos"/>
              </a:defRPr>
            </a:pPr>
            <a:r>
              <a:rPr sz="825" b="0">
                <a:solidFill>
                  <a:srgbClr val="7A838F"/>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51EC79AE-91FD-4E60-B367-FAC637945F93}"/>
              </a:ext>
            </a:extLst>
          </p:cNvPr>
          <p:cNvSpPr>
            <a:spLocks xmlns:a="http://schemas.openxmlformats.org/drawingml/2006/main" noGrp="1"/>
          </p:cNvSpPr>
          <p:nvPr/>
        </p:nvSpPr>
        <p:spPr>
          <a:xfrm xmlns:a="http://schemas.openxmlformats.org/drawingml/2006/main">
            <a:off x="9105900" y="6515100"/>
            <a:ext cx="2457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a:solidFill>
                  <a:srgbClr val="7A838F"/>
                </a:solidFill>
                <a:latin typeface="Aptos"/>
                <a:ea typeface="Aptos"/>
                <a:cs typeface="Aptos"/>
              </a:defRPr>
            </a:pPr>
            <a:r>
              <a:rPr sz="825" b="0">
                <a:solidFill>
                  <a:srgbClr val="7A838F"/>
                </a:solidFill>
                <a:latin typeface="Aptos"/>
                <a:ea typeface="Aptos"/>
                <a:cs typeface="Aptos"/>
              </a:rPr>
              <a:t>FUENTES Y MÉTODO EN NOTAS</a:t>
            </a:r>
          </a:p>
        </p:txBody>
      </p:sp>
      <p:sp>
        <p:nvSpPr>
          <p:cNvPr id="6" name="">
            <a:extLst xmlns:a="http://schemas.openxmlformats.org/drawingml/2006/main">
              <a:ext uri="{FF2B5EF4-FFF2-40B4-BE49-F238E27FC236}">
                <a16:creationId xmlns:a16="http://schemas.microsoft.com/office/drawing/2014/main" id="{D729CDF9-0ECE-4C00-8B6C-B42B50087A88}"/>
              </a:ext>
            </a:extLst>
          </p:cNvPr>
          <p:cNvSpPr>
            <a:spLocks xmlns:a="http://schemas.openxmlformats.org/drawingml/2006/main" noGrp="1"/>
          </p:cNvSpPr>
          <p:nvPr/>
        </p:nvSpPr>
        <p:spPr>
          <a:xfrm xmlns:a="http://schemas.openxmlformats.org/drawingml/2006/main">
            <a:off x="571500" y="1285875"/>
            <a:ext cx="2057400" cy="1657350"/>
          </a:xfrm>
          <a:prstGeom xmlns:a="http://schemas.openxmlformats.org/drawingml/2006/main" prst="roundRect">
            <a:avLst>
              <a:gd name="adj" fmla="val 5747"/>
            </a:avLst>
          </a:prstGeom>
          <a:solidFill xmlns:a="http://schemas.openxmlformats.org/drawingml/2006/main">
            <a:srgbClr val="EDF3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D84335D-C43E-42B6-897B-B23B17CD98FC}"/>
              </a:ext>
            </a:extLst>
          </p:cNvPr>
          <p:cNvSpPr>
            <a:spLocks xmlns:a="http://schemas.openxmlformats.org/drawingml/2006/main" noGrp="1"/>
          </p:cNvSpPr>
          <p:nvPr/>
        </p:nvSpPr>
        <p:spPr>
          <a:xfrm xmlns:a="http://schemas.openxmlformats.org/drawingml/2006/main">
            <a:off x="704850" y="1419225"/>
            <a:ext cx="342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75CBA"/>
                </a:solidFill>
                <a:latin typeface="Aptos"/>
                <a:ea typeface="Aptos"/>
                <a:cs typeface="Aptos"/>
              </a:defRPr>
            </a:pPr>
            <a:r>
              <a:rPr sz="1425" b="1">
                <a:solidFill>
                  <a:srgbClr val="275CBA"/>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867D3C91-82BD-4711-BB19-1E26A8F9BE63}"/>
              </a:ext>
            </a:extLst>
          </p:cNvPr>
          <p:cNvSpPr>
            <a:spLocks xmlns:a="http://schemas.openxmlformats.org/drawingml/2006/main" noGrp="1"/>
          </p:cNvSpPr>
          <p:nvPr/>
        </p:nvSpPr>
        <p:spPr>
          <a:xfrm xmlns:a="http://schemas.openxmlformats.org/drawingml/2006/main">
            <a:off x="1076325" y="1419225"/>
            <a:ext cx="1381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0252C"/>
                </a:solidFill>
                <a:latin typeface="Aptos"/>
                <a:ea typeface="Aptos"/>
                <a:cs typeface="Aptos"/>
              </a:defRPr>
            </a:pPr>
            <a:r>
              <a:rPr sz="1425" b="1">
                <a:solidFill>
                  <a:srgbClr val="20252C"/>
                </a:solidFill>
                <a:latin typeface="Aptos"/>
                <a:ea typeface="Aptos"/>
                <a:cs typeface="Aptos"/>
              </a:rPr>
              <a:t>Preparar</a:t>
            </a:r>
          </a:p>
        </p:txBody>
      </p:sp>
      <p:sp>
        <p:nvSpPr>
          <p:cNvPr id="9" name="">
            <a:extLst xmlns:a="http://schemas.openxmlformats.org/drawingml/2006/main">
              <a:ext uri="{FF2B5EF4-FFF2-40B4-BE49-F238E27FC236}">
                <a16:creationId xmlns:a16="http://schemas.microsoft.com/office/drawing/2014/main" id="{464CAB73-E435-48D5-A1F3-96424D6E47E7}"/>
              </a:ext>
            </a:extLst>
          </p:cNvPr>
          <p:cNvSpPr>
            <a:spLocks xmlns:a="http://schemas.openxmlformats.org/drawingml/2006/main" noGrp="1"/>
          </p:cNvSpPr>
          <p:nvPr/>
        </p:nvSpPr>
        <p:spPr>
          <a:xfrm xmlns:a="http://schemas.openxmlformats.org/drawingml/2006/main">
            <a:off x="704850" y="1847850"/>
            <a:ext cx="144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C806A"/>
                </a:solidFill>
                <a:latin typeface="Aptos"/>
                <a:ea typeface="Aptos"/>
                <a:cs typeface="Aptos"/>
              </a:defRPr>
            </a:pPr>
            <a:r>
              <a:rPr sz="1275" b="1">
                <a:solidFill>
                  <a:srgbClr val="1C806A"/>
                </a:solidFill>
                <a:latin typeface="Aptos"/>
                <a:ea typeface="Aptos"/>
                <a:cs typeface="Aptos"/>
              </a:rPr>
              <a:t>2 sem</a:t>
            </a:r>
          </a:p>
        </p:txBody>
      </p:sp>
      <p:sp>
        <p:nvSpPr>
          <p:cNvPr id="10" name="">
            <a:extLst xmlns:a="http://schemas.openxmlformats.org/drawingml/2006/main">
              <a:ext uri="{FF2B5EF4-FFF2-40B4-BE49-F238E27FC236}">
                <a16:creationId xmlns:a16="http://schemas.microsoft.com/office/drawing/2014/main" id="{EE77EAC0-644E-4E11-9B5F-AF95FA96A903}"/>
              </a:ext>
            </a:extLst>
          </p:cNvPr>
          <p:cNvSpPr>
            <a:spLocks xmlns:a="http://schemas.openxmlformats.org/drawingml/2006/main" noGrp="1"/>
          </p:cNvSpPr>
          <p:nvPr/>
        </p:nvSpPr>
        <p:spPr>
          <a:xfrm xmlns:a="http://schemas.openxmlformats.org/drawingml/2006/main">
            <a:off x="704850" y="2228850"/>
            <a:ext cx="1752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D6570"/>
                </a:solidFill>
                <a:latin typeface="Aptos"/>
                <a:ea typeface="Aptos"/>
                <a:cs typeface="Aptos"/>
              </a:defRPr>
            </a:pPr>
            <a:r>
              <a:rPr sz="1200" b="0">
                <a:solidFill>
                  <a:srgbClr val="5D6570"/>
                </a:solidFill>
                <a:latin typeface="Aptos"/>
                <a:ea typeface="Aptos"/>
                <a:cs typeface="Aptos"/>
              </a:rPr>
              <a:t>Ruta y fuentes verificadas</a:t>
            </a:r>
          </a:p>
        </p:txBody>
      </p:sp>
      <p:sp>
        <p:nvSpPr>
          <p:cNvPr id="11" name="">
            <a:extLst xmlns:a="http://schemas.openxmlformats.org/drawingml/2006/main">
              <a:ext uri="{FF2B5EF4-FFF2-40B4-BE49-F238E27FC236}">
                <a16:creationId xmlns:a16="http://schemas.microsoft.com/office/drawing/2014/main" id="{ECE64C38-49FD-4FA9-A0DC-F3FAAD41B976}"/>
              </a:ext>
            </a:extLst>
          </p:cNvPr>
          <p:cNvSpPr>
            <a:spLocks xmlns:a="http://schemas.openxmlformats.org/drawingml/2006/main" noGrp="1"/>
          </p:cNvSpPr>
          <p:nvPr/>
        </p:nvSpPr>
        <p:spPr>
          <a:xfrm xmlns:a="http://schemas.openxmlformats.org/drawingml/2006/main">
            <a:off x="2781300" y="1285875"/>
            <a:ext cx="2057400" cy="1657350"/>
          </a:xfrm>
          <a:prstGeom xmlns:a="http://schemas.openxmlformats.org/drawingml/2006/main" prst="roundRect">
            <a:avLst>
              <a:gd name="adj" fmla="val 5747"/>
            </a:avLst>
          </a:prstGeom>
          <a:solidFill xmlns:a="http://schemas.openxmlformats.org/drawingml/2006/main">
            <a:srgbClr val="F5F6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64F2BD5-289F-478E-A5BA-AFA31D84391E}"/>
              </a:ext>
            </a:extLst>
          </p:cNvPr>
          <p:cNvSpPr>
            <a:spLocks xmlns:a="http://schemas.openxmlformats.org/drawingml/2006/main" noGrp="1"/>
          </p:cNvSpPr>
          <p:nvPr/>
        </p:nvSpPr>
        <p:spPr>
          <a:xfrm xmlns:a="http://schemas.openxmlformats.org/drawingml/2006/main">
            <a:off x="2914650" y="1419225"/>
            <a:ext cx="342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75CBA"/>
                </a:solidFill>
                <a:latin typeface="Aptos"/>
                <a:ea typeface="Aptos"/>
                <a:cs typeface="Aptos"/>
              </a:defRPr>
            </a:pPr>
            <a:r>
              <a:rPr sz="1425" b="1">
                <a:solidFill>
                  <a:srgbClr val="275CBA"/>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AF450B70-BD5D-4EA1-88DD-F7D1BE363E56}"/>
              </a:ext>
            </a:extLst>
          </p:cNvPr>
          <p:cNvSpPr>
            <a:spLocks xmlns:a="http://schemas.openxmlformats.org/drawingml/2006/main" noGrp="1"/>
          </p:cNvSpPr>
          <p:nvPr/>
        </p:nvSpPr>
        <p:spPr>
          <a:xfrm xmlns:a="http://schemas.openxmlformats.org/drawingml/2006/main">
            <a:off x="3286125" y="1419225"/>
            <a:ext cx="1381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0252C"/>
                </a:solidFill>
                <a:latin typeface="Aptos"/>
                <a:ea typeface="Aptos"/>
                <a:cs typeface="Aptos"/>
              </a:defRPr>
            </a:pPr>
            <a:r>
              <a:rPr sz="1425" b="1">
                <a:solidFill>
                  <a:srgbClr val="20252C"/>
                </a:solidFill>
                <a:latin typeface="Aptos"/>
                <a:ea typeface="Aptos"/>
                <a:cs typeface="Aptos"/>
              </a:rPr>
              <a:t>Medir</a:t>
            </a:r>
          </a:p>
        </p:txBody>
      </p:sp>
      <p:sp>
        <p:nvSpPr>
          <p:cNvPr id="14" name="">
            <a:extLst xmlns:a="http://schemas.openxmlformats.org/drawingml/2006/main">
              <a:ext uri="{FF2B5EF4-FFF2-40B4-BE49-F238E27FC236}">
                <a16:creationId xmlns:a16="http://schemas.microsoft.com/office/drawing/2014/main" id="{C6A04286-328D-4319-BDC7-B7825E7782F4}"/>
              </a:ext>
            </a:extLst>
          </p:cNvPr>
          <p:cNvSpPr>
            <a:spLocks xmlns:a="http://schemas.openxmlformats.org/drawingml/2006/main" noGrp="1"/>
          </p:cNvSpPr>
          <p:nvPr/>
        </p:nvSpPr>
        <p:spPr>
          <a:xfrm xmlns:a="http://schemas.openxmlformats.org/drawingml/2006/main">
            <a:off x="2914650" y="1847850"/>
            <a:ext cx="144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C806A"/>
                </a:solidFill>
                <a:latin typeface="Aptos"/>
                <a:ea typeface="Aptos"/>
                <a:cs typeface="Aptos"/>
              </a:defRPr>
            </a:pPr>
            <a:r>
              <a:rPr sz="1275" b="1">
                <a:solidFill>
                  <a:srgbClr val="1C806A"/>
                </a:solidFill>
                <a:latin typeface="Aptos"/>
                <a:ea typeface="Aptos"/>
                <a:cs typeface="Aptos"/>
              </a:rPr>
              <a:t>2 sem</a:t>
            </a:r>
          </a:p>
        </p:txBody>
      </p:sp>
      <p:sp>
        <p:nvSpPr>
          <p:cNvPr id="15" name="">
            <a:extLst xmlns:a="http://schemas.openxmlformats.org/drawingml/2006/main">
              <a:ext uri="{FF2B5EF4-FFF2-40B4-BE49-F238E27FC236}">
                <a16:creationId xmlns:a16="http://schemas.microsoft.com/office/drawing/2014/main" id="{B9F4EB8A-D9C1-486B-929B-426DD7485F36}"/>
              </a:ext>
            </a:extLst>
          </p:cNvPr>
          <p:cNvSpPr>
            <a:spLocks xmlns:a="http://schemas.openxmlformats.org/drawingml/2006/main" noGrp="1"/>
          </p:cNvSpPr>
          <p:nvPr/>
        </p:nvSpPr>
        <p:spPr>
          <a:xfrm xmlns:a="http://schemas.openxmlformats.org/drawingml/2006/main">
            <a:off x="2914650" y="2228850"/>
            <a:ext cx="1752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D6570"/>
                </a:solidFill>
                <a:latin typeface="Aptos"/>
                <a:ea typeface="Aptos"/>
                <a:cs typeface="Aptos"/>
              </a:defRPr>
            </a:pPr>
            <a:r>
              <a:rPr sz="1200" b="0">
                <a:solidFill>
                  <a:srgbClr val="5D6570"/>
                </a:solidFill>
                <a:latin typeface="Aptos"/>
                <a:ea typeface="Aptos"/>
                <a:cs typeface="Aptos"/>
              </a:rPr>
              <a:t>Aforos, intervalos, velocidades</a:t>
            </a:r>
          </a:p>
        </p:txBody>
      </p:sp>
      <p:sp>
        <p:nvSpPr>
          <p:cNvPr id="16" name="">
            <a:extLst xmlns:a="http://schemas.openxmlformats.org/drawingml/2006/main">
              <a:ext uri="{FF2B5EF4-FFF2-40B4-BE49-F238E27FC236}">
                <a16:creationId xmlns:a16="http://schemas.microsoft.com/office/drawing/2014/main" id="{47867905-2C60-4617-99BB-537DCC5C77DE}"/>
              </a:ext>
            </a:extLst>
          </p:cNvPr>
          <p:cNvSpPr>
            <a:spLocks xmlns:a="http://schemas.openxmlformats.org/drawingml/2006/main" noGrp="1"/>
          </p:cNvSpPr>
          <p:nvPr/>
        </p:nvSpPr>
        <p:spPr>
          <a:xfrm xmlns:a="http://schemas.openxmlformats.org/drawingml/2006/main">
            <a:off x="4991100" y="1285875"/>
            <a:ext cx="2057400" cy="1657350"/>
          </a:xfrm>
          <a:prstGeom xmlns:a="http://schemas.openxmlformats.org/drawingml/2006/main" prst="roundRect">
            <a:avLst>
              <a:gd name="adj" fmla="val 5747"/>
            </a:avLst>
          </a:prstGeom>
          <a:solidFill xmlns:a="http://schemas.openxmlformats.org/drawingml/2006/main">
            <a:srgbClr val="EDF3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51910C5-5CCE-41BC-8445-31971BF6E81C}"/>
              </a:ext>
            </a:extLst>
          </p:cNvPr>
          <p:cNvSpPr>
            <a:spLocks xmlns:a="http://schemas.openxmlformats.org/drawingml/2006/main" noGrp="1"/>
          </p:cNvSpPr>
          <p:nvPr/>
        </p:nvSpPr>
        <p:spPr>
          <a:xfrm xmlns:a="http://schemas.openxmlformats.org/drawingml/2006/main">
            <a:off x="5124450" y="1419225"/>
            <a:ext cx="342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75CBA"/>
                </a:solidFill>
                <a:latin typeface="Aptos"/>
                <a:ea typeface="Aptos"/>
                <a:cs typeface="Aptos"/>
              </a:defRPr>
            </a:pPr>
            <a:r>
              <a:rPr sz="1425" b="1">
                <a:solidFill>
                  <a:srgbClr val="275CBA"/>
                </a:solidFill>
                <a:latin typeface="Aptos"/>
                <a:ea typeface="Aptos"/>
                <a:cs typeface="Aptos"/>
              </a:rPr>
              <a:t>3</a:t>
            </a:r>
          </a:p>
        </p:txBody>
      </p:sp>
      <p:sp>
        <p:nvSpPr>
          <p:cNvPr id="18" name="">
            <a:extLst xmlns:a="http://schemas.openxmlformats.org/drawingml/2006/main">
              <a:ext uri="{FF2B5EF4-FFF2-40B4-BE49-F238E27FC236}">
                <a16:creationId xmlns:a16="http://schemas.microsoft.com/office/drawing/2014/main" id="{9B6BC3A3-8A38-4100-A74F-8CF296D4F47E}"/>
              </a:ext>
            </a:extLst>
          </p:cNvPr>
          <p:cNvSpPr>
            <a:spLocks xmlns:a="http://schemas.openxmlformats.org/drawingml/2006/main" noGrp="1"/>
          </p:cNvSpPr>
          <p:nvPr/>
        </p:nvSpPr>
        <p:spPr>
          <a:xfrm xmlns:a="http://schemas.openxmlformats.org/drawingml/2006/main">
            <a:off x="5495925" y="1419225"/>
            <a:ext cx="1381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0252C"/>
                </a:solidFill>
                <a:latin typeface="Aptos"/>
                <a:ea typeface="Aptos"/>
                <a:cs typeface="Aptos"/>
              </a:defRPr>
            </a:pPr>
            <a:r>
              <a:rPr sz="1425" b="1">
                <a:solidFill>
                  <a:srgbClr val="20252C"/>
                </a:solidFill>
                <a:latin typeface="Aptos"/>
                <a:ea typeface="Aptos"/>
                <a:cs typeface="Aptos"/>
              </a:rPr>
              <a:t>Modelar</a:t>
            </a:r>
          </a:p>
        </p:txBody>
      </p:sp>
      <p:sp>
        <p:nvSpPr>
          <p:cNvPr id="19" name="">
            <a:extLst xmlns:a="http://schemas.openxmlformats.org/drawingml/2006/main">
              <a:ext uri="{FF2B5EF4-FFF2-40B4-BE49-F238E27FC236}">
                <a16:creationId xmlns:a16="http://schemas.microsoft.com/office/drawing/2014/main" id="{6843C25B-AB88-4E90-BDDC-873A637D46F4}"/>
              </a:ext>
            </a:extLst>
          </p:cNvPr>
          <p:cNvSpPr>
            <a:spLocks xmlns:a="http://schemas.openxmlformats.org/drawingml/2006/main" noGrp="1"/>
          </p:cNvSpPr>
          <p:nvPr/>
        </p:nvSpPr>
        <p:spPr>
          <a:xfrm xmlns:a="http://schemas.openxmlformats.org/drawingml/2006/main">
            <a:off x="5124450" y="1847850"/>
            <a:ext cx="144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C806A"/>
                </a:solidFill>
                <a:latin typeface="Aptos"/>
                <a:ea typeface="Aptos"/>
                <a:cs typeface="Aptos"/>
              </a:defRPr>
            </a:pPr>
            <a:r>
              <a:rPr sz="1275" b="1">
                <a:solidFill>
                  <a:srgbClr val="1C806A"/>
                </a:solidFill>
                <a:latin typeface="Aptos"/>
                <a:ea typeface="Aptos"/>
                <a:cs typeface="Aptos"/>
              </a:rPr>
              <a:t>2 sem</a:t>
            </a:r>
          </a:p>
        </p:txBody>
      </p:sp>
      <p:sp>
        <p:nvSpPr>
          <p:cNvPr id="20" name="">
            <a:extLst xmlns:a="http://schemas.openxmlformats.org/drawingml/2006/main">
              <a:ext uri="{FF2B5EF4-FFF2-40B4-BE49-F238E27FC236}">
                <a16:creationId xmlns:a16="http://schemas.microsoft.com/office/drawing/2014/main" id="{0DA64726-92AC-487C-8BB4-04CAAEE41701}"/>
              </a:ext>
            </a:extLst>
          </p:cNvPr>
          <p:cNvSpPr>
            <a:spLocks xmlns:a="http://schemas.openxmlformats.org/drawingml/2006/main" noGrp="1"/>
          </p:cNvSpPr>
          <p:nvPr/>
        </p:nvSpPr>
        <p:spPr>
          <a:xfrm xmlns:a="http://schemas.openxmlformats.org/drawingml/2006/main">
            <a:off x="5124450" y="2228850"/>
            <a:ext cx="1752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D6570"/>
                </a:solidFill>
                <a:latin typeface="Aptos"/>
                <a:ea typeface="Aptos"/>
                <a:cs typeface="Aptos"/>
              </a:defRPr>
            </a:pPr>
            <a:r>
              <a:rPr sz="1200" b="0">
                <a:solidFill>
                  <a:srgbClr val="5D6570"/>
                </a:solidFill>
                <a:latin typeface="Aptos"/>
                <a:ea typeface="Aptos"/>
                <a:cs typeface="Aptos"/>
              </a:rPr>
              <a:t>Escenarios y costo operativo</a:t>
            </a:r>
          </a:p>
        </p:txBody>
      </p:sp>
      <p:sp>
        <p:nvSpPr>
          <p:cNvPr id="21" name="">
            <a:extLst xmlns:a="http://schemas.openxmlformats.org/drawingml/2006/main">
              <a:ext uri="{FF2B5EF4-FFF2-40B4-BE49-F238E27FC236}">
                <a16:creationId xmlns:a16="http://schemas.microsoft.com/office/drawing/2014/main" id="{20619838-A082-4FC5-9C8F-133A3C677D9D}"/>
              </a:ext>
            </a:extLst>
          </p:cNvPr>
          <p:cNvSpPr>
            <a:spLocks xmlns:a="http://schemas.openxmlformats.org/drawingml/2006/main" noGrp="1"/>
          </p:cNvSpPr>
          <p:nvPr/>
        </p:nvSpPr>
        <p:spPr>
          <a:xfrm xmlns:a="http://schemas.openxmlformats.org/drawingml/2006/main">
            <a:off x="7200900" y="1285875"/>
            <a:ext cx="2057400" cy="1657350"/>
          </a:xfrm>
          <a:prstGeom xmlns:a="http://schemas.openxmlformats.org/drawingml/2006/main" prst="roundRect">
            <a:avLst>
              <a:gd name="adj" fmla="val 5747"/>
            </a:avLst>
          </a:prstGeom>
          <a:solidFill xmlns:a="http://schemas.openxmlformats.org/drawingml/2006/main">
            <a:srgbClr val="F5F6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A39AFD8-2583-47DA-AA5E-AB6ED2F2CEE5}"/>
              </a:ext>
            </a:extLst>
          </p:cNvPr>
          <p:cNvSpPr>
            <a:spLocks xmlns:a="http://schemas.openxmlformats.org/drawingml/2006/main" noGrp="1"/>
          </p:cNvSpPr>
          <p:nvPr/>
        </p:nvSpPr>
        <p:spPr>
          <a:xfrm xmlns:a="http://schemas.openxmlformats.org/drawingml/2006/main">
            <a:off x="7334250" y="1419225"/>
            <a:ext cx="342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75CBA"/>
                </a:solidFill>
                <a:latin typeface="Aptos"/>
                <a:ea typeface="Aptos"/>
                <a:cs typeface="Aptos"/>
              </a:defRPr>
            </a:pPr>
            <a:r>
              <a:rPr sz="1425" b="1">
                <a:solidFill>
                  <a:srgbClr val="275CBA"/>
                </a:solidFill>
                <a:latin typeface="Aptos"/>
                <a:ea typeface="Aptos"/>
                <a:cs typeface="Aptos"/>
              </a:rPr>
              <a:t>4</a:t>
            </a:r>
          </a:p>
        </p:txBody>
      </p:sp>
      <p:sp>
        <p:nvSpPr>
          <p:cNvPr id="23" name="">
            <a:extLst xmlns:a="http://schemas.openxmlformats.org/drawingml/2006/main">
              <a:ext uri="{FF2B5EF4-FFF2-40B4-BE49-F238E27FC236}">
                <a16:creationId xmlns:a16="http://schemas.microsoft.com/office/drawing/2014/main" id="{1DAAC06B-5BC5-49E2-B181-5D3C9E4F56A8}"/>
              </a:ext>
            </a:extLst>
          </p:cNvPr>
          <p:cNvSpPr>
            <a:spLocks xmlns:a="http://schemas.openxmlformats.org/drawingml/2006/main" noGrp="1"/>
          </p:cNvSpPr>
          <p:nvPr/>
        </p:nvSpPr>
        <p:spPr>
          <a:xfrm xmlns:a="http://schemas.openxmlformats.org/drawingml/2006/main">
            <a:off x="7705725" y="1419225"/>
            <a:ext cx="1381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0252C"/>
                </a:solidFill>
                <a:latin typeface="Aptos"/>
                <a:ea typeface="Aptos"/>
                <a:cs typeface="Aptos"/>
              </a:defRPr>
            </a:pPr>
            <a:r>
              <a:rPr sz="1425" b="1">
                <a:solidFill>
                  <a:srgbClr val="20252C"/>
                </a:solidFill>
                <a:latin typeface="Aptos"/>
                <a:ea typeface="Aptos"/>
                <a:cs typeface="Aptos"/>
              </a:rPr>
              <a:t>Acordar</a:t>
            </a:r>
          </a:p>
        </p:txBody>
      </p:sp>
      <p:sp>
        <p:nvSpPr>
          <p:cNvPr id="24" name="">
            <a:extLst xmlns:a="http://schemas.openxmlformats.org/drawingml/2006/main">
              <a:ext uri="{FF2B5EF4-FFF2-40B4-BE49-F238E27FC236}">
                <a16:creationId xmlns:a16="http://schemas.microsoft.com/office/drawing/2014/main" id="{20F721ED-7D6F-4E75-B802-8F63918274F7}"/>
              </a:ext>
            </a:extLst>
          </p:cNvPr>
          <p:cNvSpPr>
            <a:spLocks xmlns:a="http://schemas.openxmlformats.org/drawingml/2006/main" noGrp="1"/>
          </p:cNvSpPr>
          <p:nvPr/>
        </p:nvSpPr>
        <p:spPr>
          <a:xfrm xmlns:a="http://schemas.openxmlformats.org/drawingml/2006/main">
            <a:off x="7334250" y="1847850"/>
            <a:ext cx="144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C806A"/>
                </a:solidFill>
                <a:latin typeface="Aptos"/>
                <a:ea typeface="Aptos"/>
                <a:cs typeface="Aptos"/>
              </a:defRPr>
            </a:pPr>
            <a:r>
              <a:rPr sz="1275" b="1">
                <a:solidFill>
                  <a:srgbClr val="1C806A"/>
                </a:solidFill>
                <a:latin typeface="Aptos"/>
                <a:ea typeface="Aptos"/>
                <a:cs typeface="Aptos"/>
              </a:rPr>
              <a:t>1 sem</a:t>
            </a:r>
          </a:p>
        </p:txBody>
      </p:sp>
      <p:sp>
        <p:nvSpPr>
          <p:cNvPr id="25" name="">
            <a:extLst xmlns:a="http://schemas.openxmlformats.org/drawingml/2006/main">
              <a:ext uri="{FF2B5EF4-FFF2-40B4-BE49-F238E27FC236}">
                <a16:creationId xmlns:a16="http://schemas.microsoft.com/office/drawing/2014/main" id="{B8021BD4-1DD2-438F-92EC-493C30BB278D}"/>
              </a:ext>
            </a:extLst>
          </p:cNvPr>
          <p:cNvSpPr>
            <a:spLocks xmlns:a="http://schemas.openxmlformats.org/drawingml/2006/main" noGrp="1"/>
          </p:cNvSpPr>
          <p:nvPr/>
        </p:nvSpPr>
        <p:spPr>
          <a:xfrm xmlns:a="http://schemas.openxmlformats.org/drawingml/2006/main">
            <a:off x="7334250" y="2228850"/>
            <a:ext cx="1752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D6570"/>
                </a:solidFill>
                <a:latin typeface="Aptos"/>
                <a:ea typeface="Aptos"/>
                <a:cs typeface="Aptos"/>
              </a:defRPr>
            </a:pPr>
            <a:r>
              <a:rPr sz="1200" b="0">
                <a:solidFill>
                  <a:srgbClr val="5D6570"/>
                </a:solidFill>
                <a:latin typeface="Aptos"/>
                <a:ea typeface="Aptos"/>
                <a:cs typeface="Aptos"/>
              </a:rPr>
              <a:t>Revisión municipal y operadores</a:t>
            </a:r>
          </a:p>
        </p:txBody>
      </p:sp>
      <p:sp>
        <p:nvSpPr>
          <p:cNvPr id="26" name="">
            <a:extLst xmlns:a="http://schemas.openxmlformats.org/drawingml/2006/main">
              <a:ext uri="{FF2B5EF4-FFF2-40B4-BE49-F238E27FC236}">
                <a16:creationId xmlns:a16="http://schemas.microsoft.com/office/drawing/2014/main" id="{DD4A803B-5763-4554-9C88-EABC9EA941D6}"/>
              </a:ext>
            </a:extLst>
          </p:cNvPr>
          <p:cNvSpPr>
            <a:spLocks xmlns:a="http://schemas.openxmlformats.org/drawingml/2006/main" noGrp="1"/>
          </p:cNvSpPr>
          <p:nvPr/>
        </p:nvSpPr>
        <p:spPr>
          <a:xfrm xmlns:a="http://schemas.openxmlformats.org/drawingml/2006/main">
            <a:off x="9410700" y="1285875"/>
            <a:ext cx="2057400" cy="1657350"/>
          </a:xfrm>
          <a:prstGeom xmlns:a="http://schemas.openxmlformats.org/drawingml/2006/main" prst="roundRect">
            <a:avLst>
              <a:gd name="adj" fmla="val 5747"/>
            </a:avLst>
          </a:prstGeom>
          <a:solidFill xmlns:a="http://schemas.openxmlformats.org/drawingml/2006/main">
            <a:srgbClr val="EDF3F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7AF3800-C645-4375-8BD3-264E1BBEA878}"/>
              </a:ext>
            </a:extLst>
          </p:cNvPr>
          <p:cNvSpPr>
            <a:spLocks xmlns:a="http://schemas.openxmlformats.org/drawingml/2006/main" noGrp="1"/>
          </p:cNvSpPr>
          <p:nvPr/>
        </p:nvSpPr>
        <p:spPr>
          <a:xfrm xmlns:a="http://schemas.openxmlformats.org/drawingml/2006/main">
            <a:off x="9544050" y="1419225"/>
            <a:ext cx="342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75CBA"/>
                </a:solidFill>
                <a:latin typeface="Aptos"/>
                <a:ea typeface="Aptos"/>
                <a:cs typeface="Aptos"/>
              </a:defRPr>
            </a:pPr>
            <a:r>
              <a:rPr sz="1425" b="1">
                <a:solidFill>
                  <a:srgbClr val="275CBA"/>
                </a:solidFill>
                <a:latin typeface="Aptos"/>
                <a:ea typeface="Aptos"/>
                <a:cs typeface="Aptos"/>
              </a:rPr>
              <a:t>5</a:t>
            </a:r>
          </a:p>
        </p:txBody>
      </p:sp>
      <p:sp>
        <p:nvSpPr>
          <p:cNvPr id="28" name="">
            <a:extLst xmlns:a="http://schemas.openxmlformats.org/drawingml/2006/main">
              <a:ext uri="{FF2B5EF4-FFF2-40B4-BE49-F238E27FC236}">
                <a16:creationId xmlns:a16="http://schemas.microsoft.com/office/drawing/2014/main" id="{7FD69A2D-8D8E-49E9-95FF-151C654D5826}"/>
              </a:ext>
            </a:extLst>
          </p:cNvPr>
          <p:cNvSpPr>
            <a:spLocks xmlns:a="http://schemas.openxmlformats.org/drawingml/2006/main" noGrp="1"/>
          </p:cNvSpPr>
          <p:nvPr/>
        </p:nvSpPr>
        <p:spPr>
          <a:xfrm xmlns:a="http://schemas.openxmlformats.org/drawingml/2006/main">
            <a:off x="9915525" y="1419225"/>
            <a:ext cx="1381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0252C"/>
                </a:solidFill>
                <a:latin typeface="Aptos"/>
                <a:ea typeface="Aptos"/>
                <a:cs typeface="Aptos"/>
              </a:defRPr>
            </a:pPr>
            <a:r>
              <a:rPr sz="1425" b="1">
                <a:solidFill>
                  <a:srgbClr val="20252C"/>
                </a:solidFill>
                <a:latin typeface="Aptos"/>
                <a:ea typeface="Aptos"/>
                <a:cs typeface="Aptos"/>
              </a:rPr>
              <a:t>Pilotear</a:t>
            </a:r>
          </a:p>
        </p:txBody>
      </p:sp>
      <p:sp>
        <p:nvSpPr>
          <p:cNvPr id="29" name="">
            <a:extLst xmlns:a="http://schemas.openxmlformats.org/drawingml/2006/main">
              <a:ext uri="{FF2B5EF4-FFF2-40B4-BE49-F238E27FC236}">
                <a16:creationId xmlns:a16="http://schemas.microsoft.com/office/drawing/2014/main" id="{298ECF84-456A-4696-B155-BC2CE3246CF7}"/>
              </a:ext>
            </a:extLst>
          </p:cNvPr>
          <p:cNvSpPr>
            <a:spLocks xmlns:a="http://schemas.openxmlformats.org/drawingml/2006/main" noGrp="1"/>
          </p:cNvSpPr>
          <p:nvPr/>
        </p:nvSpPr>
        <p:spPr>
          <a:xfrm xmlns:a="http://schemas.openxmlformats.org/drawingml/2006/main">
            <a:off x="9544050" y="1847850"/>
            <a:ext cx="144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C806A"/>
                </a:solidFill>
                <a:latin typeface="Aptos"/>
                <a:ea typeface="Aptos"/>
                <a:cs typeface="Aptos"/>
              </a:defRPr>
            </a:pPr>
            <a:r>
              <a:rPr sz="1275" b="1">
                <a:solidFill>
                  <a:srgbClr val="1C806A"/>
                </a:solidFill>
                <a:latin typeface="Aptos"/>
                <a:ea typeface="Aptos"/>
                <a:cs typeface="Aptos"/>
              </a:rPr>
              <a:t>3–4 sem</a:t>
            </a:r>
          </a:p>
        </p:txBody>
      </p:sp>
      <p:sp>
        <p:nvSpPr>
          <p:cNvPr id="30" name="">
            <a:extLst xmlns:a="http://schemas.openxmlformats.org/drawingml/2006/main">
              <a:ext uri="{FF2B5EF4-FFF2-40B4-BE49-F238E27FC236}">
                <a16:creationId xmlns:a16="http://schemas.microsoft.com/office/drawing/2014/main" id="{A826E7F8-1EA3-4BCA-BB82-FF14E4051EE6}"/>
              </a:ext>
            </a:extLst>
          </p:cNvPr>
          <p:cNvSpPr>
            <a:spLocks xmlns:a="http://schemas.openxmlformats.org/drawingml/2006/main" noGrp="1"/>
          </p:cNvSpPr>
          <p:nvPr/>
        </p:nvSpPr>
        <p:spPr>
          <a:xfrm xmlns:a="http://schemas.openxmlformats.org/drawingml/2006/main">
            <a:off x="9544050" y="2228850"/>
            <a:ext cx="1752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5D6570"/>
                </a:solidFill>
                <a:latin typeface="Aptos"/>
                <a:ea typeface="Aptos"/>
                <a:cs typeface="Aptos"/>
              </a:defRPr>
            </a:pPr>
            <a:r>
              <a:rPr sz="1200" b="0">
                <a:solidFill>
                  <a:srgbClr val="5D6570"/>
                </a:solidFill>
                <a:latin typeface="Aptos"/>
                <a:ea typeface="Aptos"/>
                <a:cs typeface="Aptos"/>
              </a:rPr>
              <a:t>Medición y ajuste</a:t>
            </a:r>
          </a:p>
        </p:txBody>
      </p:sp>
      <p:sp>
        <p:nvSpPr>
          <p:cNvPr id="31" name="">
            <a:extLst xmlns:a="http://schemas.openxmlformats.org/drawingml/2006/main">
              <a:ext uri="{FF2B5EF4-FFF2-40B4-BE49-F238E27FC236}">
                <a16:creationId xmlns:a16="http://schemas.microsoft.com/office/drawing/2014/main" id="{C553EDBB-36B2-412C-8B22-606A39E4D8B8}"/>
              </a:ext>
            </a:extLst>
          </p:cNvPr>
          <p:cNvSpPr>
            <a:spLocks xmlns:a="http://schemas.openxmlformats.org/drawingml/2006/main" noGrp="1"/>
          </p:cNvSpPr>
          <p:nvPr/>
        </p:nvSpPr>
        <p:spPr>
          <a:xfrm xmlns:a="http://schemas.openxmlformats.org/drawingml/2006/main">
            <a:off x="571500" y="3181350"/>
            <a:ext cx="11010900" cy="0"/>
          </a:xfrm>
          <a:prstGeom xmlns:a="http://schemas.openxmlformats.org/drawingml/2006/main" prst="line">
            <a:avLst/>
          </a:prstGeom>
          <a:noFill xmlns:a="http://schemas.openxmlformats.org/drawingml/2006/main"/>
          <a:ln xmlns:a="http://schemas.openxmlformats.org/drawingml/2006/main" w="19050">
            <a:solidFill>
              <a:srgbClr val="DFE4EA"/>
            </a:solidFill>
            <a:prstDash val="solid"/>
          </a:ln>
        </p:spPr>
      </p:sp>
      <p:sp>
        <p:nvSpPr>
          <p:cNvPr id="32" name="">
            <a:extLst xmlns:a="http://schemas.openxmlformats.org/drawingml/2006/main">
              <a:ext uri="{FF2B5EF4-FFF2-40B4-BE49-F238E27FC236}">
                <a16:creationId xmlns:a16="http://schemas.microsoft.com/office/drawing/2014/main" id="{5E1B00AA-BE58-41DE-BE50-E39A184C23C8}"/>
              </a:ext>
            </a:extLst>
          </p:cNvPr>
          <p:cNvSpPr>
            <a:spLocks xmlns:a="http://schemas.openxmlformats.org/drawingml/2006/main" noGrp="1"/>
          </p:cNvSpPr>
          <p:nvPr/>
        </p:nvSpPr>
        <p:spPr>
          <a:xfrm xmlns:a="http://schemas.openxmlformats.org/drawingml/2006/main">
            <a:off x="571500" y="3448050"/>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275CBA"/>
                </a:solidFill>
                <a:latin typeface="Aptos"/>
                <a:ea typeface="Aptos"/>
                <a:cs typeface="Aptos"/>
              </a:defRPr>
            </a:pPr>
            <a:r>
              <a:rPr sz="975" b="1">
                <a:solidFill>
                  <a:srgbClr val="275CBA"/>
                </a:solidFill>
                <a:latin typeface="Aptos"/>
                <a:ea typeface="Aptos"/>
                <a:cs typeface="Aptos"/>
              </a:rPr>
              <a:t>PRESUPUESTO A COTIZAR</a:t>
            </a:r>
          </a:p>
        </p:txBody>
      </p:sp>
      <p:graphicFrame>
        <p:nvGraphicFramePr>
          <p:cNvPr id="67" name=""/>
          <p:cNvGraphicFramePr/>
          <p:nvPr/>
        </p:nvGraphicFramePr>
        <p:xfrm>
          <a:off xmlns:a="http://schemas.openxmlformats.org/drawingml/2006/main" x="571500" y="3857625"/>
          <a:ext xmlns:a="http://schemas.openxmlformats.org/drawingml/2006/main" cx="11010900" cy="2028825"/>
        </p:xfrm>
        <a:graphic xmlns:a="http://schemas.openxmlformats.org/drawingml/2006/main">
          <a:graphicData uri="http://schemas.openxmlformats.org/drawingml/2006/table">
            <a:tbl>
              <a:tblPr/>
              <a:tblGrid>
                <a:gridCol w="1771650"/>
                <a:gridCol w="6858000"/>
                <a:gridCol w="2381250"/>
              </a:tblGrid>
              <a:tr h="405765">
                <a:tc>
                  <a:txBody>
                    <a:bodyPr wrap="square" lIns="76200" tIns="47625" rIns="66675" bIns="47625">
                      <a:normAutofit/>
                    </a:bodyPr>
                    <a:lstStyle/>
                    <a:p>
                      <a:r>
                        <a:rPr sz="1125" b="1">
                          <a:solidFill>
                            <a:srgbClr val="FFFFFF"/>
                          </a:solidFill>
                          <a:latin typeface="Aptos"/>
                          <a:ea typeface="Aptos"/>
                          <a:cs typeface="Aptos"/>
                        </a:rPr>
                        <a:t>Rubro</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Recurso</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Unidad de costo</a:t>
                      </a:r>
                    </a:p>
                  </a:txBody>
                  <a:tcPr marL="91440" marR="91440" marT="45720" marB="45720" anchor="ctr">
                    <a:solidFill>
                      <a:srgbClr val="17202B"/>
                    </a:solidFill>
                  </a:tcPr>
                </a:tc>
              </a:tr>
              <a:tr h="405765">
                <a:tc>
                  <a:txBody>
                    <a:bodyPr wrap="square" lIns="76200" tIns="47625" rIns="66675" bIns="47625">
                      <a:normAutofit/>
                    </a:bodyPr>
                    <a:lstStyle/>
                    <a:p>
                      <a:r>
                        <a:rPr sz="1200" b="0">
                          <a:solidFill>
                            <a:srgbClr val="20252C"/>
                          </a:solidFill>
                          <a:latin typeface="Aptos"/>
                          <a:ea typeface="Aptos"/>
                          <a:cs typeface="Aptos"/>
                        </a:rPr>
                        <a:t>Infraestructura</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Servidor de API + base de datos; frontend; copias; dominio; monitoreo</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Mensual / anual</a:t>
                      </a:r>
                    </a:p>
                  </a:txBody>
                  <a:tcPr marL="91440" marR="91440" marT="45720" marB="45720" anchor="ctr">
                    <a:solidFill>
                      <a:srgbClr val="FFFFFF"/>
                    </a:solidFill>
                  </a:tcPr>
                </a:tc>
              </a:tr>
              <a:tr h="405765">
                <a:tc>
                  <a:txBody>
                    <a:bodyPr wrap="square" lIns="76200" tIns="47625" rIns="66675" bIns="47625">
                      <a:normAutofit/>
                    </a:bodyPr>
                    <a:lstStyle/>
                    <a:p>
                      <a:r>
                        <a:rPr sz="1200" b="0">
                          <a:solidFill>
                            <a:srgbClr val="20252C"/>
                          </a:solidFill>
                          <a:latin typeface="Aptos"/>
                          <a:ea typeface="Aptos"/>
                          <a:cs typeface="Aptos"/>
                        </a:rPr>
                        <a:t>Personal</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Responsable técnico de datos, soporte y mejora del sistema</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Horas por mes</a:t>
                      </a:r>
                    </a:p>
                  </a:txBody>
                  <a:tcPr marL="91440" marR="91440" marT="45720" marB="45720" anchor="ctr">
                    <a:solidFill>
                      <a:srgbClr val="F5F6F8"/>
                    </a:solidFill>
                  </a:tcPr>
                </a:tc>
              </a:tr>
              <a:tr h="405765">
                <a:tc>
                  <a:txBody>
                    <a:bodyPr wrap="square" lIns="76200" tIns="47625" rIns="66675" bIns="47625">
                      <a:normAutofit/>
                    </a:bodyPr>
                    <a:lstStyle/>
                    <a:p>
                      <a:r>
                        <a:rPr sz="1200" b="0">
                          <a:solidFill>
                            <a:srgbClr val="20252C"/>
                          </a:solidFill>
                          <a:latin typeface="Aptos"/>
                          <a:ea typeface="Aptos"/>
                          <a:cs typeface="Aptos"/>
                        </a:rPr>
                        <a:t>Campo</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Encuestadores, aforos, validación de paraderos y recorridos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Jornadas por corredor</a:t>
                      </a:r>
                    </a:p>
                  </a:txBody>
                  <a:tcPr marL="91440" marR="91440" marT="45720" marB="45720" anchor="ctr">
                    <a:solidFill>
                      <a:srgbClr val="FFFFFF"/>
                    </a:solidFill>
                  </a:tcPr>
                </a:tc>
              </a:tr>
              <a:tr h="405765">
                <a:tc>
                  <a:txBody>
                    <a:bodyPr wrap="square" lIns="76200" tIns="47625" rIns="66675" bIns="47625">
                      <a:normAutofit/>
                    </a:bodyPr>
                    <a:lstStyle/>
                    <a:p>
                      <a:r>
                        <a:rPr sz="1200" b="0">
                          <a:solidFill>
                            <a:srgbClr val="20252C"/>
                          </a:solidFill>
                          <a:latin typeface="Aptos"/>
                          <a:ea typeface="Aptos"/>
                          <a:cs typeface="Aptos"/>
                        </a:rPr>
                        <a:t>Operación</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GPS y conectividad si el operador no los dispone</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Por vehículo / mes</a:t>
                      </a:r>
                    </a:p>
                  </a:txBody>
                  <a:tcPr marL="91440" marR="91440" marT="45720" marB="45720" anchor="ctr">
                    <a:solidFill>
                      <a:srgbClr val="F5F6F8"/>
                    </a:solidFill>
                  </a:tcPr>
                </a:tc>
              </a:tr>
            </a:tbl>
          </a:graphicData>
        </a:graphic>
      </p:graphicFrame>
      <p:sp>
        <p:nvSpPr>
          <p:cNvPr id="34" name="">
            <a:extLst xmlns:a="http://schemas.openxmlformats.org/drawingml/2006/main">
              <a:ext uri="{FF2B5EF4-FFF2-40B4-BE49-F238E27FC236}">
                <a16:creationId xmlns:a16="http://schemas.microsoft.com/office/drawing/2014/main" id="{77A5DB5A-82D0-4062-AE38-6059E930FE56}"/>
              </a:ext>
            </a:extLst>
          </p:cNvPr>
          <p:cNvSpPr>
            <a:spLocks xmlns:a="http://schemas.openxmlformats.org/drawingml/2006/main" noGrp="1"/>
          </p:cNvSpPr>
          <p:nvPr/>
        </p:nvSpPr>
        <p:spPr>
          <a:xfrm xmlns:a="http://schemas.openxmlformats.org/drawingml/2006/main">
            <a:off x="571500" y="60388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275CBA"/>
                </a:solidFill>
                <a:latin typeface="Aptos"/>
                <a:ea typeface="Aptos"/>
                <a:cs typeface="Aptos"/>
              </a:defRPr>
            </a:pPr>
            <a:r>
              <a:rPr sz="1350" b="1">
                <a:solidFill>
                  <a:srgbClr val="275CBA"/>
                </a:solidFill>
                <a:latin typeface="Aptos"/>
                <a:ea typeface="Aptos"/>
                <a:cs typeface="Aptos"/>
              </a:rPr>
              <a:t>Costo total del piloto = infraestructura + personal + campo + conectividad. Escalar después de validar resultados y acuerdos.</a:t>
            </a:r>
          </a:p>
        </p:txBody>
      </p:sp>
    </p:spTree>
    <p:extLst>
      <p:ext uri="{BB962C8B-B14F-4D97-AF65-F5344CB8AC3E}">
        <p14:creationId xmlns:p14="http://schemas.microsoft.com/office/powerpoint/2010/main" val="1880318375"/>
      </p:ext>
    </p:extLst>
  </p:cSld>
</p:sld>
</file>

<file path=ppt/slides/slide10.xml><?xml version="1.0" encoding="utf-8"?>
<p:sld xmlns:p="http://schemas.openxmlformats.org/presentationml/2006/main">
  <p:cSld>
    <p:bg>
      <p:bgPr>
        <a:solidFill xmlns:a="http://schemas.openxmlformats.org/drawingml/2006/main">
          <a:srgbClr val="17202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B53C74B-B054-4BB7-B911-BBFF0C7C4515}"/>
              </a:ext>
            </a:extLst>
          </p:cNvPr>
          <p:cNvSpPr>
            <a:spLocks xmlns:a="http://schemas.openxmlformats.org/drawingml/2006/main" noGrp="1"/>
          </p:cNvSpPr>
          <p:nvPr/>
        </p:nvSpPr>
        <p:spPr>
          <a:xfrm xmlns:a="http://schemas.openxmlformats.org/drawingml/2006/main">
            <a:off x="571500" y="3238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FFFFFF"/>
                </a:solidFill>
                <a:latin typeface="Aptos"/>
                <a:ea typeface="Aptos"/>
                <a:cs typeface="Aptos"/>
              </a:defRPr>
            </a:pPr>
            <a:r>
              <a:rPr sz="2325" b="1">
                <a:solidFill>
                  <a:srgbClr val="FFFFFF"/>
                </a:solidFill>
                <a:latin typeface="Aptos"/>
                <a:ea typeface="Aptos"/>
                <a:cs typeface="Aptos"/>
              </a:rPr>
              <a:t>Equipo ASEDIC y siguiente decisión</a:t>
            </a:r>
          </a:p>
        </p:txBody>
      </p:sp>
      <p:sp>
        <p:nvSpPr>
          <p:cNvPr id="2" name="">
            <a:extLst xmlns:a="http://schemas.openxmlformats.org/drawingml/2006/main">
              <a:ext uri="{FF2B5EF4-FFF2-40B4-BE49-F238E27FC236}">
                <a16:creationId xmlns:a16="http://schemas.microsoft.com/office/drawing/2014/main" id="{B2B87468-2A29-4B22-94C5-EA09E981FA1F}"/>
              </a:ext>
            </a:extLst>
          </p:cNvPr>
          <p:cNvSpPr>
            <a:spLocks xmlns:a="http://schemas.openxmlformats.org/drawingml/2006/main" noGrp="1"/>
          </p:cNvSpPr>
          <p:nvPr/>
        </p:nvSpPr>
        <p:spPr>
          <a:xfrm xmlns:a="http://schemas.openxmlformats.org/drawingml/2006/main">
            <a:off x="11125200" y="4476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AFC7FF"/>
                </a:solidFill>
                <a:latin typeface="Aptos"/>
                <a:ea typeface="Aptos"/>
                <a:cs typeface="Aptos"/>
              </a:defRPr>
            </a:pPr>
            <a:r>
              <a:rPr sz="1200" b="1">
                <a:solidFill>
                  <a:srgbClr val="AFC7FF"/>
                </a:solidFill>
                <a:latin typeface="Aptos"/>
                <a:ea typeface="Aptos"/>
                <a:cs typeface="Aptos"/>
              </a:rPr>
              <a:t>10</a:t>
            </a:r>
          </a:p>
        </p:txBody>
      </p:sp>
      <p:sp>
        <p:nvSpPr>
          <p:cNvPr id="3" name="">
            <a:extLst xmlns:a="http://schemas.openxmlformats.org/drawingml/2006/main">
              <a:ext uri="{FF2B5EF4-FFF2-40B4-BE49-F238E27FC236}">
                <a16:creationId xmlns:a16="http://schemas.microsoft.com/office/drawing/2014/main" id="{100448BC-CB4A-4ED6-975D-3CED7EA7585C}"/>
              </a:ext>
            </a:extLst>
          </p:cNvPr>
          <p:cNvSpPr>
            <a:spLocks xmlns:a="http://schemas.openxmlformats.org/drawingml/2006/main" noGrp="1"/>
          </p:cNvSpPr>
          <p:nvPr/>
        </p:nvSpPr>
        <p:spPr>
          <a:xfrm xmlns:a="http://schemas.openxmlformats.org/drawingml/2006/main">
            <a:off x="571500" y="981075"/>
            <a:ext cx="11029950" cy="0"/>
          </a:xfrm>
          <a:prstGeom xmlns:a="http://schemas.openxmlformats.org/drawingml/2006/main" prst="line">
            <a:avLst/>
          </a:prstGeom>
          <a:noFill xmlns:a="http://schemas.openxmlformats.org/drawingml/2006/main"/>
          <a:ln xmlns:a="http://schemas.openxmlformats.org/drawingml/2006/main" w="19050">
            <a:solidFill>
              <a:srgbClr val="445466"/>
            </a:solidFill>
            <a:prstDash val="solid"/>
          </a:ln>
        </p:spPr>
      </p:sp>
      <p:sp>
        <p:nvSpPr>
          <p:cNvPr id="4" name="">
            <a:extLst xmlns:a="http://schemas.openxmlformats.org/drawingml/2006/main">
              <a:ext uri="{FF2B5EF4-FFF2-40B4-BE49-F238E27FC236}">
                <a16:creationId xmlns:a16="http://schemas.microsoft.com/office/drawing/2014/main" id="{7279FA37-10B7-408E-BB52-70671FD9AF41}"/>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A8B4C1"/>
                </a:solidFill>
                <a:latin typeface="Aptos"/>
                <a:ea typeface="Aptos"/>
                <a:cs typeface="Aptos"/>
              </a:defRPr>
            </a:pPr>
            <a:r>
              <a:rPr sz="825" b="0">
                <a:solidFill>
                  <a:srgbClr val="A8B4C1"/>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BBC61F99-6529-4FC0-99DE-58A43DC1587B}"/>
              </a:ext>
            </a:extLst>
          </p:cNvPr>
          <p:cNvSpPr>
            <a:spLocks xmlns:a="http://schemas.openxmlformats.org/drawingml/2006/main" noGrp="1"/>
          </p:cNvSpPr>
          <p:nvPr/>
        </p:nvSpPr>
        <p:spPr>
          <a:xfrm xmlns:a="http://schemas.openxmlformats.org/drawingml/2006/main">
            <a:off x="9105900" y="6515100"/>
            <a:ext cx="2457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a:solidFill>
                  <a:srgbClr val="A8B4C1"/>
                </a:solidFill>
                <a:latin typeface="Aptos"/>
                <a:ea typeface="Aptos"/>
                <a:cs typeface="Aptos"/>
              </a:defRPr>
            </a:pPr>
            <a:r>
              <a:rPr sz="825" b="0">
                <a:solidFill>
                  <a:srgbClr val="A8B4C1"/>
                </a:solidFill>
                <a:latin typeface="Aptos"/>
                <a:ea typeface="Aptos"/>
                <a:cs typeface="Aptos"/>
              </a:rPr>
              <a:t>FUENTES Y MÉTODO EN NOTAS</a:t>
            </a:r>
          </a:p>
        </p:txBody>
      </p:sp>
      <p:sp>
        <p:nvSpPr>
          <p:cNvPr id="6" name="">
            <a:extLst xmlns:a="http://schemas.openxmlformats.org/drawingml/2006/main">
              <a:ext uri="{FF2B5EF4-FFF2-40B4-BE49-F238E27FC236}">
                <a16:creationId xmlns:a16="http://schemas.microsoft.com/office/drawing/2014/main" id="{EDE8B7CD-B898-4E3C-A3C2-319585FCEBE9}"/>
              </a:ext>
            </a:extLst>
          </p:cNvPr>
          <p:cNvSpPr>
            <a:spLocks xmlns:a="http://schemas.openxmlformats.org/drawingml/2006/main" noGrp="1"/>
          </p:cNvSpPr>
          <p:nvPr/>
        </p:nvSpPr>
        <p:spPr>
          <a:xfrm xmlns:a="http://schemas.openxmlformats.org/drawingml/2006/main">
            <a:off x="571500" y="1409700"/>
            <a:ext cx="533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AFC7FF"/>
                </a:solidFill>
                <a:latin typeface="Aptos"/>
                <a:ea typeface="Aptos"/>
                <a:cs typeface="Aptos"/>
              </a:defRPr>
            </a:pPr>
            <a:r>
              <a:rPr sz="2025" b="1">
                <a:solidFill>
                  <a:srgbClr val="AFC7FF"/>
                </a:solidFill>
                <a:latin typeface="Aptos"/>
                <a:ea typeface="Aptos"/>
                <a:cs typeface="Aptos"/>
              </a:rPr>
              <a:t>01</a:t>
            </a:r>
          </a:p>
        </p:txBody>
      </p:sp>
      <p:sp>
        <p:nvSpPr>
          <p:cNvPr id="7" name="">
            <a:extLst xmlns:a="http://schemas.openxmlformats.org/drawingml/2006/main">
              <a:ext uri="{FF2B5EF4-FFF2-40B4-BE49-F238E27FC236}">
                <a16:creationId xmlns:a16="http://schemas.microsoft.com/office/drawing/2014/main" id="{722E179E-2950-468B-9D4C-EFDE1F16CE2E}"/>
              </a:ext>
            </a:extLst>
          </p:cNvPr>
          <p:cNvSpPr>
            <a:spLocks xmlns:a="http://schemas.openxmlformats.org/drawingml/2006/main" noGrp="1"/>
          </p:cNvSpPr>
          <p:nvPr/>
        </p:nvSpPr>
        <p:spPr>
          <a:xfrm xmlns:a="http://schemas.openxmlformats.org/drawingml/2006/main">
            <a:off x="571500" y="1924050"/>
            <a:ext cx="32956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FFFFF"/>
                </a:solidFill>
                <a:latin typeface="Aptos"/>
                <a:ea typeface="Aptos"/>
                <a:cs typeface="Aptos"/>
              </a:defRPr>
            </a:pPr>
            <a:r>
              <a:rPr sz="1875" b="1">
                <a:solidFill>
                  <a:srgbClr val="FFFFFF"/>
                </a:solidFill>
                <a:latin typeface="Aptos"/>
                <a:ea typeface="Aptos"/>
                <a:cs typeface="Aptos"/>
              </a:rPr>
              <a:t>Ivan Antony Mamani Guevara</a:t>
            </a:r>
          </a:p>
        </p:txBody>
      </p:sp>
      <p:sp>
        <p:nvSpPr>
          <p:cNvPr id="8" name="">
            <a:extLst xmlns:a="http://schemas.openxmlformats.org/drawingml/2006/main">
              <a:ext uri="{FF2B5EF4-FFF2-40B4-BE49-F238E27FC236}">
                <a16:creationId xmlns:a16="http://schemas.microsoft.com/office/drawing/2014/main" id="{738BF97E-AAF5-45C9-89D4-39D869F768A0}"/>
              </a:ext>
            </a:extLst>
          </p:cNvPr>
          <p:cNvSpPr>
            <a:spLocks xmlns:a="http://schemas.openxmlformats.org/drawingml/2006/main" noGrp="1"/>
          </p:cNvSpPr>
          <p:nvPr/>
        </p:nvSpPr>
        <p:spPr>
          <a:xfrm xmlns:a="http://schemas.openxmlformats.org/drawingml/2006/main">
            <a:off x="571500" y="28575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AFC7FF"/>
                </a:solidFill>
                <a:latin typeface="Aptos"/>
                <a:ea typeface="Aptos"/>
                <a:cs typeface="Aptos"/>
              </a:defRPr>
            </a:pPr>
            <a:r>
              <a:rPr sz="1350" b="1">
                <a:solidFill>
                  <a:srgbClr val="AFC7FF"/>
                </a:solidFill>
                <a:latin typeface="Aptos"/>
                <a:ea typeface="Aptos"/>
                <a:cs typeface="Aptos"/>
              </a:rPr>
              <a:t>Líder · 26 años</a:t>
            </a:r>
          </a:p>
        </p:txBody>
      </p:sp>
      <p:sp>
        <p:nvSpPr>
          <p:cNvPr id="9" name="">
            <a:extLst xmlns:a="http://schemas.openxmlformats.org/drawingml/2006/main">
              <a:ext uri="{FF2B5EF4-FFF2-40B4-BE49-F238E27FC236}">
                <a16:creationId xmlns:a16="http://schemas.microsoft.com/office/drawing/2014/main" id="{2238670A-CDFE-40AC-A05D-36559F2C2DF4}"/>
              </a:ext>
            </a:extLst>
          </p:cNvPr>
          <p:cNvSpPr>
            <a:spLocks xmlns:a="http://schemas.openxmlformats.org/drawingml/2006/main" noGrp="1"/>
          </p:cNvSpPr>
          <p:nvPr/>
        </p:nvSpPr>
        <p:spPr>
          <a:xfrm xmlns:a="http://schemas.openxmlformats.org/drawingml/2006/main">
            <a:off x="571500" y="3333750"/>
            <a:ext cx="323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C7D3E1"/>
                </a:solidFill>
                <a:latin typeface="Aptos"/>
                <a:ea typeface="Aptos"/>
                <a:cs typeface="Aptos"/>
              </a:defRPr>
            </a:pPr>
            <a:r>
              <a:rPr sz="1350" b="0">
                <a:solidFill>
                  <a:srgbClr val="C7D3E1"/>
                </a:solidFill>
                <a:latin typeface="Aptos"/>
                <a:ea typeface="Aptos"/>
                <a:cs typeface="Aptos"/>
              </a:rPr>
              <a:t>Coordina el producto, integra las decisiones técnicas y gestiona el piloto.</a:t>
            </a:r>
          </a:p>
        </p:txBody>
      </p:sp>
      <p:sp>
        <p:nvSpPr>
          <p:cNvPr id="10" name="">
            <a:extLst xmlns:a="http://schemas.openxmlformats.org/drawingml/2006/main">
              <a:ext uri="{FF2B5EF4-FFF2-40B4-BE49-F238E27FC236}">
                <a16:creationId xmlns:a16="http://schemas.microsoft.com/office/drawing/2014/main" id="{36FAB94E-A823-42B9-B263-8A6407D4D539}"/>
              </a:ext>
            </a:extLst>
          </p:cNvPr>
          <p:cNvSpPr>
            <a:spLocks xmlns:a="http://schemas.openxmlformats.org/drawingml/2006/main" noGrp="1"/>
          </p:cNvSpPr>
          <p:nvPr/>
        </p:nvSpPr>
        <p:spPr>
          <a:xfrm xmlns:a="http://schemas.openxmlformats.org/drawingml/2006/main">
            <a:off x="4038600" y="1524000"/>
            <a:ext cx="19050" cy="2857500"/>
          </a:xfrm>
          <a:prstGeom xmlns:a="http://schemas.openxmlformats.org/drawingml/2006/main" prst="rect">
            <a:avLst/>
          </a:prstGeom>
          <a:solidFill xmlns:a="http://schemas.openxmlformats.org/drawingml/2006/main">
            <a:srgbClr val="44546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A94F118-52E3-44C7-A6D7-5FDEFF2C792A}"/>
              </a:ext>
            </a:extLst>
          </p:cNvPr>
          <p:cNvSpPr>
            <a:spLocks xmlns:a="http://schemas.openxmlformats.org/drawingml/2006/main" noGrp="1"/>
          </p:cNvSpPr>
          <p:nvPr/>
        </p:nvSpPr>
        <p:spPr>
          <a:xfrm xmlns:a="http://schemas.openxmlformats.org/drawingml/2006/main">
            <a:off x="4267200" y="1409700"/>
            <a:ext cx="533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AFC7FF"/>
                </a:solidFill>
                <a:latin typeface="Aptos"/>
                <a:ea typeface="Aptos"/>
                <a:cs typeface="Aptos"/>
              </a:defRPr>
            </a:pPr>
            <a:r>
              <a:rPr sz="2025" b="1">
                <a:solidFill>
                  <a:srgbClr val="AFC7FF"/>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5AF84821-4734-4497-89D1-8327C44DCA09}"/>
              </a:ext>
            </a:extLst>
          </p:cNvPr>
          <p:cNvSpPr>
            <a:spLocks xmlns:a="http://schemas.openxmlformats.org/drawingml/2006/main" noGrp="1"/>
          </p:cNvSpPr>
          <p:nvPr/>
        </p:nvSpPr>
        <p:spPr>
          <a:xfrm xmlns:a="http://schemas.openxmlformats.org/drawingml/2006/main">
            <a:off x="4267200" y="1924050"/>
            <a:ext cx="32956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FFFFF"/>
                </a:solidFill>
                <a:latin typeface="Aptos"/>
                <a:ea typeface="Aptos"/>
                <a:cs typeface="Aptos"/>
              </a:defRPr>
            </a:pPr>
            <a:r>
              <a:rPr sz="1875" b="1">
                <a:solidFill>
                  <a:srgbClr val="FFFFFF"/>
                </a:solidFill>
                <a:latin typeface="Aptos"/>
                <a:ea typeface="Aptos"/>
                <a:cs typeface="Aptos"/>
              </a:rPr>
              <a:t>Josue Isaac Coila Belizario</a:t>
            </a:r>
          </a:p>
        </p:txBody>
      </p:sp>
      <p:sp>
        <p:nvSpPr>
          <p:cNvPr id="13" name="">
            <a:extLst xmlns:a="http://schemas.openxmlformats.org/drawingml/2006/main">
              <a:ext uri="{FF2B5EF4-FFF2-40B4-BE49-F238E27FC236}">
                <a16:creationId xmlns:a16="http://schemas.microsoft.com/office/drawing/2014/main" id="{31D844A5-8F78-4B0D-BE59-60EF9441B7A8}"/>
              </a:ext>
            </a:extLst>
          </p:cNvPr>
          <p:cNvSpPr>
            <a:spLocks xmlns:a="http://schemas.openxmlformats.org/drawingml/2006/main" noGrp="1"/>
          </p:cNvSpPr>
          <p:nvPr/>
        </p:nvSpPr>
        <p:spPr>
          <a:xfrm xmlns:a="http://schemas.openxmlformats.org/drawingml/2006/main">
            <a:off x="4267200" y="28575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AFC7FF"/>
                </a:solidFill>
                <a:latin typeface="Aptos"/>
                <a:ea typeface="Aptos"/>
                <a:cs typeface="Aptos"/>
              </a:defRPr>
            </a:pPr>
            <a:r>
              <a:rPr sz="1350" b="1">
                <a:solidFill>
                  <a:srgbClr val="AFC7FF"/>
                </a:solidFill>
                <a:latin typeface="Aptos"/>
                <a:ea typeface="Aptos"/>
                <a:cs typeface="Aptos"/>
              </a:rPr>
              <a:t>Investigador · 26 años</a:t>
            </a:r>
          </a:p>
        </p:txBody>
      </p:sp>
      <p:sp>
        <p:nvSpPr>
          <p:cNvPr id="14" name="">
            <a:extLst xmlns:a="http://schemas.openxmlformats.org/drawingml/2006/main">
              <a:ext uri="{FF2B5EF4-FFF2-40B4-BE49-F238E27FC236}">
                <a16:creationId xmlns:a16="http://schemas.microsoft.com/office/drawing/2014/main" id="{A6F303A0-2B4C-4714-B60C-7CE5FC302FB1}"/>
              </a:ext>
            </a:extLst>
          </p:cNvPr>
          <p:cNvSpPr>
            <a:spLocks xmlns:a="http://schemas.openxmlformats.org/drawingml/2006/main" noGrp="1"/>
          </p:cNvSpPr>
          <p:nvPr/>
        </p:nvSpPr>
        <p:spPr>
          <a:xfrm xmlns:a="http://schemas.openxmlformats.org/drawingml/2006/main">
            <a:off x="4267200" y="3333750"/>
            <a:ext cx="323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C7D3E1"/>
                </a:solidFill>
                <a:latin typeface="Aptos"/>
                <a:ea typeface="Aptos"/>
                <a:cs typeface="Aptos"/>
              </a:defRPr>
            </a:pPr>
            <a:r>
              <a:rPr sz="1350" b="0">
                <a:solidFill>
                  <a:srgbClr val="C7D3E1"/>
                </a:solidFill>
                <a:latin typeface="Aptos"/>
                <a:ea typeface="Aptos"/>
                <a:cs typeface="Aptos"/>
              </a:rPr>
              <a:t>Consolida fuentes, verifica datos y diseña las mediciones de campo.</a:t>
            </a:r>
          </a:p>
        </p:txBody>
      </p:sp>
      <p:sp>
        <p:nvSpPr>
          <p:cNvPr id="15" name="">
            <a:extLst xmlns:a="http://schemas.openxmlformats.org/drawingml/2006/main">
              <a:ext uri="{FF2B5EF4-FFF2-40B4-BE49-F238E27FC236}">
                <a16:creationId xmlns:a16="http://schemas.microsoft.com/office/drawing/2014/main" id="{9FB3113F-CAC9-4334-A90D-BA2E12D00CBC}"/>
              </a:ext>
            </a:extLst>
          </p:cNvPr>
          <p:cNvSpPr>
            <a:spLocks xmlns:a="http://schemas.openxmlformats.org/drawingml/2006/main" noGrp="1"/>
          </p:cNvSpPr>
          <p:nvPr/>
        </p:nvSpPr>
        <p:spPr>
          <a:xfrm xmlns:a="http://schemas.openxmlformats.org/drawingml/2006/main">
            <a:off x="7734300" y="1524000"/>
            <a:ext cx="19050" cy="2857500"/>
          </a:xfrm>
          <a:prstGeom xmlns:a="http://schemas.openxmlformats.org/drawingml/2006/main" prst="rect">
            <a:avLst/>
          </a:prstGeom>
          <a:solidFill xmlns:a="http://schemas.openxmlformats.org/drawingml/2006/main">
            <a:srgbClr val="44546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F1AB6B2-1874-40B9-85FA-9F6A6F4FB469}"/>
              </a:ext>
            </a:extLst>
          </p:cNvPr>
          <p:cNvSpPr>
            <a:spLocks xmlns:a="http://schemas.openxmlformats.org/drawingml/2006/main" noGrp="1"/>
          </p:cNvSpPr>
          <p:nvPr/>
        </p:nvSpPr>
        <p:spPr>
          <a:xfrm xmlns:a="http://schemas.openxmlformats.org/drawingml/2006/main">
            <a:off x="7962900" y="1409700"/>
            <a:ext cx="533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AFC7FF"/>
                </a:solidFill>
                <a:latin typeface="Aptos"/>
                <a:ea typeface="Aptos"/>
                <a:cs typeface="Aptos"/>
              </a:defRPr>
            </a:pPr>
            <a:r>
              <a:rPr sz="2025" b="1">
                <a:solidFill>
                  <a:srgbClr val="AFC7FF"/>
                </a:solidFill>
                <a:latin typeface="Aptos"/>
                <a:ea typeface="Aptos"/>
                <a:cs typeface="Aptos"/>
              </a:rPr>
              <a:t>03</a:t>
            </a:r>
          </a:p>
        </p:txBody>
      </p:sp>
      <p:sp>
        <p:nvSpPr>
          <p:cNvPr id="17" name="">
            <a:extLst xmlns:a="http://schemas.openxmlformats.org/drawingml/2006/main">
              <a:ext uri="{FF2B5EF4-FFF2-40B4-BE49-F238E27FC236}">
                <a16:creationId xmlns:a16="http://schemas.microsoft.com/office/drawing/2014/main" id="{8C0C7648-5E99-46E8-9D8C-B78E8E42A416}"/>
              </a:ext>
            </a:extLst>
          </p:cNvPr>
          <p:cNvSpPr>
            <a:spLocks xmlns:a="http://schemas.openxmlformats.org/drawingml/2006/main" noGrp="1"/>
          </p:cNvSpPr>
          <p:nvPr/>
        </p:nvSpPr>
        <p:spPr>
          <a:xfrm xmlns:a="http://schemas.openxmlformats.org/drawingml/2006/main">
            <a:off x="7962900" y="1924050"/>
            <a:ext cx="32956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FFFFF"/>
                </a:solidFill>
                <a:latin typeface="Aptos"/>
                <a:ea typeface="Aptos"/>
                <a:cs typeface="Aptos"/>
              </a:defRPr>
            </a:pPr>
            <a:r>
              <a:rPr sz="1875" b="1">
                <a:solidFill>
                  <a:srgbClr val="FFFFFF"/>
                </a:solidFill>
                <a:latin typeface="Aptos"/>
                <a:ea typeface="Aptos"/>
                <a:cs typeface="Aptos"/>
              </a:rPr>
              <a:t>Franklin Diosdado Palomino Quispe</a:t>
            </a:r>
          </a:p>
        </p:txBody>
      </p:sp>
      <p:sp>
        <p:nvSpPr>
          <p:cNvPr id="18" name="">
            <a:extLst xmlns:a="http://schemas.openxmlformats.org/drawingml/2006/main">
              <a:ext uri="{FF2B5EF4-FFF2-40B4-BE49-F238E27FC236}">
                <a16:creationId xmlns:a16="http://schemas.microsoft.com/office/drawing/2014/main" id="{08F2D6BF-FAF0-44AD-8834-B33B5EC1F84C}"/>
              </a:ext>
            </a:extLst>
          </p:cNvPr>
          <p:cNvSpPr>
            <a:spLocks xmlns:a="http://schemas.openxmlformats.org/drawingml/2006/main" noGrp="1"/>
          </p:cNvSpPr>
          <p:nvPr/>
        </p:nvSpPr>
        <p:spPr>
          <a:xfrm xmlns:a="http://schemas.openxmlformats.org/drawingml/2006/main">
            <a:off x="7962900" y="28575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AFC7FF"/>
                </a:solidFill>
                <a:latin typeface="Aptos"/>
                <a:ea typeface="Aptos"/>
                <a:cs typeface="Aptos"/>
              </a:defRPr>
            </a:pPr>
            <a:r>
              <a:rPr sz="1350" b="1">
                <a:solidFill>
                  <a:srgbClr val="AFC7FF"/>
                </a:solidFill>
                <a:latin typeface="Aptos"/>
                <a:ea typeface="Aptos"/>
                <a:cs typeface="Aptos"/>
              </a:rPr>
              <a:t>Expositor · 24 años</a:t>
            </a:r>
          </a:p>
        </p:txBody>
      </p:sp>
      <p:sp>
        <p:nvSpPr>
          <p:cNvPr id="19" name="">
            <a:extLst xmlns:a="http://schemas.openxmlformats.org/drawingml/2006/main">
              <a:ext uri="{FF2B5EF4-FFF2-40B4-BE49-F238E27FC236}">
                <a16:creationId xmlns:a16="http://schemas.microsoft.com/office/drawing/2014/main" id="{9C831647-C180-4110-9504-4B82E21CBBD6}"/>
              </a:ext>
            </a:extLst>
          </p:cNvPr>
          <p:cNvSpPr>
            <a:spLocks xmlns:a="http://schemas.openxmlformats.org/drawingml/2006/main" noGrp="1"/>
          </p:cNvSpPr>
          <p:nvPr/>
        </p:nvSpPr>
        <p:spPr>
          <a:xfrm xmlns:a="http://schemas.openxmlformats.org/drawingml/2006/main">
            <a:off x="7962900" y="3333750"/>
            <a:ext cx="323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C7D3E1"/>
                </a:solidFill>
                <a:latin typeface="Aptos"/>
                <a:ea typeface="Aptos"/>
                <a:cs typeface="Aptos"/>
              </a:defRPr>
            </a:pPr>
            <a:r>
              <a:rPr sz="1350" b="0">
                <a:solidFill>
                  <a:srgbClr val="C7D3E1"/>
                </a:solidFill>
                <a:latin typeface="Aptos"/>
                <a:ea typeface="Aptos"/>
                <a:cs typeface="Aptos"/>
              </a:rPr>
              <a:t>Explica la propuesta y comunica los resultados a jurado y usuarios.</a:t>
            </a:r>
          </a:p>
        </p:txBody>
      </p:sp>
      <p:sp>
        <p:nvSpPr>
          <p:cNvPr id="20" name="">
            <a:extLst xmlns:a="http://schemas.openxmlformats.org/drawingml/2006/main">
              <a:ext uri="{FF2B5EF4-FFF2-40B4-BE49-F238E27FC236}">
                <a16:creationId xmlns:a16="http://schemas.microsoft.com/office/drawing/2014/main" id="{F108BA0F-704F-4080-80C3-DD84B21834BE}"/>
              </a:ext>
            </a:extLst>
          </p:cNvPr>
          <p:cNvSpPr>
            <a:spLocks xmlns:a="http://schemas.openxmlformats.org/drawingml/2006/main" noGrp="1"/>
          </p:cNvSpPr>
          <p:nvPr/>
        </p:nvSpPr>
        <p:spPr>
          <a:xfrm xmlns:a="http://schemas.openxmlformats.org/drawingml/2006/main">
            <a:off x="571500" y="4810125"/>
            <a:ext cx="11010900" cy="0"/>
          </a:xfrm>
          <a:prstGeom xmlns:a="http://schemas.openxmlformats.org/drawingml/2006/main" prst="line">
            <a:avLst/>
          </a:prstGeom>
          <a:noFill xmlns:a="http://schemas.openxmlformats.org/drawingml/2006/main"/>
          <a:ln xmlns:a="http://schemas.openxmlformats.org/drawingml/2006/main" w="19050">
            <a:solidFill>
              <a:srgbClr val="445466"/>
            </a:solidFill>
            <a:prstDash val="solid"/>
          </a:ln>
        </p:spPr>
      </p:sp>
      <p:sp>
        <p:nvSpPr>
          <p:cNvPr id="21" name="">
            <a:extLst xmlns:a="http://schemas.openxmlformats.org/drawingml/2006/main">
              <a:ext uri="{FF2B5EF4-FFF2-40B4-BE49-F238E27FC236}">
                <a16:creationId xmlns:a16="http://schemas.microsoft.com/office/drawing/2014/main" id="{ED02211E-2740-48F2-B92D-5CEB6B2BD889}"/>
              </a:ext>
            </a:extLst>
          </p:cNvPr>
          <p:cNvSpPr>
            <a:spLocks xmlns:a="http://schemas.openxmlformats.org/drawingml/2006/main" noGrp="1"/>
          </p:cNvSpPr>
          <p:nvPr/>
        </p:nvSpPr>
        <p:spPr>
          <a:xfrm xmlns:a="http://schemas.openxmlformats.org/drawingml/2006/main">
            <a:off x="571500" y="5048250"/>
            <a:ext cx="26479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AFC7FF"/>
                </a:solidFill>
                <a:latin typeface="Aptos"/>
                <a:ea typeface="Aptos"/>
                <a:cs typeface="Aptos"/>
              </a:defRPr>
            </a:pPr>
            <a:r>
              <a:rPr sz="1650" b="1">
                <a:solidFill>
                  <a:srgbClr val="AFC7FF"/>
                </a:solidFill>
                <a:latin typeface="Aptos"/>
                <a:ea typeface="Aptos"/>
                <a:cs typeface="Aptos"/>
              </a:rPr>
              <a:t>Próxima decisión</a:t>
            </a:r>
          </a:p>
        </p:txBody>
      </p:sp>
      <p:sp>
        <p:nvSpPr>
          <p:cNvPr id="22" name="">
            <a:extLst xmlns:a="http://schemas.openxmlformats.org/drawingml/2006/main">
              <a:ext uri="{FF2B5EF4-FFF2-40B4-BE49-F238E27FC236}">
                <a16:creationId xmlns:a16="http://schemas.microsoft.com/office/drawing/2014/main" id="{01BDC4B1-5CB6-4355-9F3E-B79BA90C91EC}"/>
              </a:ext>
            </a:extLst>
          </p:cNvPr>
          <p:cNvSpPr>
            <a:spLocks xmlns:a="http://schemas.openxmlformats.org/drawingml/2006/main" noGrp="1"/>
          </p:cNvSpPr>
          <p:nvPr/>
        </p:nvSpPr>
        <p:spPr>
          <a:xfrm xmlns:a="http://schemas.openxmlformats.org/drawingml/2006/main">
            <a:off x="571500" y="54673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FFFFFF"/>
                </a:solidFill>
                <a:latin typeface="Aptos"/>
                <a:ea typeface="Aptos"/>
                <a:cs typeface="Aptos"/>
              </a:defRPr>
            </a:pPr>
            <a:r>
              <a:rPr sz="1950" b="1">
                <a:solidFill>
                  <a:srgbClr val="FFFFFF"/>
                </a:solidFill>
                <a:latin typeface="Aptos"/>
                <a:ea typeface="Aptos"/>
                <a:cs typeface="Aptos"/>
              </a:rPr>
              <a:t>Seleccionar un corredor, validar su operación y medir un piloto con transportistas, municipalidad y pasajeros.</a:t>
            </a:r>
          </a:p>
        </p:txBody>
      </p:sp>
    </p:spTree>
    <p:extLst>
      <p:ext uri="{BB962C8B-B14F-4D97-AF65-F5344CB8AC3E}">
        <p14:creationId xmlns:p14="http://schemas.microsoft.com/office/powerpoint/2010/main" val="168201992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0182A2A-9E61-48DB-84A5-33821A1AFB6D}"/>
              </a:ext>
            </a:extLst>
          </p:cNvPr>
          <p:cNvSpPr>
            <a:spLocks xmlns:a="http://schemas.openxmlformats.org/drawingml/2006/main" noGrp="1"/>
          </p:cNvSpPr>
          <p:nvPr/>
        </p:nvSpPr>
        <p:spPr>
          <a:xfrm xmlns:a="http://schemas.openxmlformats.org/drawingml/2006/main">
            <a:off x="571500" y="3238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Anexo A. Matriz de evidencia y alcances</a:t>
            </a:r>
          </a:p>
        </p:txBody>
      </p:sp>
      <p:sp>
        <p:nvSpPr>
          <p:cNvPr id="2" name="">
            <a:extLst xmlns:a="http://schemas.openxmlformats.org/drawingml/2006/main">
              <a:ext uri="{FF2B5EF4-FFF2-40B4-BE49-F238E27FC236}">
                <a16:creationId xmlns:a16="http://schemas.microsoft.com/office/drawing/2014/main" id="{E8B42C6C-85C7-44BA-A381-7670FF5C7B3D}"/>
              </a:ext>
            </a:extLst>
          </p:cNvPr>
          <p:cNvSpPr>
            <a:spLocks xmlns:a="http://schemas.openxmlformats.org/drawingml/2006/main" noGrp="1"/>
          </p:cNvSpPr>
          <p:nvPr/>
        </p:nvSpPr>
        <p:spPr>
          <a:xfrm xmlns:a="http://schemas.openxmlformats.org/drawingml/2006/main">
            <a:off x="11125200" y="4476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11</a:t>
            </a:r>
          </a:p>
        </p:txBody>
      </p:sp>
      <p:sp>
        <p:nvSpPr>
          <p:cNvPr id="3" name="">
            <a:extLst xmlns:a="http://schemas.openxmlformats.org/drawingml/2006/main">
              <a:ext uri="{FF2B5EF4-FFF2-40B4-BE49-F238E27FC236}">
                <a16:creationId xmlns:a16="http://schemas.microsoft.com/office/drawing/2014/main" id="{D069B1C7-4386-40ED-960B-FA09A6064AC8}"/>
              </a:ext>
            </a:extLst>
          </p:cNvPr>
          <p:cNvSpPr>
            <a:spLocks xmlns:a="http://schemas.openxmlformats.org/drawingml/2006/main" noGrp="1"/>
          </p:cNvSpPr>
          <p:nvPr/>
        </p:nvSpPr>
        <p:spPr>
          <a:xfrm xmlns:a="http://schemas.openxmlformats.org/drawingml/2006/main">
            <a:off x="571500" y="981075"/>
            <a:ext cx="11029950" cy="0"/>
          </a:xfrm>
          <a:prstGeom xmlns:a="http://schemas.openxmlformats.org/drawingml/2006/main" prst="line">
            <a:avLst/>
          </a:prstGeom>
          <a:noFill xmlns:a="http://schemas.openxmlformats.org/drawingml/2006/main"/>
          <a:ln xmlns:a="http://schemas.openxmlformats.org/drawingml/2006/main" w="19050">
            <a:solidFill>
              <a:srgbClr val="DFE4EA"/>
            </a:solidFill>
            <a:prstDash val="solid"/>
          </a:ln>
        </p:spPr>
      </p:sp>
      <p:sp>
        <p:nvSpPr>
          <p:cNvPr id="4" name="">
            <a:extLst xmlns:a="http://schemas.openxmlformats.org/drawingml/2006/main">
              <a:ext uri="{FF2B5EF4-FFF2-40B4-BE49-F238E27FC236}">
                <a16:creationId xmlns:a16="http://schemas.microsoft.com/office/drawing/2014/main" id="{C4000A40-BB13-41F4-AE09-55162CE3AD1A}"/>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7A838F"/>
                </a:solidFill>
                <a:latin typeface="Aptos"/>
                <a:ea typeface="Aptos"/>
                <a:cs typeface="Aptos"/>
              </a:defRPr>
            </a:pPr>
            <a:r>
              <a:rPr sz="825" b="0">
                <a:solidFill>
                  <a:srgbClr val="7A838F"/>
                </a:solidFill>
                <a:latin typeface="Aptos"/>
                <a:ea typeface="Aptos"/>
                <a:cs typeface="Aptos"/>
              </a:rPr>
              <a:t>ANEXO TÉCNICO · PURIY</a:t>
            </a:r>
          </a:p>
        </p:txBody>
      </p:sp>
      <p:sp>
        <p:nvSpPr>
          <p:cNvPr id="5" name="">
            <a:extLst xmlns:a="http://schemas.openxmlformats.org/drawingml/2006/main">
              <a:ext uri="{FF2B5EF4-FFF2-40B4-BE49-F238E27FC236}">
                <a16:creationId xmlns:a16="http://schemas.microsoft.com/office/drawing/2014/main" id="{C548DFE4-A67A-4963-8C56-FEFC372BE3F8}"/>
              </a:ext>
            </a:extLst>
          </p:cNvPr>
          <p:cNvSpPr>
            <a:spLocks xmlns:a="http://schemas.openxmlformats.org/drawingml/2006/main" noGrp="1"/>
          </p:cNvSpPr>
          <p:nvPr/>
        </p:nvSpPr>
        <p:spPr>
          <a:xfrm xmlns:a="http://schemas.openxmlformats.org/drawingml/2006/main">
            <a:off x="9105900" y="6515100"/>
            <a:ext cx="2457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a:solidFill>
                  <a:srgbClr val="7A838F"/>
                </a:solidFill>
                <a:latin typeface="Aptos"/>
                <a:ea typeface="Aptos"/>
                <a:cs typeface="Aptos"/>
              </a:defRPr>
            </a:pPr>
            <a:r>
              <a:rPr sz="825" b="0">
                <a:solidFill>
                  <a:srgbClr val="7A838F"/>
                </a:solidFill>
                <a:latin typeface="Aptos"/>
                <a:ea typeface="Aptos"/>
                <a:cs typeface="Aptos"/>
              </a:rPr>
              <a:t>FUENTES Y MÉTODO EN NOTAS</a:t>
            </a:r>
          </a:p>
        </p:txBody>
      </p:sp>
      <p:graphicFrame>
        <p:nvGraphicFramePr>
          <p:cNvPr id="13" name=""/>
          <p:cNvGraphicFramePr/>
          <p:nvPr/>
        </p:nvGraphicFramePr>
        <p:xfrm>
          <a:off xmlns:a="http://schemas.openxmlformats.org/drawingml/2006/main" x="571500" y="1266825"/>
          <a:ext xmlns:a="http://schemas.openxmlformats.org/drawingml/2006/main" cx="11010900" cy="4724400"/>
        </p:xfrm>
        <a:graphic xmlns:a="http://schemas.openxmlformats.org/drawingml/2006/main">
          <a:graphicData uri="http://schemas.openxmlformats.org/drawingml/2006/table">
            <a:tbl>
              <a:tblPr/>
              <a:tblGrid>
                <a:gridCol w="3714750"/>
                <a:gridCol w="3333750"/>
                <a:gridCol w="3962400"/>
              </a:tblGrid>
              <a:tr h="590550">
                <a:tc>
                  <a:txBody>
                    <a:bodyPr wrap="square" lIns="76200" tIns="47625" rIns="66675" bIns="47625">
                      <a:normAutofit/>
                    </a:bodyPr>
                    <a:lstStyle/>
                    <a:p>
                      <a:r>
                        <a:rPr sz="1050" b="1">
                          <a:solidFill>
                            <a:srgbClr val="FFFFFF"/>
                          </a:solidFill>
                          <a:latin typeface="Aptos"/>
                          <a:ea typeface="Aptos"/>
                          <a:cs typeface="Aptos"/>
                        </a:rPr>
                        <a:t>Dato</a:t>
                      </a:r>
                    </a:p>
                  </a:txBody>
                  <a:tcPr marL="91440" marR="91440" marT="45720" marB="45720" anchor="ctr">
                    <a:solidFill>
                      <a:srgbClr val="17202B"/>
                    </a:solidFill>
                  </a:tcPr>
                </a:tc>
                <a:tc>
                  <a:txBody>
                    <a:bodyPr wrap="square" lIns="76200" tIns="47625" rIns="66675" bIns="47625">
                      <a:normAutofit/>
                    </a:bodyPr>
                    <a:lstStyle/>
                    <a:p>
                      <a:r>
                        <a:rPr sz="1050" b="1">
                          <a:solidFill>
                            <a:srgbClr val="FFFFFF"/>
                          </a:solidFill>
                          <a:latin typeface="Aptos"/>
                          <a:ea typeface="Aptos"/>
                          <a:cs typeface="Aptos"/>
                        </a:rPr>
                        <a:t>Fuente y año</a:t>
                      </a:r>
                    </a:p>
                  </a:txBody>
                  <a:tcPr marL="91440" marR="91440" marT="45720" marB="45720" anchor="ctr">
                    <a:solidFill>
                      <a:srgbClr val="17202B"/>
                    </a:solidFill>
                  </a:tcPr>
                </a:tc>
                <a:tc>
                  <a:txBody>
                    <a:bodyPr wrap="square" lIns="76200" tIns="47625" rIns="66675" bIns="47625">
                      <a:normAutofit/>
                    </a:bodyPr>
                    <a:lstStyle/>
                    <a:p>
                      <a:r>
                        <a:rPr sz="1050" b="1">
                          <a:solidFill>
                            <a:srgbClr val="FFFFFF"/>
                          </a:solidFill>
                          <a:latin typeface="Aptos"/>
                          <a:ea typeface="Aptos"/>
                          <a:cs typeface="Aptos"/>
                        </a:rPr>
                        <a:t>Ámbito / límite</a:t>
                      </a:r>
                    </a:p>
                  </a:txBody>
                  <a:tcPr marL="91440" marR="91440" marT="45720" marB="45720" anchor="ctr">
                    <a:solidFill>
                      <a:srgbClr val="17202B"/>
                    </a:solidFill>
                  </a:tcPr>
                </a:tc>
              </a:tr>
              <a:tr h="590550">
                <a:tc>
                  <a:txBody>
                    <a:bodyPr wrap="square" lIns="76200" tIns="47625" rIns="66675" bIns="47625">
                      <a:normAutofit/>
                    </a:bodyPr>
                    <a:lstStyle/>
                    <a:p>
                      <a:r>
                        <a:rPr sz="1125" b="0">
                          <a:solidFill>
                            <a:srgbClr val="20252C"/>
                          </a:solidFill>
                          <a:latin typeface="Aptos"/>
                          <a:ea typeface="Aptos"/>
                          <a:cs typeface="Aptos"/>
                        </a:rPr>
                        <a:t>&gt;800 mil viajes; pico 07:00</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PMUS, nota MTC/municipio, 2026</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Juliaca + San Miguel + Caracoto; no por manzana</a:t>
                      </a:r>
                    </a:p>
                  </a:txBody>
                  <a:tcPr marL="91440" marR="91440" marT="45720" marB="45720" anchor="ctr">
                    <a:solidFill>
                      <a:srgbClr val="FFFFFF"/>
                    </a:solidFill>
                  </a:tcPr>
                </a:tc>
              </a:tr>
              <a:tr h="590550">
                <a:tc>
                  <a:txBody>
                    <a:bodyPr wrap="square" lIns="76200" tIns="47625" rIns="66675" bIns="47625">
                      <a:normAutofit/>
                    </a:bodyPr>
                    <a:lstStyle/>
                    <a:p>
                      <a:r>
                        <a:rPr sz="1125" b="0">
                          <a:solidFill>
                            <a:srgbClr val="20252C"/>
                          </a:solidFill>
                          <a:latin typeface="Aptos"/>
                          <a:ea typeface="Aptos"/>
                          <a:cs typeface="Aptos"/>
                        </a:rPr>
                        <a:t>62,3 % transporte convencional</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Municipalidad, 2026</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Participación publicada; revisar denominador técnico</a:t>
                      </a:r>
                    </a:p>
                  </a:txBody>
                  <a:tcPr marL="91440" marR="91440" marT="45720" marB="45720" anchor="ctr">
                    <a:solidFill>
                      <a:srgbClr val="F5F6F8"/>
                    </a:solidFill>
                  </a:tcPr>
                </a:tc>
              </a:tr>
              <a:tr h="590550">
                <a:tc>
                  <a:txBody>
                    <a:bodyPr wrap="square" lIns="76200" tIns="47625" rIns="66675" bIns="47625">
                      <a:normAutofit/>
                    </a:bodyPr>
                    <a:lstStyle/>
                    <a:p>
                      <a:r>
                        <a:rPr sz="1125" b="0">
                          <a:solidFill>
                            <a:srgbClr val="20252C"/>
                          </a:solidFill>
                          <a:latin typeface="Aptos"/>
                          <a:ea typeface="Aptos"/>
                          <a:cs typeface="Aptos"/>
                        </a:rPr>
                        <a:t>5.204 manzanas; 194.694 hab</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INEI Censo 2017 + cruce cartográfico</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Filtro Juliaca; registros asociados, no población actual</a:t>
                      </a:r>
                    </a:p>
                  </a:txBody>
                  <a:tcPr marL="91440" marR="91440" marT="45720" marB="45720" anchor="ctr">
                    <a:solidFill>
                      <a:srgbClr val="FFFFFF"/>
                    </a:solidFill>
                  </a:tcPr>
                </a:tc>
              </a:tr>
              <a:tr h="590550">
                <a:tc>
                  <a:txBody>
                    <a:bodyPr wrap="square" lIns="76200" tIns="47625" rIns="66675" bIns="47625">
                      <a:normAutofit/>
                    </a:bodyPr>
                    <a:lstStyle/>
                    <a:p>
                      <a:r>
                        <a:rPr sz="1125" b="0">
                          <a:solidFill>
                            <a:srgbClr val="20252C"/>
                          </a:solidFill>
                          <a:latin typeface="Aptos"/>
                          <a:ea typeface="Aptos"/>
                          <a:cs typeface="Aptos"/>
                        </a:rPr>
                        <a:t>40 líneas; 1.963 / 1.969 vehículos</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PDU, pp. 177–178, tabla 95</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Total impreso / suma de filas; pendiente conciliar</a:t>
                      </a:r>
                    </a:p>
                  </a:txBody>
                  <a:tcPr marL="91440" marR="91440" marT="45720" marB="45720" anchor="ctr">
                    <a:solidFill>
                      <a:srgbClr val="F5F6F8"/>
                    </a:solidFill>
                  </a:tcPr>
                </a:tc>
              </a:tr>
              <a:tr h="590550">
                <a:tc>
                  <a:txBody>
                    <a:bodyPr wrap="square" lIns="76200" tIns="47625" rIns="66675" bIns="47625">
                      <a:normAutofit/>
                    </a:bodyPr>
                    <a:lstStyle/>
                    <a:p>
                      <a:r>
                        <a:rPr sz="1125" b="0">
                          <a:solidFill>
                            <a:srgbClr val="20252C"/>
                          </a:solidFill>
                          <a:latin typeface="Aptos"/>
                          <a:ea typeface="Aptos"/>
                          <a:cs typeface="Aptos"/>
                        </a:rPr>
                        <a:t>6.076 mototaxis; 140 empresas</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PDU, pp. 173–175, tabla 92</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Formales registrados; no simultáneamente circulando</a:t>
                      </a:r>
                    </a:p>
                  </a:txBody>
                  <a:tcPr marL="91440" marR="91440" marT="45720" marB="45720" anchor="ctr">
                    <a:solidFill>
                      <a:srgbClr val="FFFFFF"/>
                    </a:solidFill>
                  </a:tcPr>
                </a:tc>
              </a:tr>
              <a:tr h="590550">
                <a:tc>
                  <a:txBody>
                    <a:bodyPr wrap="square" lIns="76200" tIns="47625" rIns="66675" bIns="47625">
                      <a:normAutofit/>
                    </a:bodyPr>
                    <a:lstStyle/>
                    <a:p>
                      <a:r>
                        <a:rPr sz="1125" b="0">
                          <a:solidFill>
                            <a:srgbClr val="20252C"/>
                          </a:solidFill>
                          <a:latin typeface="Aptos"/>
                          <a:ea typeface="Aptos"/>
                          <a:cs typeface="Aptos"/>
                        </a:rPr>
                        <a:t>17 entradas de atractores</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PDU, pp. 184–185, tablas 100–101</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Algunas se solapan; no son 17 demandas independientes</a:t>
                      </a:r>
                    </a:p>
                  </a:txBody>
                  <a:tcPr marL="91440" marR="91440" marT="45720" marB="45720" anchor="ctr">
                    <a:solidFill>
                      <a:srgbClr val="F5F6F8"/>
                    </a:solidFill>
                  </a:tcPr>
                </a:tc>
              </a:tr>
              <a:tr h="590550">
                <a:tc>
                  <a:txBody>
                    <a:bodyPr wrap="square" lIns="76200" tIns="47625" rIns="66675" bIns="47625">
                      <a:normAutofit/>
                    </a:bodyPr>
                    <a:lstStyle/>
                    <a:p>
                      <a:r>
                        <a:rPr sz="1125" b="0">
                          <a:solidFill>
                            <a:srgbClr val="20252C"/>
                          </a:solidFill>
                          <a:latin typeface="Aptos"/>
                          <a:ea typeface="Aptos"/>
                          <a:cs typeface="Aptos"/>
                        </a:rPr>
                        <a:t>85.482 matrículas EBR</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PDU, p. 133, tablas 64–65</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Agregado 2023; no matrícula por colegio</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9C5E1762-ADBE-4260-A7CD-3E1BB29ACD0E}"/>
              </a:ext>
            </a:extLst>
          </p:cNvPr>
          <p:cNvSpPr>
            <a:spLocks xmlns:a="http://schemas.openxmlformats.org/drawingml/2006/main" noGrp="1"/>
          </p:cNvSpPr>
          <p:nvPr/>
        </p:nvSpPr>
        <p:spPr>
          <a:xfrm xmlns:a="http://schemas.openxmlformats.org/drawingml/2006/main">
            <a:off x="571500" y="61245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275CBA"/>
                </a:solidFill>
                <a:latin typeface="Aptos"/>
                <a:ea typeface="Aptos"/>
                <a:cs typeface="Aptos"/>
              </a:defRPr>
            </a:pPr>
            <a:r>
              <a:rPr sz="1275" b="1">
                <a:solidFill>
                  <a:srgbClr val="275CBA"/>
                </a:solidFill>
                <a:latin typeface="Aptos"/>
                <a:ea typeface="Aptos"/>
                <a:cs typeface="Aptos"/>
              </a:rPr>
              <a:t>Uso en Puriy: cada cifra conserva fecha, área geográfica, fuente y nivel de verificación.</a:t>
            </a:r>
          </a:p>
        </p:txBody>
      </p:sp>
    </p:spTree>
    <p:extLst>
      <p:ext uri="{BB962C8B-B14F-4D97-AF65-F5344CB8AC3E}">
        <p14:creationId xmlns:p14="http://schemas.microsoft.com/office/powerpoint/2010/main" val="104609774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D7AE13-5899-47D8-BCB3-43CAFD10FD60}"/>
              </a:ext>
            </a:extLst>
          </p:cNvPr>
          <p:cNvSpPr>
            <a:spLocks xmlns:a="http://schemas.openxmlformats.org/drawingml/2006/main" noGrp="1"/>
          </p:cNvSpPr>
          <p:nvPr/>
        </p:nvSpPr>
        <p:spPr>
          <a:xfrm xmlns:a="http://schemas.openxmlformats.org/drawingml/2006/main">
            <a:off x="571500" y="3238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Anexo B. Indicadores para el piloto</a:t>
            </a:r>
          </a:p>
        </p:txBody>
      </p:sp>
      <p:sp>
        <p:nvSpPr>
          <p:cNvPr id="2" name="">
            <a:extLst xmlns:a="http://schemas.openxmlformats.org/drawingml/2006/main">
              <a:ext uri="{FF2B5EF4-FFF2-40B4-BE49-F238E27FC236}">
                <a16:creationId xmlns:a16="http://schemas.microsoft.com/office/drawing/2014/main" id="{80D41635-DF61-4F60-9CC0-6DA9F7BD1379}"/>
              </a:ext>
            </a:extLst>
          </p:cNvPr>
          <p:cNvSpPr>
            <a:spLocks xmlns:a="http://schemas.openxmlformats.org/drawingml/2006/main" noGrp="1"/>
          </p:cNvSpPr>
          <p:nvPr/>
        </p:nvSpPr>
        <p:spPr>
          <a:xfrm xmlns:a="http://schemas.openxmlformats.org/drawingml/2006/main">
            <a:off x="11125200" y="4476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12</a:t>
            </a:r>
          </a:p>
        </p:txBody>
      </p:sp>
      <p:sp>
        <p:nvSpPr>
          <p:cNvPr id="3" name="">
            <a:extLst xmlns:a="http://schemas.openxmlformats.org/drawingml/2006/main">
              <a:ext uri="{FF2B5EF4-FFF2-40B4-BE49-F238E27FC236}">
                <a16:creationId xmlns:a16="http://schemas.microsoft.com/office/drawing/2014/main" id="{954FDDD5-A979-4C05-A2A4-8039E33F89EA}"/>
              </a:ext>
            </a:extLst>
          </p:cNvPr>
          <p:cNvSpPr>
            <a:spLocks xmlns:a="http://schemas.openxmlformats.org/drawingml/2006/main" noGrp="1"/>
          </p:cNvSpPr>
          <p:nvPr/>
        </p:nvSpPr>
        <p:spPr>
          <a:xfrm xmlns:a="http://schemas.openxmlformats.org/drawingml/2006/main">
            <a:off x="571500" y="981075"/>
            <a:ext cx="11029950" cy="0"/>
          </a:xfrm>
          <a:prstGeom xmlns:a="http://schemas.openxmlformats.org/drawingml/2006/main" prst="line">
            <a:avLst/>
          </a:prstGeom>
          <a:noFill xmlns:a="http://schemas.openxmlformats.org/drawingml/2006/main"/>
          <a:ln xmlns:a="http://schemas.openxmlformats.org/drawingml/2006/main" w="19050">
            <a:solidFill>
              <a:srgbClr val="DFE4EA"/>
            </a:solidFill>
            <a:prstDash val="solid"/>
          </a:ln>
        </p:spPr>
      </p:sp>
      <p:sp>
        <p:nvSpPr>
          <p:cNvPr id="4" name="">
            <a:extLst xmlns:a="http://schemas.openxmlformats.org/drawingml/2006/main">
              <a:ext uri="{FF2B5EF4-FFF2-40B4-BE49-F238E27FC236}">
                <a16:creationId xmlns:a16="http://schemas.microsoft.com/office/drawing/2014/main" id="{4BDCC46B-1CE2-49FB-8172-61460F1C66B5}"/>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7A838F"/>
                </a:solidFill>
                <a:latin typeface="Aptos"/>
                <a:ea typeface="Aptos"/>
                <a:cs typeface="Aptos"/>
              </a:defRPr>
            </a:pPr>
            <a:r>
              <a:rPr sz="825" b="0">
                <a:solidFill>
                  <a:srgbClr val="7A838F"/>
                </a:solidFill>
                <a:latin typeface="Aptos"/>
                <a:ea typeface="Aptos"/>
                <a:cs typeface="Aptos"/>
              </a:rPr>
              <a:t>ANEXO TÉCNICO · PURIY</a:t>
            </a:r>
          </a:p>
        </p:txBody>
      </p:sp>
      <p:sp>
        <p:nvSpPr>
          <p:cNvPr id="5" name="">
            <a:extLst xmlns:a="http://schemas.openxmlformats.org/drawingml/2006/main">
              <a:ext uri="{FF2B5EF4-FFF2-40B4-BE49-F238E27FC236}">
                <a16:creationId xmlns:a16="http://schemas.microsoft.com/office/drawing/2014/main" id="{79742C75-AC6A-4B0A-B04A-5548E35504B2}"/>
              </a:ext>
            </a:extLst>
          </p:cNvPr>
          <p:cNvSpPr>
            <a:spLocks xmlns:a="http://schemas.openxmlformats.org/drawingml/2006/main" noGrp="1"/>
          </p:cNvSpPr>
          <p:nvPr/>
        </p:nvSpPr>
        <p:spPr>
          <a:xfrm xmlns:a="http://schemas.openxmlformats.org/drawingml/2006/main">
            <a:off x="9105900" y="6515100"/>
            <a:ext cx="2457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a:solidFill>
                  <a:srgbClr val="7A838F"/>
                </a:solidFill>
                <a:latin typeface="Aptos"/>
                <a:ea typeface="Aptos"/>
                <a:cs typeface="Aptos"/>
              </a:defRPr>
            </a:pPr>
            <a:r>
              <a:rPr sz="825" b="0">
                <a:solidFill>
                  <a:srgbClr val="7A838F"/>
                </a:solidFill>
                <a:latin typeface="Aptos"/>
                <a:ea typeface="Aptos"/>
                <a:cs typeface="Aptos"/>
              </a:rPr>
              <a:t>FUENTES Y MÉTODO EN NOTAS</a:t>
            </a:r>
          </a:p>
        </p:txBody>
      </p:sp>
      <p:graphicFrame>
        <p:nvGraphicFramePr>
          <p:cNvPr id="13" name=""/>
          <p:cNvGraphicFramePr/>
          <p:nvPr/>
        </p:nvGraphicFramePr>
        <p:xfrm>
          <a:off xmlns:a="http://schemas.openxmlformats.org/drawingml/2006/main" x="571500" y="1257300"/>
          <a:ext xmlns:a="http://schemas.openxmlformats.org/drawingml/2006/main" cx="11010900" cy="4762500"/>
        </p:xfrm>
        <a:graphic xmlns:a="http://schemas.openxmlformats.org/drawingml/2006/main">
          <a:graphicData uri="http://schemas.openxmlformats.org/drawingml/2006/table">
            <a:tbl>
              <a:tblPr/>
              <a:tblGrid>
                <a:gridCol w="2238375"/>
                <a:gridCol w="5695950"/>
                <a:gridCol w="3076575"/>
              </a:tblGrid>
              <a:tr h="529167">
                <a:tc>
                  <a:txBody>
                    <a:bodyPr wrap="square" lIns="76200" tIns="47625" rIns="66675" bIns="47625">
                      <a:normAutofit/>
                    </a:bodyPr>
                    <a:lstStyle/>
                    <a:p>
                      <a:r>
                        <a:rPr sz="1050" b="1">
                          <a:solidFill>
                            <a:srgbClr val="FFFFFF"/>
                          </a:solidFill>
                          <a:latin typeface="Aptos"/>
                          <a:ea typeface="Aptos"/>
                          <a:cs typeface="Aptos"/>
                        </a:rPr>
                        <a:t>Indicador</a:t>
                      </a:r>
                    </a:p>
                  </a:txBody>
                  <a:tcPr marL="91440" marR="91440" marT="45720" marB="45720" anchor="ctr">
                    <a:solidFill>
                      <a:srgbClr val="17202B"/>
                    </a:solidFill>
                  </a:tcPr>
                </a:tc>
                <a:tc>
                  <a:txBody>
                    <a:bodyPr wrap="square" lIns="76200" tIns="47625" rIns="66675" bIns="47625">
                      <a:normAutofit/>
                    </a:bodyPr>
                    <a:lstStyle/>
                    <a:p>
                      <a:r>
                        <a:rPr sz="1050" b="1">
                          <a:solidFill>
                            <a:srgbClr val="FFFFFF"/>
                          </a:solidFill>
                          <a:latin typeface="Aptos"/>
                          <a:ea typeface="Aptos"/>
                          <a:cs typeface="Aptos"/>
                        </a:rPr>
                        <a:t>Definición operativa</a:t>
                      </a:r>
                    </a:p>
                  </a:txBody>
                  <a:tcPr marL="91440" marR="91440" marT="45720" marB="45720" anchor="ctr">
                    <a:solidFill>
                      <a:srgbClr val="17202B"/>
                    </a:solidFill>
                  </a:tcPr>
                </a:tc>
                <a:tc>
                  <a:txBody>
                    <a:bodyPr wrap="square" lIns="76200" tIns="47625" rIns="66675" bIns="47625">
                      <a:normAutofit/>
                    </a:bodyPr>
                    <a:lstStyle/>
                    <a:p>
                      <a:r>
                        <a:rPr sz="1050" b="1">
                          <a:solidFill>
                            <a:srgbClr val="FFFFFF"/>
                          </a:solidFill>
                          <a:latin typeface="Aptos"/>
                          <a:ea typeface="Aptos"/>
                          <a:cs typeface="Aptos"/>
                        </a:rPr>
                        <a:t>Fuente de campo</a:t>
                      </a:r>
                    </a:p>
                  </a:txBody>
                  <a:tcPr marL="91440" marR="91440" marT="45720" marB="45720" anchor="ctr">
                    <a:solidFill>
                      <a:srgbClr val="17202B"/>
                    </a:solidFill>
                  </a:tcPr>
                </a:tc>
              </a:tr>
              <a:tr h="529167">
                <a:tc>
                  <a:txBody>
                    <a:bodyPr wrap="square" lIns="76200" tIns="47625" rIns="66675" bIns="47625">
                      <a:normAutofit/>
                    </a:bodyPr>
                    <a:lstStyle/>
                    <a:p>
                      <a:r>
                        <a:rPr sz="1125" b="0">
                          <a:solidFill>
                            <a:srgbClr val="20252C"/>
                          </a:solidFill>
                          <a:latin typeface="Aptos"/>
                          <a:ea typeface="Aptos"/>
                          <a:cs typeface="Aptos"/>
                        </a:rPr>
                        <a:t>Cobertura poblacional</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Habitantes conocidos a ≤400 m de un abordaje validado</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Censo + rutas peatonales</a:t>
                      </a:r>
                    </a:p>
                  </a:txBody>
                  <a:tcPr marL="91440" marR="91440" marT="45720" marB="45720" anchor="ctr">
                    <a:solidFill>
                      <a:srgbClr val="FFFFFF"/>
                    </a:solidFill>
                  </a:tcPr>
                </a:tc>
              </a:tr>
              <a:tr h="529167">
                <a:tc>
                  <a:txBody>
                    <a:bodyPr wrap="square" lIns="76200" tIns="47625" rIns="66675" bIns="47625">
                      <a:normAutofit/>
                    </a:bodyPr>
                    <a:lstStyle/>
                    <a:p>
                      <a:r>
                        <a:rPr sz="1125" b="0">
                          <a:solidFill>
                            <a:srgbClr val="20252C"/>
                          </a:solidFill>
                          <a:latin typeface="Aptos"/>
                          <a:ea typeface="Aptos"/>
                          <a:cs typeface="Aptos"/>
                        </a:rPr>
                        <a:t>Acceso a destino</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Personas conocidas que alcanzan un servicio abierto en ≤45 min</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Horarios + viaje medido</a:t>
                      </a:r>
                    </a:p>
                  </a:txBody>
                  <a:tcPr marL="91440" marR="91440" marT="45720" marB="45720" anchor="ctr">
                    <a:solidFill>
                      <a:srgbClr val="F5F6F8"/>
                    </a:solidFill>
                  </a:tcPr>
                </a:tc>
              </a:tr>
              <a:tr h="529167">
                <a:tc>
                  <a:txBody>
                    <a:bodyPr wrap="square" lIns="76200" tIns="47625" rIns="66675" bIns="47625">
                      <a:normAutofit/>
                    </a:bodyPr>
                    <a:lstStyle/>
                    <a:p>
                      <a:r>
                        <a:rPr sz="1125" b="0">
                          <a:solidFill>
                            <a:srgbClr val="20252C"/>
                          </a:solidFill>
                          <a:latin typeface="Aptos"/>
                          <a:ea typeface="Aptos"/>
                          <a:cs typeface="Aptos"/>
                        </a:rPr>
                        <a:t>Espera</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Intervalo observado/2 para llegada aleatoria; confirmar variabilidad</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Conteo en parada y GPS</a:t>
                      </a:r>
                    </a:p>
                  </a:txBody>
                  <a:tcPr marL="91440" marR="91440" marT="45720" marB="45720" anchor="ctr">
                    <a:solidFill>
                      <a:srgbClr val="FFFFFF"/>
                    </a:solidFill>
                  </a:tcPr>
                </a:tc>
              </a:tr>
              <a:tr h="529167">
                <a:tc>
                  <a:txBody>
                    <a:bodyPr wrap="square" lIns="76200" tIns="47625" rIns="66675" bIns="47625">
                      <a:normAutofit/>
                    </a:bodyPr>
                    <a:lstStyle/>
                    <a:p>
                      <a:r>
                        <a:rPr sz="1125" b="0">
                          <a:solidFill>
                            <a:srgbClr val="20252C"/>
                          </a:solidFill>
                          <a:latin typeface="Aptos"/>
                          <a:ea typeface="Aptos"/>
                          <a:cs typeface="Aptos"/>
                        </a:rPr>
                        <a:t>Regularidad</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Variación de intervalos por ruta, sentido, día y hora</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Despacho y GPS</a:t>
                      </a:r>
                    </a:p>
                  </a:txBody>
                  <a:tcPr marL="91440" marR="91440" marT="45720" marB="45720" anchor="ctr">
                    <a:solidFill>
                      <a:srgbClr val="F5F6F8"/>
                    </a:solidFill>
                  </a:tcPr>
                </a:tc>
              </a:tr>
              <a:tr h="529167">
                <a:tc>
                  <a:txBody>
                    <a:bodyPr wrap="square" lIns="76200" tIns="47625" rIns="66675" bIns="47625">
                      <a:normAutofit/>
                    </a:bodyPr>
                    <a:lstStyle/>
                    <a:p>
                      <a:r>
                        <a:rPr sz="1125" b="0">
                          <a:solidFill>
                            <a:srgbClr val="20252C"/>
                          </a:solidFill>
                          <a:latin typeface="Aptos"/>
                          <a:ea typeface="Aptos"/>
                          <a:cs typeface="Aptos"/>
                        </a:rPr>
                        <a:t>Capacidad</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Plazas/h/sentido y ocupación en tramo crítico</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Flota habilitada + aforo</a:t>
                      </a:r>
                    </a:p>
                  </a:txBody>
                  <a:tcPr marL="91440" marR="91440" marT="45720" marB="45720" anchor="ctr">
                    <a:solidFill>
                      <a:srgbClr val="FFFFFF"/>
                    </a:solidFill>
                  </a:tcPr>
                </a:tc>
              </a:tr>
              <a:tr h="529167">
                <a:tc>
                  <a:txBody>
                    <a:bodyPr wrap="square" lIns="76200" tIns="47625" rIns="66675" bIns="47625">
                      <a:normAutofit/>
                    </a:bodyPr>
                    <a:lstStyle/>
                    <a:p>
                      <a:r>
                        <a:rPr sz="1125" b="0">
                          <a:solidFill>
                            <a:srgbClr val="20252C"/>
                          </a:solidFill>
                          <a:latin typeface="Aptos"/>
                          <a:ea typeface="Aptos"/>
                          <a:cs typeface="Aptos"/>
                        </a:rPr>
                        <a:t>Congestión</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Velocidad reciente vs histórica del mismo tramo/franja</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GPS con muestras suficientes</a:t>
                      </a:r>
                    </a:p>
                  </a:txBody>
                  <a:tcPr marL="91440" marR="91440" marT="45720" marB="45720" anchor="ctr">
                    <a:solidFill>
                      <a:srgbClr val="F5F6F8"/>
                    </a:solidFill>
                  </a:tcPr>
                </a:tc>
              </a:tr>
              <a:tr h="529167">
                <a:tc>
                  <a:txBody>
                    <a:bodyPr wrap="square" lIns="76200" tIns="47625" rIns="66675" bIns="47625">
                      <a:normAutofit/>
                    </a:bodyPr>
                    <a:lstStyle/>
                    <a:p>
                      <a:r>
                        <a:rPr sz="1125" b="0">
                          <a:solidFill>
                            <a:srgbClr val="20252C"/>
                          </a:solidFill>
                          <a:latin typeface="Aptos"/>
                          <a:ea typeface="Aptos"/>
                          <a:cs typeface="Aptos"/>
                        </a:rPr>
                        <a:t>Seguridad</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Abordajes validados y desvíos documentados</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Auditoría de campo + registros</a:t>
                      </a:r>
                    </a:p>
                  </a:txBody>
                  <a:tcPr marL="91440" marR="91440" marT="45720" marB="45720" anchor="ctr">
                    <a:solidFill>
                      <a:srgbClr val="FFFFFF"/>
                    </a:solidFill>
                  </a:tcPr>
                </a:tc>
              </a:tr>
              <a:tr h="529167">
                <a:tc>
                  <a:txBody>
                    <a:bodyPr wrap="square" lIns="76200" tIns="47625" rIns="66675" bIns="47625">
                      <a:normAutofit/>
                    </a:bodyPr>
                    <a:lstStyle/>
                    <a:p>
                      <a:r>
                        <a:rPr sz="1125" b="0">
                          <a:solidFill>
                            <a:srgbClr val="20252C"/>
                          </a:solidFill>
                          <a:latin typeface="Aptos"/>
                          <a:ea typeface="Aptos"/>
                          <a:cs typeface="Aptos"/>
                        </a:rPr>
                        <a:t>Equidad</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Habitantes que ganan/pierden acceso entre escenarios</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Resultados por manzana</a:t>
                      </a:r>
                    </a:p>
                  </a:txBody>
                  <a:tcPr marL="91440" marR="91440" marT="45720" marB="45720" anchor="ctr">
                    <a:solidFill>
                      <a:srgbClr val="F5F6F8"/>
                    </a:solidFill>
                  </a:tcPr>
                </a:tc>
              </a:tr>
            </a:tbl>
          </a:graphicData>
        </a:graphic>
      </p:graphicFrame>
      <p:sp>
        <p:nvSpPr>
          <p:cNvPr id="7" name="">
            <a:extLst xmlns:a="http://schemas.openxmlformats.org/drawingml/2006/main">
              <a:ext uri="{FF2B5EF4-FFF2-40B4-BE49-F238E27FC236}">
                <a16:creationId xmlns:a16="http://schemas.microsoft.com/office/drawing/2014/main" id="{732466FD-05AF-4570-941D-BAB431394AFB}"/>
              </a:ext>
            </a:extLst>
          </p:cNvPr>
          <p:cNvSpPr>
            <a:spLocks xmlns:a="http://schemas.openxmlformats.org/drawingml/2006/main" noGrp="1"/>
          </p:cNvSpPr>
          <p:nvPr/>
        </p:nvSpPr>
        <p:spPr>
          <a:xfrm xmlns:a="http://schemas.openxmlformats.org/drawingml/2006/main">
            <a:off x="571500" y="614362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AF343B"/>
                </a:solidFill>
                <a:latin typeface="Aptos"/>
                <a:ea typeface="Aptos"/>
                <a:cs typeface="Aptos"/>
              </a:defRPr>
            </a:pPr>
            <a:r>
              <a:rPr sz="1275" b="1">
                <a:solidFill>
                  <a:srgbClr val="AF343B"/>
                </a:solidFill>
                <a:latin typeface="Aptos"/>
                <a:ea typeface="Aptos"/>
                <a:cs typeface="Aptos"/>
              </a:rPr>
              <a:t>Reportar siempre las manzanas sin población asociada y los destinos sin ubicación u horario verificado.</a:t>
            </a:r>
          </a:p>
        </p:txBody>
      </p:sp>
    </p:spTree>
    <p:extLst>
      <p:ext uri="{BB962C8B-B14F-4D97-AF65-F5344CB8AC3E}">
        <p14:creationId xmlns:p14="http://schemas.microsoft.com/office/powerpoint/2010/main" val="32710619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488603D0-58D9-4CF5-984C-C513B854A494}"/>
              </a:ext>
            </a:extLst>
          </p:cNvPr>
          <p:cNvSpPr>
            <a:spLocks xmlns:a="http://schemas.openxmlformats.org/drawingml/2006/main" noGrp="1"/>
          </p:cNvSpPr>
          <p:nvPr/>
        </p:nvSpPr>
        <p:spPr>
          <a:xfrm xmlns:a="http://schemas.openxmlformats.org/drawingml/2006/main">
            <a:off x="571500" y="32385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Anexo C. Condiciones para pasar del prototipo al servicio</a:t>
            </a:r>
          </a:p>
        </p:txBody>
      </p:sp>
      <p:sp>
        <p:nvSpPr>
          <p:cNvPr id="2" name="">
            <a:extLst xmlns:a="http://schemas.openxmlformats.org/drawingml/2006/main">
              <a:ext uri="{FF2B5EF4-FFF2-40B4-BE49-F238E27FC236}">
                <a16:creationId xmlns:a16="http://schemas.microsoft.com/office/drawing/2014/main" id="{E71A9E4C-F955-4D4E-91CA-84C6AD35ECDD}"/>
              </a:ext>
            </a:extLst>
          </p:cNvPr>
          <p:cNvSpPr>
            <a:spLocks xmlns:a="http://schemas.openxmlformats.org/drawingml/2006/main" noGrp="1"/>
          </p:cNvSpPr>
          <p:nvPr/>
        </p:nvSpPr>
        <p:spPr>
          <a:xfrm xmlns:a="http://schemas.openxmlformats.org/drawingml/2006/main">
            <a:off x="11125200" y="4476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13</a:t>
            </a:r>
          </a:p>
        </p:txBody>
      </p:sp>
      <p:sp>
        <p:nvSpPr>
          <p:cNvPr id="3" name="">
            <a:extLst xmlns:a="http://schemas.openxmlformats.org/drawingml/2006/main">
              <a:ext uri="{FF2B5EF4-FFF2-40B4-BE49-F238E27FC236}">
                <a16:creationId xmlns:a16="http://schemas.microsoft.com/office/drawing/2014/main" id="{38DA1114-AB53-431F-8F8A-0DCBEA584DDD}"/>
              </a:ext>
            </a:extLst>
          </p:cNvPr>
          <p:cNvSpPr>
            <a:spLocks xmlns:a="http://schemas.openxmlformats.org/drawingml/2006/main" noGrp="1"/>
          </p:cNvSpPr>
          <p:nvPr/>
        </p:nvSpPr>
        <p:spPr>
          <a:xfrm xmlns:a="http://schemas.openxmlformats.org/drawingml/2006/main">
            <a:off x="571500" y="981075"/>
            <a:ext cx="11029950" cy="0"/>
          </a:xfrm>
          <a:prstGeom xmlns:a="http://schemas.openxmlformats.org/drawingml/2006/main" prst="line">
            <a:avLst/>
          </a:prstGeom>
          <a:noFill xmlns:a="http://schemas.openxmlformats.org/drawingml/2006/main"/>
          <a:ln xmlns:a="http://schemas.openxmlformats.org/drawingml/2006/main" w="19050">
            <a:solidFill>
              <a:srgbClr val="DFE4EA"/>
            </a:solidFill>
            <a:prstDash val="solid"/>
          </a:ln>
        </p:spPr>
      </p:sp>
      <p:sp>
        <p:nvSpPr>
          <p:cNvPr id="4" name="">
            <a:extLst xmlns:a="http://schemas.openxmlformats.org/drawingml/2006/main">
              <a:ext uri="{FF2B5EF4-FFF2-40B4-BE49-F238E27FC236}">
                <a16:creationId xmlns:a16="http://schemas.microsoft.com/office/drawing/2014/main" id="{49A399D1-C9CC-4524-BA15-A968961CEA44}"/>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a:solidFill>
                  <a:srgbClr val="7A838F"/>
                </a:solidFill>
                <a:latin typeface="Aptos"/>
                <a:ea typeface="Aptos"/>
                <a:cs typeface="Aptos"/>
              </a:defRPr>
            </a:pPr>
            <a:r>
              <a:rPr sz="825" b="0">
                <a:solidFill>
                  <a:srgbClr val="7A838F"/>
                </a:solidFill>
                <a:latin typeface="Aptos"/>
                <a:ea typeface="Aptos"/>
                <a:cs typeface="Aptos"/>
              </a:rPr>
              <a:t>ANEXO TÉCNICO · PURIY</a:t>
            </a:r>
          </a:p>
        </p:txBody>
      </p:sp>
      <p:sp>
        <p:nvSpPr>
          <p:cNvPr id="5" name="">
            <a:extLst xmlns:a="http://schemas.openxmlformats.org/drawingml/2006/main">
              <a:ext uri="{FF2B5EF4-FFF2-40B4-BE49-F238E27FC236}">
                <a16:creationId xmlns:a16="http://schemas.microsoft.com/office/drawing/2014/main" id="{600D39AD-1E44-4E4C-813C-F526EE50D531}"/>
              </a:ext>
            </a:extLst>
          </p:cNvPr>
          <p:cNvSpPr>
            <a:spLocks xmlns:a="http://schemas.openxmlformats.org/drawingml/2006/main" noGrp="1"/>
          </p:cNvSpPr>
          <p:nvPr/>
        </p:nvSpPr>
        <p:spPr>
          <a:xfrm xmlns:a="http://schemas.openxmlformats.org/drawingml/2006/main">
            <a:off x="9105900" y="6515100"/>
            <a:ext cx="2457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a:solidFill>
                  <a:srgbClr val="7A838F"/>
                </a:solidFill>
                <a:latin typeface="Aptos"/>
                <a:ea typeface="Aptos"/>
                <a:cs typeface="Aptos"/>
              </a:defRPr>
            </a:pPr>
            <a:r>
              <a:rPr sz="825" b="0">
                <a:solidFill>
                  <a:srgbClr val="7A838F"/>
                </a:solidFill>
                <a:latin typeface="Aptos"/>
                <a:ea typeface="Aptos"/>
                <a:cs typeface="Aptos"/>
              </a:rPr>
              <a:t>FUENTES Y MÉTODO EN NOTAS</a:t>
            </a:r>
          </a:p>
        </p:txBody>
      </p:sp>
      <p:sp>
        <p:nvSpPr>
          <p:cNvPr id="6" name="">
            <a:extLst xmlns:a="http://schemas.openxmlformats.org/drawingml/2006/main">
              <a:ext uri="{FF2B5EF4-FFF2-40B4-BE49-F238E27FC236}">
                <a16:creationId xmlns:a16="http://schemas.microsoft.com/office/drawing/2014/main" id="{44266B5D-B82C-4CD8-874D-DFCAE9FD74C8}"/>
              </a:ext>
            </a:extLst>
          </p:cNvPr>
          <p:cNvSpPr>
            <a:spLocks xmlns:a="http://schemas.openxmlformats.org/drawingml/2006/main" noGrp="1"/>
          </p:cNvSpPr>
          <p:nvPr/>
        </p:nvSpPr>
        <p:spPr>
          <a:xfrm xmlns:a="http://schemas.openxmlformats.org/drawingml/2006/main">
            <a:off x="571500" y="1362075"/>
            <a:ext cx="5305425" cy="1304925"/>
          </a:xfrm>
          <a:prstGeom xmlns:a="http://schemas.openxmlformats.org/drawingml/2006/main" prst="roundRect">
            <a:avLst>
              <a:gd name="adj" fmla="val 7299"/>
            </a:avLst>
          </a:prstGeom>
          <a:solidFill xmlns:a="http://schemas.openxmlformats.org/drawingml/2006/main">
            <a:srgbClr val="EDF3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5C8D541-40F8-4E78-B199-1BCD1BD380C6}"/>
              </a:ext>
            </a:extLst>
          </p:cNvPr>
          <p:cNvSpPr>
            <a:spLocks xmlns:a="http://schemas.openxmlformats.org/drawingml/2006/main" noGrp="1"/>
          </p:cNvSpPr>
          <p:nvPr/>
        </p:nvSpPr>
        <p:spPr>
          <a:xfrm xmlns:a="http://schemas.openxmlformats.org/drawingml/2006/main">
            <a:off x="723900" y="15240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75CBA"/>
                </a:solidFill>
                <a:latin typeface="Aptos"/>
                <a:ea typeface="Aptos"/>
                <a:cs typeface="Aptos"/>
              </a:defRPr>
            </a:pPr>
            <a:r>
              <a:rPr sz="1500" b="1">
                <a:solidFill>
                  <a:srgbClr val="275CBA"/>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548165B0-6EDD-4133-8E38-414597ACA6FD}"/>
              </a:ext>
            </a:extLst>
          </p:cNvPr>
          <p:cNvSpPr>
            <a:spLocks xmlns:a="http://schemas.openxmlformats.org/drawingml/2006/main" noGrp="1"/>
          </p:cNvSpPr>
          <p:nvPr/>
        </p:nvSpPr>
        <p:spPr>
          <a:xfrm xmlns:a="http://schemas.openxmlformats.org/drawingml/2006/main">
            <a:off x="1238250" y="1524000"/>
            <a:ext cx="436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0252C"/>
                </a:solidFill>
                <a:latin typeface="Aptos"/>
                <a:ea typeface="Aptos"/>
                <a:cs typeface="Aptos"/>
              </a:defRPr>
            </a:pPr>
            <a:r>
              <a:rPr sz="1500" b="1">
                <a:solidFill>
                  <a:srgbClr val="20252C"/>
                </a:solidFill>
                <a:latin typeface="Aptos"/>
                <a:ea typeface="Aptos"/>
                <a:cs typeface="Aptos"/>
              </a:rPr>
              <a:t>Rutas oficiales</a:t>
            </a:r>
          </a:p>
        </p:txBody>
      </p:sp>
      <p:sp>
        <p:nvSpPr>
          <p:cNvPr id="9" name="">
            <a:extLst xmlns:a="http://schemas.openxmlformats.org/drawingml/2006/main">
              <a:ext uri="{FF2B5EF4-FFF2-40B4-BE49-F238E27FC236}">
                <a16:creationId xmlns:a16="http://schemas.microsoft.com/office/drawing/2014/main" id="{279E03B4-CA05-49E1-861B-9CC9A73283C4}"/>
              </a:ext>
            </a:extLst>
          </p:cNvPr>
          <p:cNvSpPr>
            <a:spLocks xmlns:a="http://schemas.openxmlformats.org/drawingml/2006/main" noGrp="1"/>
          </p:cNvSpPr>
          <p:nvPr/>
        </p:nvSpPr>
        <p:spPr>
          <a:xfrm xmlns:a="http://schemas.openxmlformats.org/drawingml/2006/main">
            <a:off x="1238250" y="1895475"/>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D6570"/>
                </a:solidFill>
                <a:latin typeface="Aptos"/>
                <a:ea typeface="Aptos"/>
                <a:cs typeface="Aptos"/>
              </a:defRPr>
            </a:pPr>
            <a:r>
              <a:rPr sz="1275" b="0">
                <a:solidFill>
                  <a:srgbClr val="5D6570"/>
                </a:solidFill>
                <a:latin typeface="Aptos"/>
                <a:ea typeface="Aptos"/>
                <a:cs typeface="Aptos"/>
              </a:rPr>
              <a:t>Obtener trazado vigente, paraderos y resolución. Validar ida y vuelta en campo.</a:t>
            </a:r>
          </a:p>
        </p:txBody>
      </p:sp>
      <p:sp>
        <p:nvSpPr>
          <p:cNvPr id="10" name="">
            <a:extLst xmlns:a="http://schemas.openxmlformats.org/drawingml/2006/main">
              <a:ext uri="{FF2B5EF4-FFF2-40B4-BE49-F238E27FC236}">
                <a16:creationId xmlns:a16="http://schemas.microsoft.com/office/drawing/2014/main" id="{F5FF3A36-FA45-42F0-81E7-C3E53AC303E5}"/>
              </a:ext>
            </a:extLst>
          </p:cNvPr>
          <p:cNvSpPr>
            <a:spLocks xmlns:a="http://schemas.openxmlformats.org/drawingml/2006/main" noGrp="1"/>
          </p:cNvSpPr>
          <p:nvPr/>
        </p:nvSpPr>
        <p:spPr>
          <a:xfrm xmlns:a="http://schemas.openxmlformats.org/drawingml/2006/main">
            <a:off x="6191250" y="1362075"/>
            <a:ext cx="5305425" cy="1304925"/>
          </a:xfrm>
          <a:prstGeom xmlns:a="http://schemas.openxmlformats.org/drawingml/2006/main" prst="roundRect">
            <a:avLst>
              <a:gd name="adj" fmla="val 7299"/>
            </a:avLst>
          </a:prstGeom>
          <a:solidFill xmlns:a="http://schemas.openxmlformats.org/drawingml/2006/main">
            <a:srgbClr val="F5F6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82D095C-5055-468E-8C89-13155B1A96C2}"/>
              </a:ext>
            </a:extLst>
          </p:cNvPr>
          <p:cNvSpPr>
            <a:spLocks xmlns:a="http://schemas.openxmlformats.org/drawingml/2006/main" noGrp="1"/>
          </p:cNvSpPr>
          <p:nvPr/>
        </p:nvSpPr>
        <p:spPr>
          <a:xfrm xmlns:a="http://schemas.openxmlformats.org/drawingml/2006/main">
            <a:off x="6343650" y="15240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75CBA"/>
                </a:solidFill>
                <a:latin typeface="Aptos"/>
                <a:ea typeface="Aptos"/>
                <a:cs typeface="Aptos"/>
              </a:defRPr>
            </a:pPr>
            <a:r>
              <a:rPr sz="1500" b="1">
                <a:solidFill>
                  <a:srgbClr val="275CBA"/>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414D821A-D496-44C5-B8F9-9007BF5B40C3}"/>
              </a:ext>
            </a:extLst>
          </p:cNvPr>
          <p:cNvSpPr>
            <a:spLocks xmlns:a="http://schemas.openxmlformats.org/drawingml/2006/main" noGrp="1"/>
          </p:cNvSpPr>
          <p:nvPr/>
        </p:nvSpPr>
        <p:spPr>
          <a:xfrm xmlns:a="http://schemas.openxmlformats.org/drawingml/2006/main">
            <a:off x="6858000" y="1524000"/>
            <a:ext cx="436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0252C"/>
                </a:solidFill>
                <a:latin typeface="Aptos"/>
                <a:ea typeface="Aptos"/>
                <a:cs typeface="Aptos"/>
              </a:defRPr>
            </a:pPr>
            <a:r>
              <a:rPr sz="1500" b="1">
                <a:solidFill>
                  <a:srgbClr val="20252C"/>
                </a:solidFill>
                <a:latin typeface="Aptos"/>
                <a:ea typeface="Aptos"/>
                <a:cs typeface="Aptos"/>
              </a:rPr>
              <a:t>Demanda</a:t>
            </a:r>
          </a:p>
        </p:txBody>
      </p:sp>
      <p:sp>
        <p:nvSpPr>
          <p:cNvPr id="13" name="">
            <a:extLst xmlns:a="http://schemas.openxmlformats.org/drawingml/2006/main">
              <a:ext uri="{FF2B5EF4-FFF2-40B4-BE49-F238E27FC236}">
                <a16:creationId xmlns:a16="http://schemas.microsoft.com/office/drawing/2014/main" id="{48A4E8DA-2696-46D3-A973-49530BFBAAE7}"/>
              </a:ext>
            </a:extLst>
          </p:cNvPr>
          <p:cNvSpPr>
            <a:spLocks xmlns:a="http://schemas.openxmlformats.org/drawingml/2006/main" noGrp="1"/>
          </p:cNvSpPr>
          <p:nvPr/>
        </p:nvSpPr>
        <p:spPr>
          <a:xfrm xmlns:a="http://schemas.openxmlformats.org/drawingml/2006/main">
            <a:off x="6858000" y="1895475"/>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D6570"/>
                </a:solidFill>
                <a:latin typeface="Aptos"/>
                <a:ea typeface="Aptos"/>
                <a:cs typeface="Aptos"/>
              </a:defRPr>
            </a:pPr>
            <a:r>
              <a:rPr sz="1275" b="0">
                <a:solidFill>
                  <a:srgbClr val="5D6570"/>
                </a:solidFill>
                <a:latin typeface="Aptos"/>
                <a:ea typeface="Aptos"/>
                <a:cs typeface="Aptos"/>
              </a:rPr>
              <a:t>Solicitar encuestas origen-destino y registrar ascensos/descensos por franja.</a:t>
            </a:r>
          </a:p>
        </p:txBody>
      </p:sp>
      <p:sp>
        <p:nvSpPr>
          <p:cNvPr id="14" name="">
            <a:extLst xmlns:a="http://schemas.openxmlformats.org/drawingml/2006/main">
              <a:ext uri="{FF2B5EF4-FFF2-40B4-BE49-F238E27FC236}">
                <a16:creationId xmlns:a16="http://schemas.microsoft.com/office/drawing/2014/main" id="{66ADC07C-43C1-4E96-B043-3AC16CDE623F}"/>
              </a:ext>
            </a:extLst>
          </p:cNvPr>
          <p:cNvSpPr>
            <a:spLocks xmlns:a="http://schemas.openxmlformats.org/drawingml/2006/main" noGrp="1"/>
          </p:cNvSpPr>
          <p:nvPr/>
        </p:nvSpPr>
        <p:spPr>
          <a:xfrm xmlns:a="http://schemas.openxmlformats.org/drawingml/2006/main">
            <a:off x="571500" y="2886075"/>
            <a:ext cx="5305425" cy="1304925"/>
          </a:xfrm>
          <a:prstGeom xmlns:a="http://schemas.openxmlformats.org/drawingml/2006/main" prst="roundRect">
            <a:avLst>
              <a:gd name="adj" fmla="val 7299"/>
            </a:avLst>
          </a:prstGeom>
          <a:solidFill xmlns:a="http://schemas.openxmlformats.org/drawingml/2006/main">
            <a:srgbClr val="EDF3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D377B37-4FF9-4EC0-BE70-7D6A35C2182A}"/>
              </a:ext>
            </a:extLst>
          </p:cNvPr>
          <p:cNvSpPr>
            <a:spLocks xmlns:a="http://schemas.openxmlformats.org/drawingml/2006/main" noGrp="1"/>
          </p:cNvSpPr>
          <p:nvPr/>
        </p:nvSpPr>
        <p:spPr>
          <a:xfrm xmlns:a="http://schemas.openxmlformats.org/drawingml/2006/main">
            <a:off x="723900" y="30480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75CBA"/>
                </a:solidFill>
                <a:latin typeface="Aptos"/>
                <a:ea typeface="Aptos"/>
                <a:cs typeface="Aptos"/>
              </a:defRPr>
            </a:pPr>
            <a:r>
              <a:rPr sz="1500" b="1">
                <a:solidFill>
                  <a:srgbClr val="275CBA"/>
                </a:solidFill>
                <a:latin typeface="Aptos"/>
                <a:ea typeface="Aptos"/>
                <a:cs typeface="Aptos"/>
              </a:rPr>
              <a:t>03</a:t>
            </a:r>
          </a:p>
        </p:txBody>
      </p:sp>
      <p:sp>
        <p:nvSpPr>
          <p:cNvPr id="16" name="">
            <a:extLst xmlns:a="http://schemas.openxmlformats.org/drawingml/2006/main">
              <a:ext uri="{FF2B5EF4-FFF2-40B4-BE49-F238E27FC236}">
                <a16:creationId xmlns:a16="http://schemas.microsoft.com/office/drawing/2014/main" id="{0CD4F85C-7C2D-4648-A8E5-34B27EEBE1A7}"/>
              </a:ext>
            </a:extLst>
          </p:cNvPr>
          <p:cNvSpPr>
            <a:spLocks xmlns:a="http://schemas.openxmlformats.org/drawingml/2006/main" noGrp="1"/>
          </p:cNvSpPr>
          <p:nvPr/>
        </p:nvSpPr>
        <p:spPr>
          <a:xfrm xmlns:a="http://schemas.openxmlformats.org/drawingml/2006/main">
            <a:off x="1238250" y="3048000"/>
            <a:ext cx="436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0252C"/>
                </a:solidFill>
                <a:latin typeface="Aptos"/>
                <a:ea typeface="Aptos"/>
                <a:cs typeface="Aptos"/>
              </a:defRPr>
            </a:pPr>
            <a:r>
              <a:rPr sz="1500" b="1">
                <a:solidFill>
                  <a:srgbClr val="20252C"/>
                </a:solidFill>
                <a:latin typeface="Aptos"/>
                <a:ea typeface="Aptos"/>
                <a:cs typeface="Aptos"/>
              </a:rPr>
              <a:t>GPS y privacidad</a:t>
            </a:r>
          </a:p>
        </p:txBody>
      </p:sp>
      <p:sp>
        <p:nvSpPr>
          <p:cNvPr id="17" name="">
            <a:extLst xmlns:a="http://schemas.openxmlformats.org/drawingml/2006/main">
              <a:ext uri="{FF2B5EF4-FFF2-40B4-BE49-F238E27FC236}">
                <a16:creationId xmlns:a16="http://schemas.microsoft.com/office/drawing/2014/main" id="{C02CA82B-E42C-4D36-8814-7CECA78BC363}"/>
              </a:ext>
            </a:extLst>
          </p:cNvPr>
          <p:cNvSpPr>
            <a:spLocks xmlns:a="http://schemas.openxmlformats.org/drawingml/2006/main" noGrp="1"/>
          </p:cNvSpPr>
          <p:nvPr/>
        </p:nvSpPr>
        <p:spPr>
          <a:xfrm xmlns:a="http://schemas.openxmlformats.org/drawingml/2006/main">
            <a:off x="1238250" y="3419475"/>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D6570"/>
                </a:solidFill>
                <a:latin typeface="Aptos"/>
                <a:ea typeface="Aptos"/>
                <a:cs typeface="Aptos"/>
              </a:defRPr>
            </a:pPr>
            <a:r>
              <a:rPr sz="1275" b="0">
                <a:solidFill>
                  <a:srgbClr val="5D6570"/>
                </a:solidFill>
                <a:latin typeface="Aptos"/>
                <a:ea typeface="Aptos"/>
                <a:cs typeface="Aptos"/>
              </a:rPr>
              <a:t>Acordar proveedor y acceso, asociar unidad-ruta-sentido, limitar exposición de datos.</a:t>
            </a:r>
          </a:p>
        </p:txBody>
      </p:sp>
      <p:sp>
        <p:nvSpPr>
          <p:cNvPr id="18" name="">
            <a:extLst xmlns:a="http://schemas.openxmlformats.org/drawingml/2006/main">
              <a:ext uri="{FF2B5EF4-FFF2-40B4-BE49-F238E27FC236}">
                <a16:creationId xmlns:a16="http://schemas.microsoft.com/office/drawing/2014/main" id="{660960B6-2BAE-4635-BF0B-9FD7D0EE55AF}"/>
              </a:ext>
            </a:extLst>
          </p:cNvPr>
          <p:cNvSpPr>
            <a:spLocks xmlns:a="http://schemas.openxmlformats.org/drawingml/2006/main" noGrp="1"/>
          </p:cNvSpPr>
          <p:nvPr/>
        </p:nvSpPr>
        <p:spPr>
          <a:xfrm xmlns:a="http://schemas.openxmlformats.org/drawingml/2006/main">
            <a:off x="6191250" y="2886075"/>
            <a:ext cx="5305425" cy="1304925"/>
          </a:xfrm>
          <a:prstGeom xmlns:a="http://schemas.openxmlformats.org/drawingml/2006/main" prst="roundRect">
            <a:avLst>
              <a:gd name="adj" fmla="val 7299"/>
            </a:avLst>
          </a:prstGeom>
          <a:solidFill xmlns:a="http://schemas.openxmlformats.org/drawingml/2006/main">
            <a:srgbClr val="F5F6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ADA2B40-3803-4332-A441-8E5F247DE35E}"/>
              </a:ext>
            </a:extLst>
          </p:cNvPr>
          <p:cNvSpPr>
            <a:spLocks xmlns:a="http://schemas.openxmlformats.org/drawingml/2006/main" noGrp="1"/>
          </p:cNvSpPr>
          <p:nvPr/>
        </p:nvSpPr>
        <p:spPr>
          <a:xfrm xmlns:a="http://schemas.openxmlformats.org/drawingml/2006/main">
            <a:off x="6343650" y="30480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75CBA"/>
                </a:solidFill>
                <a:latin typeface="Aptos"/>
                <a:ea typeface="Aptos"/>
                <a:cs typeface="Aptos"/>
              </a:defRPr>
            </a:pPr>
            <a:r>
              <a:rPr sz="1500" b="1">
                <a:solidFill>
                  <a:srgbClr val="275CBA"/>
                </a:solidFill>
                <a:latin typeface="Aptos"/>
                <a:ea typeface="Aptos"/>
                <a:cs typeface="Aptos"/>
              </a:rPr>
              <a:t>04</a:t>
            </a:r>
          </a:p>
        </p:txBody>
      </p:sp>
      <p:sp>
        <p:nvSpPr>
          <p:cNvPr id="20" name="">
            <a:extLst xmlns:a="http://schemas.openxmlformats.org/drawingml/2006/main">
              <a:ext uri="{FF2B5EF4-FFF2-40B4-BE49-F238E27FC236}">
                <a16:creationId xmlns:a16="http://schemas.microsoft.com/office/drawing/2014/main" id="{1B0D24F0-D78A-4DD8-862E-C79DFB39EE32}"/>
              </a:ext>
            </a:extLst>
          </p:cNvPr>
          <p:cNvSpPr>
            <a:spLocks xmlns:a="http://schemas.openxmlformats.org/drawingml/2006/main" noGrp="1"/>
          </p:cNvSpPr>
          <p:nvPr/>
        </p:nvSpPr>
        <p:spPr>
          <a:xfrm xmlns:a="http://schemas.openxmlformats.org/drawingml/2006/main">
            <a:off x="6858000" y="3048000"/>
            <a:ext cx="436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0252C"/>
                </a:solidFill>
                <a:latin typeface="Aptos"/>
                <a:ea typeface="Aptos"/>
                <a:cs typeface="Aptos"/>
              </a:defRPr>
            </a:pPr>
            <a:r>
              <a:rPr sz="1500" b="1">
                <a:solidFill>
                  <a:srgbClr val="20252C"/>
                </a:solidFill>
                <a:latin typeface="Aptos"/>
                <a:ea typeface="Aptos"/>
                <a:cs typeface="Aptos"/>
              </a:rPr>
              <a:t>Congestión</a:t>
            </a:r>
          </a:p>
        </p:txBody>
      </p:sp>
      <p:sp>
        <p:nvSpPr>
          <p:cNvPr id="21" name="">
            <a:extLst xmlns:a="http://schemas.openxmlformats.org/drawingml/2006/main">
              <a:ext uri="{FF2B5EF4-FFF2-40B4-BE49-F238E27FC236}">
                <a16:creationId xmlns:a16="http://schemas.microsoft.com/office/drawing/2014/main" id="{26F82F35-A633-4CCF-BE74-232A5F99AE76}"/>
              </a:ext>
            </a:extLst>
          </p:cNvPr>
          <p:cNvSpPr>
            <a:spLocks xmlns:a="http://schemas.openxmlformats.org/drawingml/2006/main" noGrp="1"/>
          </p:cNvSpPr>
          <p:nvPr/>
        </p:nvSpPr>
        <p:spPr>
          <a:xfrm xmlns:a="http://schemas.openxmlformats.org/drawingml/2006/main">
            <a:off x="6858000" y="3419475"/>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D6570"/>
                </a:solidFill>
                <a:latin typeface="Aptos"/>
                <a:ea typeface="Aptos"/>
                <a:cs typeface="Aptos"/>
              </a:defRPr>
            </a:pPr>
            <a:r>
              <a:rPr sz="1275" b="0">
                <a:solidFill>
                  <a:srgbClr val="5D6570"/>
                </a:solidFill>
                <a:latin typeface="Aptos"/>
                <a:ea typeface="Aptos"/>
                <a:cs typeface="Aptos"/>
              </a:rPr>
              <a:t>Reunir histórico de velocidades y aforos; separar incidentes, ferias y obras.</a:t>
            </a:r>
          </a:p>
        </p:txBody>
      </p:sp>
      <p:sp>
        <p:nvSpPr>
          <p:cNvPr id="22" name="">
            <a:extLst xmlns:a="http://schemas.openxmlformats.org/drawingml/2006/main">
              <a:ext uri="{FF2B5EF4-FFF2-40B4-BE49-F238E27FC236}">
                <a16:creationId xmlns:a16="http://schemas.microsoft.com/office/drawing/2014/main" id="{43DC849A-34E4-4B46-8CC8-C9CD9417F09C}"/>
              </a:ext>
            </a:extLst>
          </p:cNvPr>
          <p:cNvSpPr>
            <a:spLocks xmlns:a="http://schemas.openxmlformats.org/drawingml/2006/main" noGrp="1"/>
          </p:cNvSpPr>
          <p:nvPr/>
        </p:nvSpPr>
        <p:spPr>
          <a:xfrm xmlns:a="http://schemas.openxmlformats.org/drawingml/2006/main">
            <a:off x="571500" y="4410075"/>
            <a:ext cx="5305425" cy="1304925"/>
          </a:xfrm>
          <a:prstGeom xmlns:a="http://schemas.openxmlformats.org/drawingml/2006/main" prst="roundRect">
            <a:avLst>
              <a:gd name="adj" fmla="val 7299"/>
            </a:avLst>
          </a:prstGeom>
          <a:solidFill xmlns:a="http://schemas.openxmlformats.org/drawingml/2006/main">
            <a:srgbClr val="EDF3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2A51CD6-B176-423F-B077-828223ADFF61}"/>
              </a:ext>
            </a:extLst>
          </p:cNvPr>
          <p:cNvSpPr>
            <a:spLocks xmlns:a="http://schemas.openxmlformats.org/drawingml/2006/main" noGrp="1"/>
          </p:cNvSpPr>
          <p:nvPr/>
        </p:nvSpPr>
        <p:spPr>
          <a:xfrm xmlns:a="http://schemas.openxmlformats.org/drawingml/2006/main">
            <a:off x="723900" y="45720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75CBA"/>
                </a:solidFill>
                <a:latin typeface="Aptos"/>
                <a:ea typeface="Aptos"/>
                <a:cs typeface="Aptos"/>
              </a:defRPr>
            </a:pPr>
            <a:r>
              <a:rPr sz="1500" b="1">
                <a:solidFill>
                  <a:srgbClr val="275CBA"/>
                </a:solidFill>
                <a:latin typeface="Aptos"/>
                <a:ea typeface="Aptos"/>
                <a:cs typeface="Aptos"/>
              </a:rPr>
              <a:t>05</a:t>
            </a:r>
          </a:p>
        </p:txBody>
      </p:sp>
      <p:sp>
        <p:nvSpPr>
          <p:cNvPr id="24" name="">
            <a:extLst xmlns:a="http://schemas.openxmlformats.org/drawingml/2006/main">
              <a:ext uri="{FF2B5EF4-FFF2-40B4-BE49-F238E27FC236}">
                <a16:creationId xmlns:a16="http://schemas.microsoft.com/office/drawing/2014/main" id="{F6F43A76-DCB8-408E-A43C-9147F28463E4}"/>
              </a:ext>
            </a:extLst>
          </p:cNvPr>
          <p:cNvSpPr>
            <a:spLocks xmlns:a="http://schemas.openxmlformats.org/drawingml/2006/main" noGrp="1"/>
          </p:cNvSpPr>
          <p:nvPr/>
        </p:nvSpPr>
        <p:spPr>
          <a:xfrm xmlns:a="http://schemas.openxmlformats.org/drawingml/2006/main">
            <a:off x="1238250" y="4572000"/>
            <a:ext cx="436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0252C"/>
                </a:solidFill>
                <a:latin typeface="Aptos"/>
                <a:ea typeface="Aptos"/>
                <a:cs typeface="Aptos"/>
              </a:defRPr>
            </a:pPr>
            <a:r>
              <a:rPr sz="1500" b="1">
                <a:solidFill>
                  <a:srgbClr val="20252C"/>
                </a:solidFill>
                <a:latin typeface="Aptos"/>
                <a:ea typeface="Aptos"/>
                <a:cs typeface="Aptos"/>
              </a:rPr>
              <a:t>Recomendación pública</a:t>
            </a:r>
          </a:p>
        </p:txBody>
      </p:sp>
      <p:sp>
        <p:nvSpPr>
          <p:cNvPr id="25" name="">
            <a:extLst xmlns:a="http://schemas.openxmlformats.org/drawingml/2006/main">
              <a:ext uri="{FF2B5EF4-FFF2-40B4-BE49-F238E27FC236}">
                <a16:creationId xmlns:a16="http://schemas.microsoft.com/office/drawing/2014/main" id="{1FDC320E-2BBB-4540-A5C8-E3F80B5EDA71}"/>
              </a:ext>
            </a:extLst>
          </p:cNvPr>
          <p:cNvSpPr>
            <a:spLocks xmlns:a="http://schemas.openxmlformats.org/drawingml/2006/main" noGrp="1"/>
          </p:cNvSpPr>
          <p:nvPr/>
        </p:nvSpPr>
        <p:spPr>
          <a:xfrm xmlns:a="http://schemas.openxmlformats.org/drawingml/2006/main">
            <a:off x="1238250" y="4943475"/>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D6570"/>
                </a:solidFill>
                <a:latin typeface="Aptos"/>
                <a:ea typeface="Aptos"/>
                <a:cs typeface="Aptos"/>
              </a:defRPr>
            </a:pPr>
            <a:r>
              <a:rPr sz="1275" b="0">
                <a:solidFill>
                  <a:srgbClr val="5D6570"/>
                </a:solidFill>
                <a:latin typeface="Aptos"/>
                <a:ea typeface="Aptos"/>
                <a:cs typeface="Aptos"/>
              </a:rPr>
              <a:t>Probar tiempos y desvíos con usuarios; mantener revisión técnica antes de publicar.</a:t>
            </a:r>
          </a:p>
        </p:txBody>
      </p:sp>
      <p:sp>
        <p:nvSpPr>
          <p:cNvPr id="26" name="">
            <a:extLst xmlns:a="http://schemas.openxmlformats.org/drawingml/2006/main">
              <a:ext uri="{FF2B5EF4-FFF2-40B4-BE49-F238E27FC236}">
                <a16:creationId xmlns:a16="http://schemas.microsoft.com/office/drawing/2014/main" id="{92501435-102B-464E-BFD0-B8B4087E9C8B}"/>
              </a:ext>
            </a:extLst>
          </p:cNvPr>
          <p:cNvSpPr>
            <a:spLocks xmlns:a="http://schemas.openxmlformats.org/drawingml/2006/main" noGrp="1"/>
          </p:cNvSpPr>
          <p:nvPr/>
        </p:nvSpPr>
        <p:spPr>
          <a:xfrm xmlns:a="http://schemas.openxmlformats.org/drawingml/2006/main">
            <a:off x="6191250" y="4410075"/>
            <a:ext cx="5305425" cy="1304925"/>
          </a:xfrm>
          <a:prstGeom xmlns:a="http://schemas.openxmlformats.org/drawingml/2006/main" prst="roundRect">
            <a:avLst>
              <a:gd name="adj" fmla="val 7299"/>
            </a:avLst>
          </a:prstGeom>
          <a:solidFill xmlns:a="http://schemas.openxmlformats.org/drawingml/2006/main">
            <a:srgbClr val="F5F6F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ADBCAF1-653B-45A9-A2CB-6310F1F28C4C}"/>
              </a:ext>
            </a:extLst>
          </p:cNvPr>
          <p:cNvSpPr>
            <a:spLocks xmlns:a="http://schemas.openxmlformats.org/drawingml/2006/main" noGrp="1"/>
          </p:cNvSpPr>
          <p:nvPr/>
        </p:nvSpPr>
        <p:spPr>
          <a:xfrm xmlns:a="http://schemas.openxmlformats.org/drawingml/2006/main">
            <a:off x="6343650" y="45720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75CBA"/>
                </a:solidFill>
                <a:latin typeface="Aptos"/>
                <a:ea typeface="Aptos"/>
                <a:cs typeface="Aptos"/>
              </a:defRPr>
            </a:pPr>
            <a:r>
              <a:rPr sz="1500" b="1">
                <a:solidFill>
                  <a:srgbClr val="275CBA"/>
                </a:solidFill>
                <a:latin typeface="Aptos"/>
                <a:ea typeface="Aptos"/>
                <a:cs typeface="Aptos"/>
              </a:rPr>
              <a:t>06</a:t>
            </a:r>
          </a:p>
        </p:txBody>
      </p:sp>
      <p:sp>
        <p:nvSpPr>
          <p:cNvPr id="28" name="">
            <a:extLst xmlns:a="http://schemas.openxmlformats.org/drawingml/2006/main">
              <a:ext uri="{FF2B5EF4-FFF2-40B4-BE49-F238E27FC236}">
                <a16:creationId xmlns:a16="http://schemas.microsoft.com/office/drawing/2014/main" id="{C62ACCEC-4B4F-4C5F-B9A5-1C82904B335A}"/>
              </a:ext>
            </a:extLst>
          </p:cNvPr>
          <p:cNvSpPr>
            <a:spLocks xmlns:a="http://schemas.openxmlformats.org/drawingml/2006/main" noGrp="1"/>
          </p:cNvSpPr>
          <p:nvPr/>
        </p:nvSpPr>
        <p:spPr>
          <a:xfrm xmlns:a="http://schemas.openxmlformats.org/drawingml/2006/main">
            <a:off x="6858000" y="4572000"/>
            <a:ext cx="436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0252C"/>
                </a:solidFill>
                <a:latin typeface="Aptos"/>
                <a:ea typeface="Aptos"/>
                <a:cs typeface="Aptos"/>
              </a:defRPr>
            </a:pPr>
            <a:r>
              <a:rPr sz="1500" b="1">
                <a:solidFill>
                  <a:srgbClr val="20252C"/>
                </a:solidFill>
                <a:latin typeface="Aptos"/>
                <a:ea typeface="Aptos"/>
                <a:cs typeface="Aptos"/>
              </a:rPr>
              <a:t>Escalamiento</a:t>
            </a:r>
          </a:p>
        </p:txBody>
      </p:sp>
      <p:sp>
        <p:nvSpPr>
          <p:cNvPr id="29" name="">
            <a:extLst xmlns:a="http://schemas.openxmlformats.org/drawingml/2006/main">
              <a:ext uri="{FF2B5EF4-FFF2-40B4-BE49-F238E27FC236}">
                <a16:creationId xmlns:a16="http://schemas.microsoft.com/office/drawing/2014/main" id="{47C577A7-2F3E-48CF-A02A-4E5750EA7B0D}"/>
              </a:ext>
            </a:extLst>
          </p:cNvPr>
          <p:cNvSpPr>
            <a:spLocks xmlns:a="http://schemas.openxmlformats.org/drawingml/2006/main" noGrp="1"/>
          </p:cNvSpPr>
          <p:nvPr/>
        </p:nvSpPr>
        <p:spPr>
          <a:xfrm xmlns:a="http://schemas.openxmlformats.org/drawingml/2006/main">
            <a:off x="6858000" y="4943475"/>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D6570"/>
                </a:solidFill>
                <a:latin typeface="Aptos"/>
                <a:ea typeface="Aptos"/>
                <a:cs typeface="Aptos"/>
              </a:defRPr>
            </a:pPr>
            <a:r>
              <a:rPr sz="1275" b="0">
                <a:solidFill>
                  <a:srgbClr val="5D6570"/>
                </a:solidFill>
                <a:latin typeface="Aptos"/>
                <a:ea typeface="Aptos"/>
                <a:cs typeface="Aptos"/>
              </a:rPr>
              <a:t>Medir el piloto, conciliación de flota y presupuesto, luego ampliar corredores.</a:t>
            </a:r>
          </a:p>
        </p:txBody>
      </p:sp>
      <p:sp>
        <p:nvSpPr>
          <p:cNvPr id="30" name="">
            <a:extLst xmlns:a="http://schemas.openxmlformats.org/drawingml/2006/main">
              <a:ext uri="{FF2B5EF4-FFF2-40B4-BE49-F238E27FC236}">
                <a16:creationId xmlns:a16="http://schemas.microsoft.com/office/drawing/2014/main" id="{ED35BDD0-CEFC-4816-97A1-1E957C96E448}"/>
              </a:ext>
            </a:extLst>
          </p:cNvPr>
          <p:cNvSpPr>
            <a:spLocks xmlns:a="http://schemas.openxmlformats.org/drawingml/2006/main" noGrp="1"/>
          </p:cNvSpPr>
          <p:nvPr/>
        </p:nvSpPr>
        <p:spPr>
          <a:xfrm xmlns:a="http://schemas.openxmlformats.org/drawingml/2006/main">
            <a:off x="571500" y="61817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AF343B"/>
                </a:solidFill>
                <a:latin typeface="Aptos"/>
                <a:ea typeface="Aptos"/>
                <a:cs typeface="Aptos"/>
              </a:defRPr>
            </a:pPr>
            <a:r>
              <a:rPr sz="1275" b="1">
                <a:solidFill>
                  <a:srgbClr val="AF343B"/>
                </a:solidFill>
                <a:latin typeface="Aptos"/>
                <a:ea typeface="Aptos"/>
                <a:cs typeface="Aptos"/>
              </a:rPr>
              <a:t>Estado al 22/09/2026: el GPS real, la red completa validada y los resultados de impacto aún requieren piloto.</a:t>
            </a:r>
          </a:p>
        </p:txBody>
      </p:sp>
    </p:spTree>
    <p:extLst>
      <p:ext uri="{BB962C8B-B14F-4D97-AF65-F5344CB8AC3E}">
        <p14:creationId xmlns:p14="http://schemas.microsoft.com/office/powerpoint/2010/main" val="20260322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2026-09-23T01:10:21.7710000Z</dcterms:created>
  <dcterms:modified xsi:type="dcterms:W3CDTF">2026-09-23T01:10:21.7710000Z</dcterms:modified>
</coreProperties>
</file>